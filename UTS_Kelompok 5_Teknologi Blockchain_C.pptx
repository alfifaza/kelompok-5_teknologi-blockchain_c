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Days" charset="1" panose="02000505050000020004"/>
      <p:regular r:id="rId21"/>
    </p:embeddedFont>
    <p:embeddedFont>
      <p:font typeface="League Spartan" charset="1" panose="00000800000000000000"/>
      <p:regular r:id="rId22"/>
    </p:embeddedFont>
    <p:embeddedFont>
      <p:font typeface="Touvlo" charset="1" panose="020B0604030403020204"/>
      <p:regular r:id="rId23"/>
    </p:embeddedFont>
    <p:embeddedFont>
      <p:font typeface="Touvlo Bold" charset="1" panose="020B0804030403020204"/>
      <p:regular r:id="rId24"/>
    </p:embeddedFont>
    <p:embeddedFont>
      <p:font typeface="Tenor Sans" charset="1" panose="02000000000000000000"/>
      <p:regular r:id="rId25"/>
    </p:embeddedFont>
    <p:embeddedFont>
      <p:font typeface="DM Sans Bold" charset="1" panose="00000000000000000000"/>
      <p:regular r:id="rId26"/>
    </p:embeddedFont>
    <p:embeddedFont>
      <p:font typeface="Glacial Indifference" charset="1" panose="00000000000000000000"/>
      <p:regular r:id="rId27"/>
    </p:embeddedFont>
    <p:embeddedFont>
      <p:font typeface="Libre Baskerville Bold" charset="1" panose="02000000000000000000"/>
      <p:regular r:id="rId28"/>
    </p:embeddedFont>
    <p:embeddedFont>
      <p:font typeface="Touvlo Ultra-Bold" charset="1" panose="020B0904030403020204"/>
      <p:regular r:id="rId29"/>
    </p:embeddedFont>
    <p:embeddedFont>
      <p:font typeface="Glacial Indifference Bold" charset="1" panose="00000800000000000000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.png" Type="http://schemas.openxmlformats.org/officeDocument/2006/relationships/image"/><Relationship Id="rId11" Target="../media/image7.svg" Type="http://schemas.openxmlformats.org/officeDocument/2006/relationships/image"/><Relationship Id="rId12" Target="../media/image12.jpeg" Type="http://schemas.openxmlformats.org/officeDocument/2006/relationships/image"/><Relationship Id="rId13" Target="../media/image13.jpeg" Type="http://schemas.openxmlformats.org/officeDocument/2006/relationships/image"/><Relationship Id="rId14" Target="../media/image14.jpeg" Type="http://schemas.openxmlformats.org/officeDocument/2006/relationships/image"/><Relationship Id="rId15" Target="../media/image15.jpeg" Type="http://schemas.openxmlformats.org/officeDocument/2006/relationships/image"/><Relationship Id="rId16" Target="../media/image5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Relationship Id="rId8" Target="../media/image10.png" Type="http://schemas.openxmlformats.org/officeDocument/2006/relationships/image"/><Relationship Id="rId9" Target="../media/image11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png" Type="http://schemas.openxmlformats.org/officeDocument/2006/relationships/image"/><Relationship Id="rId11" Target="../media/image17.svg" Type="http://schemas.openxmlformats.org/officeDocument/2006/relationships/image"/><Relationship Id="rId12" Target="../media/image5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Relationship Id="rId8" Target="../media/image10.png" Type="http://schemas.openxmlformats.org/officeDocument/2006/relationships/image"/><Relationship Id="rId9" Target="../media/image11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png" Type="http://schemas.openxmlformats.org/officeDocument/2006/relationships/image"/><Relationship Id="rId11" Target="../media/image17.svg" Type="http://schemas.openxmlformats.org/officeDocument/2006/relationships/image"/><Relationship Id="rId12" Target="../media/image5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Relationship Id="rId8" Target="../media/image10.png" Type="http://schemas.openxmlformats.org/officeDocument/2006/relationships/image"/><Relationship Id="rId9" Target="../media/image11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png" Type="http://schemas.openxmlformats.org/officeDocument/2006/relationships/image"/><Relationship Id="rId11" Target="../media/image17.svg" Type="http://schemas.openxmlformats.org/officeDocument/2006/relationships/image"/><Relationship Id="rId12" Target="../media/image18.png" Type="http://schemas.openxmlformats.org/officeDocument/2006/relationships/image"/><Relationship Id="rId13" Target="../media/image19.svg" Type="http://schemas.openxmlformats.org/officeDocument/2006/relationships/image"/><Relationship Id="rId14" Target="../media/image20.png" Type="http://schemas.openxmlformats.org/officeDocument/2006/relationships/image"/><Relationship Id="rId15" Target="../media/image21.svg" Type="http://schemas.openxmlformats.org/officeDocument/2006/relationships/image"/><Relationship Id="rId16" Target="../media/image5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Relationship Id="rId8" Target="../media/image10.png" Type="http://schemas.openxmlformats.org/officeDocument/2006/relationships/image"/><Relationship Id="rId9" Target="../media/image11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.png" Type="http://schemas.openxmlformats.org/officeDocument/2006/relationships/image"/><Relationship Id="rId11" Target="../media/image23.svg" Type="http://schemas.openxmlformats.org/officeDocument/2006/relationships/image"/><Relationship Id="rId12" Target="../media/image24.png" Type="http://schemas.openxmlformats.org/officeDocument/2006/relationships/image"/><Relationship Id="rId13" Target="../media/image16.png" Type="http://schemas.openxmlformats.org/officeDocument/2006/relationships/image"/><Relationship Id="rId14" Target="../media/image17.svg" Type="http://schemas.openxmlformats.org/officeDocument/2006/relationships/image"/><Relationship Id="rId15" Target="../media/image5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Relationship Id="rId8" Target="../media/image10.png" Type="http://schemas.openxmlformats.org/officeDocument/2006/relationships/image"/><Relationship Id="rId9" Target="../media/image11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6.png" Type="http://schemas.openxmlformats.org/officeDocument/2006/relationships/image"/><Relationship Id="rId11" Target="../media/image27.png" Type="http://schemas.openxmlformats.org/officeDocument/2006/relationships/image"/><Relationship Id="rId12" Target="../media/image28.png" Type="http://schemas.openxmlformats.org/officeDocument/2006/relationships/image"/><Relationship Id="rId13" Target="../media/image29.png" Type="http://schemas.openxmlformats.org/officeDocument/2006/relationships/image"/><Relationship Id="rId14" Target="../media/image30.png" Type="http://schemas.openxmlformats.org/officeDocument/2006/relationships/image"/><Relationship Id="rId15" Target="../media/image31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6.png" Type="http://schemas.openxmlformats.org/officeDocument/2006/relationships/image"/><Relationship Id="rId7" Target="../media/image17.svg" Type="http://schemas.openxmlformats.org/officeDocument/2006/relationships/image"/><Relationship Id="rId8" Target="../media/image5.png" Type="http://schemas.openxmlformats.org/officeDocument/2006/relationships/image"/><Relationship Id="rId9" Target="../media/image2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png" Type="http://schemas.openxmlformats.org/officeDocument/2006/relationships/image"/><Relationship Id="rId11" Target="../media/image17.svg" Type="http://schemas.openxmlformats.org/officeDocument/2006/relationships/image"/><Relationship Id="rId12" Target="../media/image5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Relationship Id="rId8" Target="../media/image10.png" Type="http://schemas.openxmlformats.org/officeDocument/2006/relationships/image"/><Relationship Id="rId9" Target="../media/image11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png" Type="http://schemas.openxmlformats.org/officeDocument/2006/relationships/image"/><Relationship Id="rId11" Target="../media/image17.svg" Type="http://schemas.openxmlformats.org/officeDocument/2006/relationships/image"/><Relationship Id="rId12" Target="../media/image32.png" Type="http://schemas.openxmlformats.org/officeDocument/2006/relationships/image"/><Relationship Id="rId13" Target="../media/image33.png" Type="http://schemas.openxmlformats.org/officeDocument/2006/relationships/image"/><Relationship Id="rId14" Target="../media/image34.svg" Type="http://schemas.openxmlformats.org/officeDocument/2006/relationships/image"/><Relationship Id="rId15" Target="../media/image5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Relationship Id="rId8" Target="../media/image10.png" Type="http://schemas.openxmlformats.org/officeDocument/2006/relationships/image"/><Relationship Id="rId9" Target="../media/image11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png" Type="http://schemas.openxmlformats.org/officeDocument/2006/relationships/image"/><Relationship Id="rId11" Target="../media/image17.svg" Type="http://schemas.openxmlformats.org/officeDocument/2006/relationships/image"/><Relationship Id="rId12" Target="../media/image5.png" Type="http://schemas.openxmlformats.org/officeDocument/2006/relationships/image"/><Relationship Id="rId13" Target="../media/image35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Relationship Id="rId8" Target="../media/image10.png" Type="http://schemas.openxmlformats.org/officeDocument/2006/relationships/image"/><Relationship Id="rId9" Target="../media/image11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png" Type="http://schemas.openxmlformats.org/officeDocument/2006/relationships/image"/><Relationship Id="rId11" Target="../media/image17.svg" Type="http://schemas.openxmlformats.org/officeDocument/2006/relationships/image"/><Relationship Id="rId12" Target="../media/image5.png" Type="http://schemas.openxmlformats.org/officeDocument/2006/relationships/image"/><Relationship Id="rId13" Target="../media/image36.png" Type="http://schemas.openxmlformats.org/officeDocument/2006/relationships/image"/><Relationship Id="rId14" Target="https://sttpln-my.sharepoint.com/:f:/g/personal/sultan2332079_itpln_ac_id/IgAJKins2iEyRKycvdRt-go3AUpRcgkcWYLSXbPL6mmBKcE?e=W1cRTC" TargetMode="External" Type="http://schemas.openxmlformats.org/officeDocument/2006/relationships/hyperlink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Relationship Id="rId8" Target="../media/image10.png" Type="http://schemas.openxmlformats.org/officeDocument/2006/relationships/image"/><Relationship Id="rId9" Target="../media/image11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png" Type="http://schemas.openxmlformats.org/officeDocument/2006/relationships/image"/><Relationship Id="rId11" Target="../media/image17.svg" Type="http://schemas.openxmlformats.org/officeDocument/2006/relationships/image"/><Relationship Id="rId12" Target="../media/image5.png" Type="http://schemas.openxmlformats.org/officeDocument/2006/relationships/image"/><Relationship Id="rId13" Target="../media/image37.jpeg" Type="http://schemas.openxmlformats.org/officeDocument/2006/relationships/image"/><Relationship Id="rId14" Target="../media/image38.jpeg" Type="http://schemas.openxmlformats.org/officeDocument/2006/relationships/image"/><Relationship Id="rId15" Target="../media/image39.jpeg" Type="http://schemas.openxmlformats.org/officeDocument/2006/relationships/image"/><Relationship Id="rId16" Target="../media/image40.jpe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Relationship Id="rId8" Target="../media/image10.png" Type="http://schemas.openxmlformats.org/officeDocument/2006/relationships/image"/><Relationship Id="rId9" Target="../media/image11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png" Type="http://schemas.openxmlformats.org/officeDocument/2006/relationships/image"/><Relationship Id="rId11" Target="../media/image17.svg" Type="http://schemas.openxmlformats.org/officeDocument/2006/relationships/image"/><Relationship Id="rId12" Target="../media/image5.png" Type="http://schemas.openxmlformats.org/officeDocument/2006/relationships/image"/><Relationship Id="rId13" Target="../media/image41.jpeg" Type="http://schemas.openxmlformats.org/officeDocument/2006/relationships/image"/><Relationship Id="rId14" Target="../media/image42.jpeg" Type="http://schemas.openxmlformats.org/officeDocument/2006/relationships/image"/><Relationship Id="rId15" Target="../media/image43.jpeg" Type="http://schemas.openxmlformats.org/officeDocument/2006/relationships/image"/><Relationship Id="rId16" Target="../media/image44.jpe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Relationship Id="rId8" Target="../media/image10.png" Type="http://schemas.openxmlformats.org/officeDocument/2006/relationships/image"/><Relationship Id="rId9" Target="../media/image11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png" Type="http://schemas.openxmlformats.org/officeDocument/2006/relationships/image"/><Relationship Id="rId11" Target="../media/image17.svg" Type="http://schemas.openxmlformats.org/officeDocument/2006/relationships/image"/><Relationship Id="rId12" Target="../media/image5.png" Type="http://schemas.openxmlformats.org/officeDocument/2006/relationships/image"/><Relationship Id="rId13" Target="../media/image45.jpeg" Type="http://schemas.openxmlformats.org/officeDocument/2006/relationships/image"/><Relationship Id="rId14" Target="../media/image46.jpeg" Type="http://schemas.openxmlformats.org/officeDocument/2006/relationships/image"/><Relationship Id="rId15" Target="../media/image47.jpe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Relationship Id="rId8" Target="../media/image10.png" Type="http://schemas.openxmlformats.org/officeDocument/2006/relationships/image"/><Relationship Id="rId9" Target="../media/image11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700000">
            <a:off x="7101928" y="4784238"/>
            <a:ext cx="18207979" cy="7530252"/>
          </a:xfrm>
          <a:custGeom>
            <a:avLst/>
            <a:gdLst/>
            <a:ahLst/>
            <a:cxnLst/>
            <a:rect r="r" b="b" t="t" l="l"/>
            <a:pathLst>
              <a:path h="7530252" w="18207979">
                <a:moveTo>
                  <a:pt x="0" y="0"/>
                </a:moveTo>
                <a:lnTo>
                  <a:pt x="18207980" y="0"/>
                </a:lnTo>
                <a:lnTo>
                  <a:pt x="18207980" y="7530252"/>
                </a:lnTo>
                <a:lnTo>
                  <a:pt x="0" y="75302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15758238" y="-847347"/>
            <a:ext cx="1682414" cy="3377109"/>
          </a:xfrm>
          <a:custGeom>
            <a:avLst/>
            <a:gdLst/>
            <a:ahLst/>
            <a:cxnLst/>
            <a:rect r="r" b="b" t="t" l="l"/>
            <a:pathLst>
              <a:path h="3377109" w="1682414">
                <a:moveTo>
                  <a:pt x="0" y="0"/>
                </a:moveTo>
                <a:lnTo>
                  <a:pt x="1682415" y="0"/>
                </a:lnTo>
                <a:lnTo>
                  <a:pt x="1682415" y="3377109"/>
                </a:lnTo>
                <a:lnTo>
                  <a:pt x="0" y="33771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-5400000">
            <a:off x="847347" y="-847347"/>
            <a:ext cx="1682414" cy="3377109"/>
          </a:xfrm>
          <a:custGeom>
            <a:avLst/>
            <a:gdLst/>
            <a:ahLst/>
            <a:cxnLst/>
            <a:rect r="r" b="b" t="t" l="l"/>
            <a:pathLst>
              <a:path h="3377109" w="1682414">
                <a:moveTo>
                  <a:pt x="0" y="3377109"/>
                </a:moveTo>
                <a:lnTo>
                  <a:pt x="1682415" y="3377109"/>
                </a:lnTo>
                <a:lnTo>
                  <a:pt x="1682415" y="0"/>
                </a:lnTo>
                <a:lnTo>
                  <a:pt x="0" y="0"/>
                </a:lnTo>
                <a:lnTo>
                  <a:pt x="0" y="337710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335663" y="337255"/>
            <a:ext cx="1616674" cy="1811231"/>
          </a:xfrm>
          <a:custGeom>
            <a:avLst/>
            <a:gdLst/>
            <a:ahLst/>
            <a:cxnLst/>
            <a:rect r="r" b="b" t="t" l="l"/>
            <a:pathLst>
              <a:path h="1811231" w="1616674">
                <a:moveTo>
                  <a:pt x="0" y="0"/>
                </a:moveTo>
                <a:lnTo>
                  <a:pt x="1616674" y="0"/>
                </a:lnTo>
                <a:lnTo>
                  <a:pt x="1616674" y="1811231"/>
                </a:lnTo>
                <a:lnTo>
                  <a:pt x="0" y="181123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28700" y="2148486"/>
            <a:ext cx="5905067" cy="1105858"/>
            <a:chOff x="0" y="0"/>
            <a:chExt cx="7873423" cy="147447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873423" cy="1474477"/>
            </a:xfrm>
            <a:custGeom>
              <a:avLst/>
              <a:gdLst/>
              <a:ahLst/>
              <a:cxnLst/>
              <a:rect r="r" b="b" t="t" l="l"/>
              <a:pathLst>
                <a:path h="1474477" w="7873423">
                  <a:moveTo>
                    <a:pt x="0" y="0"/>
                  </a:moveTo>
                  <a:lnTo>
                    <a:pt x="7873423" y="0"/>
                  </a:lnTo>
                  <a:lnTo>
                    <a:pt x="7873423" y="1474477"/>
                  </a:lnTo>
                  <a:lnTo>
                    <a:pt x="0" y="14744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 rot="0">
              <a:off x="442798" y="355989"/>
              <a:ext cx="6987826" cy="724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573"/>
                </a:lnSpc>
              </a:pPr>
              <a:r>
                <a:rPr lang="en-US" sz="3438" spc="-144">
                  <a:solidFill>
                    <a:srgbClr val="FFE9B2"/>
                  </a:solidFill>
                  <a:latin typeface="Days"/>
                  <a:ea typeface="Days"/>
                  <a:cs typeface="Days"/>
                  <a:sym typeface="Days"/>
                </a:rPr>
                <a:t>KELOMPOK 5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3360139" y="3863900"/>
            <a:ext cx="11567722" cy="3286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29"/>
              </a:lnSpc>
            </a:pPr>
            <a:r>
              <a:rPr lang="en-US" sz="3899" spc="-163">
                <a:solidFill>
                  <a:srgbClr val="481D9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“IMPLEMENTASI SMART CONTRACT PADA </a:t>
            </a:r>
          </a:p>
          <a:p>
            <a:pPr algn="ctr">
              <a:lnSpc>
                <a:spcPts val="6629"/>
              </a:lnSpc>
            </a:pPr>
            <a:r>
              <a:rPr lang="en-US" sz="3899" spc="-163">
                <a:solidFill>
                  <a:srgbClr val="481D9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SISTEM REKAM MEDIS ELEKTRONIK (RME) TERDESENTRALISASI MENGGUNAKAN ETHEREUM TESNET SEPOLIA”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139854" y="9498276"/>
            <a:ext cx="5542074" cy="4060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2"/>
              </a:lnSpc>
            </a:pPr>
            <a:r>
              <a:rPr lang="en-US" sz="2520">
                <a:solidFill>
                  <a:srgbClr val="322230"/>
                </a:solidFill>
                <a:latin typeface="Touvlo"/>
                <a:ea typeface="Touvlo"/>
                <a:cs typeface="Touvlo"/>
                <a:sym typeface="Touvlo"/>
              </a:rPr>
              <a:t>PRODI SISTEM INFORMASI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758482" y="7697691"/>
            <a:ext cx="2771037" cy="4060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2"/>
              </a:lnSpc>
            </a:pPr>
            <a:r>
              <a:rPr lang="en-US" sz="2520">
                <a:solidFill>
                  <a:srgbClr val="322230"/>
                </a:solidFill>
                <a:latin typeface="Touvlo"/>
                <a:ea typeface="Touvlo"/>
                <a:cs typeface="Touvlo"/>
                <a:sym typeface="Touvlo"/>
              </a:rPr>
              <a:t>Pembimbing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372963" y="8198695"/>
            <a:ext cx="5542074" cy="4060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2"/>
              </a:lnSpc>
            </a:pPr>
            <a:r>
              <a:rPr lang="en-US" sz="2520" b="true">
                <a:solidFill>
                  <a:srgbClr val="322230"/>
                </a:solidFill>
                <a:latin typeface="Touvlo Bold"/>
                <a:ea typeface="Touvlo Bold"/>
                <a:cs typeface="Touvlo Bold"/>
                <a:sym typeface="Touvlo Bold"/>
              </a:rPr>
              <a:t>Riani Saputri Abadi, ST., M.Kom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20893" y="9498276"/>
            <a:ext cx="5542074" cy="411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2"/>
              </a:lnSpc>
            </a:pPr>
            <a:r>
              <a:rPr lang="en-US" sz="2520">
                <a:solidFill>
                  <a:srgbClr val="322230"/>
                </a:solidFill>
                <a:latin typeface="Touvlo"/>
                <a:ea typeface="Touvlo"/>
                <a:cs typeface="Touvlo"/>
                <a:sym typeface="Touvlo"/>
              </a:rPr>
              <a:t>FAKULTAS TELEMATIKA ENERGI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9317039">
            <a:off x="-8075290" y="-4033182"/>
            <a:ext cx="18207979" cy="7530252"/>
          </a:xfrm>
          <a:custGeom>
            <a:avLst/>
            <a:gdLst/>
            <a:ahLst/>
            <a:cxnLst/>
            <a:rect r="r" b="b" t="t" l="l"/>
            <a:pathLst>
              <a:path h="7530252" w="18207979">
                <a:moveTo>
                  <a:pt x="0" y="0"/>
                </a:moveTo>
                <a:lnTo>
                  <a:pt x="18207980" y="0"/>
                </a:lnTo>
                <a:lnTo>
                  <a:pt x="18207980" y="7530251"/>
                </a:lnTo>
                <a:lnTo>
                  <a:pt x="0" y="75302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9250924">
            <a:off x="7968489" y="-3765126"/>
            <a:ext cx="18207979" cy="7530252"/>
          </a:xfrm>
          <a:custGeom>
            <a:avLst/>
            <a:gdLst/>
            <a:ahLst/>
            <a:cxnLst/>
            <a:rect r="r" b="b" t="t" l="l"/>
            <a:pathLst>
              <a:path h="7530252" w="18207979">
                <a:moveTo>
                  <a:pt x="18207979" y="0"/>
                </a:moveTo>
                <a:lnTo>
                  <a:pt x="0" y="0"/>
                </a:lnTo>
                <a:lnTo>
                  <a:pt x="0" y="7530252"/>
                </a:lnTo>
                <a:lnTo>
                  <a:pt x="18207979" y="7530252"/>
                </a:lnTo>
                <a:lnTo>
                  <a:pt x="1820797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400000">
            <a:off x="16466928" y="-609971"/>
            <a:ext cx="1211101" cy="2431042"/>
          </a:xfrm>
          <a:custGeom>
            <a:avLst/>
            <a:gdLst/>
            <a:ahLst/>
            <a:cxnLst/>
            <a:rect r="r" b="b" t="t" l="l"/>
            <a:pathLst>
              <a:path h="2431042" w="1211101">
                <a:moveTo>
                  <a:pt x="0" y="0"/>
                </a:moveTo>
                <a:lnTo>
                  <a:pt x="1211101" y="0"/>
                </a:lnTo>
                <a:lnTo>
                  <a:pt x="1211101" y="2431043"/>
                </a:lnTo>
                <a:lnTo>
                  <a:pt x="0" y="243104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144000" y="8913298"/>
            <a:ext cx="4995894" cy="4114800"/>
          </a:xfrm>
          <a:custGeom>
            <a:avLst/>
            <a:gdLst/>
            <a:ahLst/>
            <a:cxnLst/>
            <a:rect r="r" b="b" t="t" l="l"/>
            <a:pathLst>
              <a:path h="4114800" w="4995894">
                <a:moveTo>
                  <a:pt x="0" y="0"/>
                </a:moveTo>
                <a:lnTo>
                  <a:pt x="4995894" y="0"/>
                </a:lnTo>
                <a:lnTo>
                  <a:pt x="499589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9641910">
            <a:off x="4379319" y="8921459"/>
            <a:ext cx="4243373" cy="3757314"/>
          </a:xfrm>
          <a:custGeom>
            <a:avLst/>
            <a:gdLst/>
            <a:ahLst/>
            <a:cxnLst/>
            <a:rect r="r" b="b" t="t" l="l"/>
            <a:pathLst>
              <a:path h="3757314" w="4243373">
                <a:moveTo>
                  <a:pt x="0" y="0"/>
                </a:moveTo>
                <a:lnTo>
                  <a:pt x="4243373" y="0"/>
                </a:lnTo>
                <a:lnTo>
                  <a:pt x="4243373" y="3757314"/>
                </a:lnTo>
                <a:lnTo>
                  <a:pt x="0" y="375731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887654" y="1028700"/>
            <a:ext cx="6512693" cy="1219650"/>
          </a:xfrm>
          <a:custGeom>
            <a:avLst/>
            <a:gdLst/>
            <a:ahLst/>
            <a:cxnLst/>
            <a:rect r="r" b="b" t="t" l="l"/>
            <a:pathLst>
              <a:path h="1219650" w="6512693">
                <a:moveTo>
                  <a:pt x="0" y="0"/>
                </a:moveTo>
                <a:lnTo>
                  <a:pt x="6512692" y="0"/>
                </a:lnTo>
                <a:lnTo>
                  <a:pt x="6512692" y="1219650"/>
                </a:lnTo>
                <a:lnTo>
                  <a:pt x="0" y="121965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948873" y="3618324"/>
            <a:ext cx="2693245" cy="3314763"/>
            <a:chOff x="0" y="0"/>
            <a:chExt cx="6604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60400" cy="812800"/>
            </a:xfrm>
            <a:custGeom>
              <a:avLst/>
              <a:gdLst/>
              <a:ahLst/>
              <a:cxnLst/>
              <a:rect r="r" b="b" t="t" l="l"/>
              <a:pathLst>
                <a:path h="812800" w="6604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28502"/>
                  </a:cubicBezTo>
                  <a:lnTo>
                    <a:pt x="660400" y="812800"/>
                  </a:lnTo>
                  <a:lnTo>
                    <a:pt x="0" y="812800"/>
                  </a:lnTo>
                  <a:lnTo>
                    <a:pt x="0" y="328861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blipFill>
              <a:blip r:embed="rId12"/>
              <a:stretch>
                <a:fillRect l="-35068" t="-50155" r="-13837" b="-11158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5847876" y="3618324"/>
            <a:ext cx="2693245" cy="3314763"/>
            <a:chOff x="0" y="0"/>
            <a:chExt cx="6604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60400" cy="812800"/>
            </a:xfrm>
            <a:custGeom>
              <a:avLst/>
              <a:gdLst/>
              <a:ahLst/>
              <a:cxnLst/>
              <a:rect r="r" b="b" t="t" l="l"/>
              <a:pathLst>
                <a:path h="812800" w="6604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28502"/>
                  </a:cubicBezTo>
                  <a:lnTo>
                    <a:pt x="660400" y="812800"/>
                  </a:lnTo>
                  <a:lnTo>
                    <a:pt x="0" y="812800"/>
                  </a:lnTo>
                  <a:lnTo>
                    <a:pt x="0" y="328861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blipFill>
              <a:blip r:embed="rId13"/>
              <a:stretch>
                <a:fillRect l="-11834" t="-24425" r="-14722" b="-12678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674948" y="6713804"/>
            <a:ext cx="3241778" cy="1794286"/>
            <a:chOff x="0" y="0"/>
            <a:chExt cx="812972" cy="44997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972" cy="449970"/>
            </a:xfrm>
            <a:custGeom>
              <a:avLst/>
              <a:gdLst/>
              <a:ahLst/>
              <a:cxnLst/>
              <a:rect r="r" b="b" t="t" l="l"/>
              <a:pathLst>
                <a:path h="449970" w="812972">
                  <a:moveTo>
                    <a:pt x="81198" y="0"/>
                  </a:moveTo>
                  <a:lnTo>
                    <a:pt x="731774" y="0"/>
                  </a:lnTo>
                  <a:cubicBezTo>
                    <a:pt x="776618" y="0"/>
                    <a:pt x="812972" y="36353"/>
                    <a:pt x="812972" y="81198"/>
                  </a:cubicBezTo>
                  <a:lnTo>
                    <a:pt x="812972" y="368772"/>
                  </a:lnTo>
                  <a:cubicBezTo>
                    <a:pt x="812972" y="413617"/>
                    <a:pt x="776618" y="449970"/>
                    <a:pt x="731774" y="449970"/>
                  </a:cubicBezTo>
                  <a:lnTo>
                    <a:pt x="81198" y="449970"/>
                  </a:lnTo>
                  <a:cubicBezTo>
                    <a:pt x="36353" y="449970"/>
                    <a:pt x="0" y="413617"/>
                    <a:pt x="0" y="368772"/>
                  </a:cubicBezTo>
                  <a:lnTo>
                    <a:pt x="0" y="81198"/>
                  </a:lnTo>
                  <a:cubicBezTo>
                    <a:pt x="0" y="36353"/>
                    <a:pt x="36353" y="0"/>
                    <a:pt x="81198" y="0"/>
                  </a:cubicBezTo>
                  <a:close/>
                </a:path>
              </a:pathLst>
            </a:custGeom>
            <a:solidFill>
              <a:srgbClr val="481D9D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812972" cy="4880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5573952" y="6713804"/>
            <a:ext cx="3241778" cy="1794286"/>
            <a:chOff x="0" y="0"/>
            <a:chExt cx="812972" cy="44997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972" cy="449970"/>
            </a:xfrm>
            <a:custGeom>
              <a:avLst/>
              <a:gdLst/>
              <a:ahLst/>
              <a:cxnLst/>
              <a:rect r="r" b="b" t="t" l="l"/>
              <a:pathLst>
                <a:path h="449970" w="812972">
                  <a:moveTo>
                    <a:pt x="81198" y="0"/>
                  </a:moveTo>
                  <a:lnTo>
                    <a:pt x="731774" y="0"/>
                  </a:lnTo>
                  <a:cubicBezTo>
                    <a:pt x="776618" y="0"/>
                    <a:pt x="812972" y="36353"/>
                    <a:pt x="812972" y="81198"/>
                  </a:cubicBezTo>
                  <a:lnTo>
                    <a:pt x="812972" y="368772"/>
                  </a:lnTo>
                  <a:cubicBezTo>
                    <a:pt x="812972" y="413617"/>
                    <a:pt x="776618" y="449970"/>
                    <a:pt x="731774" y="449970"/>
                  </a:cubicBezTo>
                  <a:lnTo>
                    <a:pt x="81198" y="449970"/>
                  </a:lnTo>
                  <a:cubicBezTo>
                    <a:pt x="36353" y="449970"/>
                    <a:pt x="0" y="413617"/>
                    <a:pt x="0" y="368772"/>
                  </a:cubicBezTo>
                  <a:lnTo>
                    <a:pt x="0" y="81198"/>
                  </a:lnTo>
                  <a:cubicBezTo>
                    <a:pt x="0" y="36353"/>
                    <a:pt x="36353" y="0"/>
                    <a:pt x="81198" y="0"/>
                  </a:cubicBezTo>
                  <a:close/>
                </a:path>
              </a:pathLst>
            </a:custGeom>
            <a:solidFill>
              <a:srgbClr val="481D9D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812972" cy="4880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746879" y="3618324"/>
            <a:ext cx="2693245" cy="3314763"/>
            <a:chOff x="0" y="0"/>
            <a:chExt cx="6604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60400" cy="812800"/>
            </a:xfrm>
            <a:custGeom>
              <a:avLst/>
              <a:gdLst/>
              <a:ahLst/>
              <a:cxnLst/>
              <a:rect r="r" b="b" t="t" l="l"/>
              <a:pathLst>
                <a:path h="812800" w="6604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28502"/>
                  </a:cubicBezTo>
                  <a:lnTo>
                    <a:pt x="660400" y="812800"/>
                  </a:lnTo>
                  <a:lnTo>
                    <a:pt x="0" y="812800"/>
                  </a:lnTo>
                  <a:lnTo>
                    <a:pt x="0" y="328861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blipFill>
              <a:blip r:embed="rId14"/>
              <a:stretch>
                <a:fillRect l="-30897" t="-53478" r="-31677" b="-22645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472955" y="6713804"/>
            <a:ext cx="3139289" cy="1794286"/>
            <a:chOff x="0" y="0"/>
            <a:chExt cx="787269" cy="44997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87269" cy="449970"/>
            </a:xfrm>
            <a:custGeom>
              <a:avLst/>
              <a:gdLst/>
              <a:ahLst/>
              <a:cxnLst/>
              <a:rect r="r" b="b" t="t" l="l"/>
              <a:pathLst>
                <a:path h="449970" w="787269">
                  <a:moveTo>
                    <a:pt x="83849" y="0"/>
                  </a:moveTo>
                  <a:lnTo>
                    <a:pt x="703421" y="0"/>
                  </a:lnTo>
                  <a:cubicBezTo>
                    <a:pt x="725659" y="0"/>
                    <a:pt x="746986" y="8834"/>
                    <a:pt x="762711" y="24559"/>
                  </a:cubicBezTo>
                  <a:cubicBezTo>
                    <a:pt x="778435" y="40283"/>
                    <a:pt x="787269" y="61611"/>
                    <a:pt x="787269" y="83849"/>
                  </a:cubicBezTo>
                  <a:lnTo>
                    <a:pt x="787269" y="366121"/>
                  </a:lnTo>
                  <a:cubicBezTo>
                    <a:pt x="787269" y="412430"/>
                    <a:pt x="749729" y="449970"/>
                    <a:pt x="703421" y="449970"/>
                  </a:cubicBezTo>
                  <a:lnTo>
                    <a:pt x="83849" y="449970"/>
                  </a:lnTo>
                  <a:cubicBezTo>
                    <a:pt x="37540" y="449970"/>
                    <a:pt x="0" y="412430"/>
                    <a:pt x="0" y="366121"/>
                  </a:cubicBezTo>
                  <a:lnTo>
                    <a:pt x="0" y="83849"/>
                  </a:lnTo>
                  <a:cubicBezTo>
                    <a:pt x="0" y="37540"/>
                    <a:pt x="37540" y="0"/>
                    <a:pt x="83849" y="0"/>
                  </a:cubicBezTo>
                  <a:close/>
                </a:path>
              </a:pathLst>
            </a:custGeom>
            <a:solidFill>
              <a:srgbClr val="481D9D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787269" cy="4880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3645882" y="3618324"/>
            <a:ext cx="2693245" cy="3314763"/>
            <a:chOff x="0" y="0"/>
            <a:chExt cx="6604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60400" cy="812800"/>
            </a:xfrm>
            <a:custGeom>
              <a:avLst/>
              <a:gdLst/>
              <a:ahLst/>
              <a:cxnLst/>
              <a:rect r="r" b="b" t="t" l="l"/>
              <a:pathLst>
                <a:path h="812800" w="6604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28502"/>
                  </a:cubicBezTo>
                  <a:lnTo>
                    <a:pt x="660400" y="812800"/>
                  </a:lnTo>
                  <a:lnTo>
                    <a:pt x="0" y="812800"/>
                  </a:lnTo>
                  <a:lnTo>
                    <a:pt x="0" y="328861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blipFill>
              <a:blip r:embed="rId15"/>
              <a:stretch>
                <a:fillRect l="0" t="-16603" r="-3767" b="-33283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3371958" y="6713804"/>
            <a:ext cx="3215489" cy="1794286"/>
            <a:chOff x="0" y="0"/>
            <a:chExt cx="806379" cy="44997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06379" cy="449970"/>
            </a:xfrm>
            <a:custGeom>
              <a:avLst/>
              <a:gdLst/>
              <a:ahLst/>
              <a:cxnLst/>
              <a:rect r="r" b="b" t="t" l="l"/>
              <a:pathLst>
                <a:path h="449970" w="806379">
                  <a:moveTo>
                    <a:pt x="81862" y="0"/>
                  </a:moveTo>
                  <a:lnTo>
                    <a:pt x="724517" y="0"/>
                  </a:lnTo>
                  <a:cubicBezTo>
                    <a:pt x="746228" y="0"/>
                    <a:pt x="767050" y="8625"/>
                    <a:pt x="782402" y="23977"/>
                  </a:cubicBezTo>
                  <a:cubicBezTo>
                    <a:pt x="797754" y="39329"/>
                    <a:pt x="806379" y="60151"/>
                    <a:pt x="806379" y="81862"/>
                  </a:cubicBezTo>
                  <a:lnTo>
                    <a:pt x="806379" y="368109"/>
                  </a:lnTo>
                  <a:cubicBezTo>
                    <a:pt x="806379" y="413319"/>
                    <a:pt x="769728" y="449970"/>
                    <a:pt x="724517" y="449970"/>
                  </a:cubicBezTo>
                  <a:lnTo>
                    <a:pt x="81862" y="449970"/>
                  </a:lnTo>
                  <a:cubicBezTo>
                    <a:pt x="36651" y="449970"/>
                    <a:pt x="0" y="413319"/>
                    <a:pt x="0" y="368109"/>
                  </a:cubicBezTo>
                  <a:lnTo>
                    <a:pt x="0" y="81862"/>
                  </a:lnTo>
                  <a:cubicBezTo>
                    <a:pt x="0" y="36651"/>
                    <a:pt x="36651" y="0"/>
                    <a:pt x="81862" y="0"/>
                  </a:cubicBezTo>
                  <a:close/>
                </a:path>
              </a:pathLst>
            </a:custGeom>
            <a:solidFill>
              <a:srgbClr val="481D9D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806379" cy="4880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8" id="28"/>
          <p:cNvSpPr/>
          <p:nvPr/>
        </p:nvSpPr>
        <p:spPr>
          <a:xfrm flipH="false" flipV="false" rot="0">
            <a:off x="523583" y="298229"/>
            <a:ext cx="1010234" cy="1131809"/>
          </a:xfrm>
          <a:custGeom>
            <a:avLst/>
            <a:gdLst/>
            <a:ahLst/>
            <a:cxnLst/>
            <a:rect r="r" b="b" t="t" l="l"/>
            <a:pathLst>
              <a:path h="1131809" w="1010234">
                <a:moveTo>
                  <a:pt x="0" y="0"/>
                </a:moveTo>
                <a:lnTo>
                  <a:pt x="1010234" y="0"/>
                </a:lnTo>
                <a:lnTo>
                  <a:pt x="1010234" y="1131810"/>
                </a:lnTo>
                <a:lnTo>
                  <a:pt x="0" y="113181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6457033" y="1207269"/>
            <a:ext cx="5673579" cy="705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70"/>
              </a:lnSpc>
            </a:pPr>
            <a:r>
              <a:rPr lang="en-US" sz="4338" spc="-182">
                <a:solidFill>
                  <a:srgbClr val="FFFFFF"/>
                </a:solidFill>
                <a:latin typeface="Days"/>
                <a:ea typeface="Days"/>
                <a:cs typeface="Days"/>
                <a:sym typeface="Days"/>
              </a:rPr>
              <a:t>Anggota Kelompok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740138" y="6877912"/>
            <a:ext cx="3111398" cy="862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34"/>
              </a:lnSpc>
            </a:pPr>
            <a:r>
              <a:rPr lang="en-US" sz="2582" spc="-108">
                <a:solidFill>
                  <a:srgbClr val="FFFFFF"/>
                </a:solidFill>
                <a:latin typeface="Tenor Sans"/>
                <a:ea typeface="Tenor Sans"/>
                <a:cs typeface="Tenor Sans"/>
                <a:sym typeface="Tenor Sans"/>
              </a:rPr>
              <a:t>Fanka Fathiroh</a:t>
            </a:r>
          </a:p>
          <a:p>
            <a:pPr algn="ctr">
              <a:lnSpc>
                <a:spcPts val="3434"/>
              </a:lnSpc>
            </a:pPr>
            <a:r>
              <a:rPr lang="en-US" sz="2582" spc="-108">
                <a:solidFill>
                  <a:srgbClr val="FFFFFF"/>
                </a:solidFill>
                <a:latin typeface="Tenor Sans"/>
                <a:ea typeface="Tenor Sans"/>
                <a:cs typeface="Tenor Sans"/>
                <a:sym typeface="Tenor Sans"/>
              </a:rPr>
              <a:t>Ratna Nur A.K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5562669" y="6877912"/>
            <a:ext cx="3133963" cy="862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34"/>
              </a:lnSpc>
            </a:pPr>
            <a:r>
              <a:rPr lang="en-US" sz="2582" spc="-108">
                <a:solidFill>
                  <a:srgbClr val="FFFFFF"/>
                </a:solidFill>
                <a:latin typeface="Tenor Sans"/>
                <a:ea typeface="Tenor Sans"/>
                <a:cs typeface="Tenor Sans"/>
                <a:sym typeface="Tenor Sans"/>
              </a:rPr>
              <a:t>Muhammad Irawan</a:t>
            </a:r>
          </a:p>
          <a:p>
            <a:pPr algn="ctr">
              <a:lnSpc>
                <a:spcPts val="3434"/>
              </a:lnSpc>
            </a:pPr>
            <a:r>
              <a:rPr lang="en-US" sz="2582" spc="-108">
                <a:solidFill>
                  <a:srgbClr val="FFFFFF"/>
                </a:solidFill>
                <a:latin typeface="Tenor Sans"/>
                <a:ea typeface="Tenor Sans"/>
                <a:cs typeface="Tenor Sans"/>
                <a:sym typeface="Tenor Sans"/>
              </a:rPr>
              <a:t>Siswanto 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500845" y="6877912"/>
            <a:ext cx="3111398" cy="862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34"/>
              </a:lnSpc>
            </a:pPr>
            <a:r>
              <a:rPr lang="en-US" sz="2582" spc="-108">
                <a:solidFill>
                  <a:srgbClr val="FFFFFF"/>
                </a:solidFill>
                <a:latin typeface="Tenor Sans"/>
                <a:ea typeface="Tenor Sans"/>
                <a:cs typeface="Tenor Sans"/>
                <a:sym typeface="Tenor Sans"/>
              </a:rPr>
              <a:t>Sultan Nudzul</a:t>
            </a:r>
          </a:p>
          <a:p>
            <a:pPr algn="ctr">
              <a:lnSpc>
                <a:spcPts val="3434"/>
              </a:lnSpc>
            </a:pPr>
            <a:r>
              <a:rPr lang="en-US" sz="2582" spc="-108">
                <a:solidFill>
                  <a:srgbClr val="FFFFFF"/>
                </a:solidFill>
                <a:latin typeface="Tenor Sans"/>
                <a:ea typeface="Tenor Sans"/>
                <a:cs typeface="Tenor Sans"/>
                <a:sym typeface="Tenor Sans"/>
              </a:rPr>
              <a:t>Ikhram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3436806" y="6877912"/>
            <a:ext cx="3111398" cy="862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34"/>
              </a:lnSpc>
            </a:pPr>
            <a:r>
              <a:rPr lang="en-US" sz="2582" spc="-108">
                <a:solidFill>
                  <a:srgbClr val="FFFFFF"/>
                </a:solidFill>
                <a:latin typeface="Tenor Sans"/>
                <a:ea typeface="Tenor Sans"/>
                <a:cs typeface="Tenor Sans"/>
                <a:sym typeface="Tenor Sans"/>
              </a:rPr>
              <a:t>Alfiyah Faza</a:t>
            </a:r>
          </a:p>
          <a:p>
            <a:pPr algn="ctr">
              <a:lnSpc>
                <a:spcPts val="3434"/>
              </a:lnSpc>
            </a:pPr>
            <a:r>
              <a:rPr lang="en-US" sz="2582" spc="-108">
                <a:solidFill>
                  <a:srgbClr val="FFFFFF"/>
                </a:solidFill>
                <a:latin typeface="Tenor Sans"/>
                <a:ea typeface="Tenor Sans"/>
                <a:cs typeface="Tenor Sans"/>
                <a:sym typeface="Tenor Sans"/>
              </a:rPr>
              <a:t>Ilyana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420893" y="9498276"/>
            <a:ext cx="5542074" cy="411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2"/>
              </a:lnSpc>
            </a:pPr>
            <a:r>
              <a:rPr lang="en-US" sz="2520">
                <a:solidFill>
                  <a:srgbClr val="322230"/>
                </a:solidFill>
                <a:latin typeface="Touvlo"/>
                <a:ea typeface="Touvlo"/>
                <a:cs typeface="Touvlo"/>
                <a:sym typeface="Touvlo"/>
              </a:rPr>
              <a:t>FAKULTAS TELEMATIKA ENERGI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2400346" y="9504208"/>
            <a:ext cx="5542074" cy="4060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2"/>
              </a:lnSpc>
            </a:pPr>
            <a:r>
              <a:rPr lang="en-US" sz="2520">
                <a:solidFill>
                  <a:srgbClr val="322230"/>
                </a:solidFill>
                <a:latin typeface="Touvlo"/>
                <a:ea typeface="Touvlo"/>
                <a:cs typeface="Touvlo"/>
                <a:sym typeface="Touvlo"/>
              </a:rPr>
              <a:t>PRODI SISTEM INFORMASI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740138" y="7911184"/>
            <a:ext cx="3111398" cy="414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34"/>
              </a:lnSpc>
            </a:pPr>
            <a:r>
              <a:rPr lang="en-US" b="true" sz="2582" spc="-108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202332053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5573952" y="7911184"/>
            <a:ext cx="3111398" cy="414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34"/>
              </a:lnSpc>
            </a:pPr>
            <a:r>
              <a:rPr lang="en-US" b="true" sz="2582" spc="-108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202332064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9539630" y="7911184"/>
            <a:ext cx="3111398" cy="414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34"/>
              </a:lnSpc>
            </a:pPr>
            <a:r>
              <a:rPr lang="en-US" b="true" sz="2582" spc="-108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202332079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3436806" y="7911184"/>
            <a:ext cx="3111398" cy="414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34"/>
              </a:lnSpc>
            </a:pPr>
            <a:r>
              <a:rPr lang="en-US" b="true" sz="2582" spc="-108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202332082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9317039">
            <a:off x="-8075290" y="-4033182"/>
            <a:ext cx="18207979" cy="7530252"/>
          </a:xfrm>
          <a:custGeom>
            <a:avLst/>
            <a:gdLst/>
            <a:ahLst/>
            <a:cxnLst/>
            <a:rect r="r" b="b" t="t" l="l"/>
            <a:pathLst>
              <a:path h="7530252" w="18207979">
                <a:moveTo>
                  <a:pt x="0" y="0"/>
                </a:moveTo>
                <a:lnTo>
                  <a:pt x="18207980" y="0"/>
                </a:lnTo>
                <a:lnTo>
                  <a:pt x="18207980" y="7530251"/>
                </a:lnTo>
                <a:lnTo>
                  <a:pt x="0" y="75302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9250924">
            <a:off x="7968489" y="-3765126"/>
            <a:ext cx="18207979" cy="7530252"/>
          </a:xfrm>
          <a:custGeom>
            <a:avLst/>
            <a:gdLst/>
            <a:ahLst/>
            <a:cxnLst/>
            <a:rect r="r" b="b" t="t" l="l"/>
            <a:pathLst>
              <a:path h="7530252" w="18207979">
                <a:moveTo>
                  <a:pt x="18207979" y="0"/>
                </a:moveTo>
                <a:lnTo>
                  <a:pt x="0" y="0"/>
                </a:lnTo>
                <a:lnTo>
                  <a:pt x="0" y="7530252"/>
                </a:lnTo>
                <a:lnTo>
                  <a:pt x="18207979" y="7530252"/>
                </a:lnTo>
                <a:lnTo>
                  <a:pt x="1820797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400000">
            <a:off x="16466928" y="-609971"/>
            <a:ext cx="1211101" cy="2431042"/>
          </a:xfrm>
          <a:custGeom>
            <a:avLst/>
            <a:gdLst/>
            <a:ahLst/>
            <a:cxnLst/>
            <a:rect r="r" b="b" t="t" l="l"/>
            <a:pathLst>
              <a:path h="2431042" w="1211101">
                <a:moveTo>
                  <a:pt x="0" y="0"/>
                </a:moveTo>
                <a:lnTo>
                  <a:pt x="1211101" y="0"/>
                </a:lnTo>
                <a:lnTo>
                  <a:pt x="1211101" y="2431043"/>
                </a:lnTo>
                <a:lnTo>
                  <a:pt x="0" y="243104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144000" y="8913298"/>
            <a:ext cx="4995894" cy="4114800"/>
          </a:xfrm>
          <a:custGeom>
            <a:avLst/>
            <a:gdLst/>
            <a:ahLst/>
            <a:cxnLst/>
            <a:rect r="r" b="b" t="t" l="l"/>
            <a:pathLst>
              <a:path h="4114800" w="4995894">
                <a:moveTo>
                  <a:pt x="0" y="0"/>
                </a:moveTo>
                <a:lnTo>
                  <a:pt x="4995894" y="0"/>
                </a:lnTo>
                <a:lnTo>
                  <a:pt x="499589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9641910">
            <a:off x="4379319" y="8921459"/>
            <a:ext cx="4243373" cy="3757314"/>
          </a:xfrm>
          <a:custGeom>
            <a:avLst/>
            <a:gdLst/>
            <a:ahLst/>
            <a:cxnLst/>
            <a:rect r="r" b="b" t="t" l="l"/>
            <a:pathLst>
              <a:path h="3757314" w="4243373">
                <a:moveTo>
                  <a:pt x="0" y="0"/>
                </a:moveTo>
                <a:lnTo>
                  <a:pt x="4243373" y="0"/>
                </a:lnTo>
                <a:lnTo>
                  <a:pt x="4243373" y="3757314"/>
                </a:lnTo>
                <a:lnTo>
                  <a:pt x="0" y="375731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824120" y="1430039"/>
            <a:ext cx="1053484" cy="921320"/>
          </a:xfrm>
          <a:custGeom>
            <a:avLst/>
            <a:gdLst/>
            <a:ahLst/>
            <a:cxnLst/>
            <a:rect r="r" b="b" t="t" l="l"/>
            <a:pathLst>
              <a:path h="921320" w="1053484">
                <a:moveTo>
                  <a:pt x="0" y="0"/>
                </a:moveTo>
                <a:lnTo>
                  <a:pt x="1053484" y="0"/>
                </a:lnTo>
                <a:lnTo>
                  <a:pt x="1053484" y="921320"/>
                </a:lnTo>
                <a:lnTo>
                  <a:pt x="0" y="92132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0">
            <a:off x="13915075" y="1270659"/>
            <a:ext cx="1053484" cy="921320"/>
          </a:xfrm>
          <a:custGeom>
            <a:avLst/>
            <a:gdLst/>
            <a:ahLst/>
            <a:cxnLst/>
            <a:rect r="r" b="b" t="t" l="l"/>
            <a:pathLst>
              <a:path h="921320" w="1053484">
                <a:moveTo>
                  <a:pt x="1053484" y="0"/>
                </a:moveTo>
                <a:lnTo>
                  <a:pt x="0" y="0"/>
                </a:lnTo>
                <a:lnTo>
                  <a:pt x="0" y="921320"/>
                </a:lnTo>
                <a:lnTo>
                  <a:pt x="1053484" y="921320"/>
                </a:lnTo>
                <a:lnTo>
                  <a:pt x="1053484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059306" y="1292597"/>
            <a:ext cx="11465810" cy="1741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89"/>
              </a:lnSpc>
            </a:pPr>
            <a:r>
              <a:rPr lang="en-US" sz="5630" spc="-236">
                <a:solidFill>
                  <a:srgbClr val="FFFFFF"/>
                </a:solidFill>
                <a:latin typeface="Days"/>
                <a:ea typeface="Days"/>
                <a:cs typeface="Days"/>
                <a:sym typeface="Days"/>
              </a:rPr>
              <a:t>Latar Belakang &amp; Masalah</a:t>
            </a:r>
          </a:p>
          <a:p>
            <a:pPr algn="l">
              <a:lnSpc>
                <a:spcPts val="6558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533817" y="3576452"/>
            <a:ext cx="7046341" cy="38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867"/>
              </a:lnSpc>
            </a:pPr>
            <a:r>
              <a:rPr lang="en-US" sz="2578">
                <a:solidFill>
                  <a:srgbClr val="32223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Sistem RME konvensional masih menggunakan arsitektur terpusat yang rentan terhadap manipulasi data, kebocoran informasi, dan single point of failure.</a:t>
            </a:r>
          </a:p>
          <a:p>
            <a:pPr algn="just">
              <a:lnSpc>
                <a:spcPts val="3867"/>
              </a:lnSpc>
            </a:pPr>
          </a:p>
          <a:p>
            <a:pPr algn="just">
              <a:lnSpc>
                <a:spcPts val="3867"/>
              </a:lnSpc>
            </a:pPr>
            <a:r>
              <a:rPr lang="en-US" sz="2578">
                <a:solidFill>
                  <a:srgbClr val="32223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Tingginya praktik pemalsuan dokumen kesehatan (surat sehat/hasil lab) sebagai syarat administrasi dunia kerja.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792211" y="3372883"/>
            <a:ext cx="7669699" cy="5807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52543" indent="-276272" lvl="1">
              <a:lnSpc>
                <a:spcPts val="3838"/>
              </a:lnSpc>
              <a:buAutoNum type="arabicPeriod" startAt="1"/>
            </a:pPr>
            <a:r>
              <a:rPr lang="en-US" sz="2559">
                <a:solidFill>
                  <a:srgbClr val="32223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Bagaimana merancang mekanisme penyimpanan data RME berbasis blockchain dengan pendekatan off-chain dan on-chain yang efisien dan aman? </a:t>
            </a:r>
          </a:p>
          <a:p>
            <a:pPr algn="just">
              <a:lnSpc>
                <a:spcPts val="3838"/>
              </a:lnSpc>
            </a:pPr>
          </a:p>
          <a:p>
            <a:pPr algn="l" marL="552543" indent="-276272" lvl="1">
              <a:lnSpc>
                <a:spcPts val="3838"/>
              </a:lnSpc>
              <a:buAutoNum type="arabicPeriod" startAt="1"/>
            </a:pPr>
            <a:r>
              <a:rPr lang="en-US" sz="2559">
                <a:solidFill>
                  <a:srgbClr val="32223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Bagaimana mengimplementasikan smart contract pada Ethereum Sepolia Testnet untuk pencatatan, verifikasi, dan pengaturan akses data?  </a:t>
            </a:r>
          </a:p>
          <a:p>
            <a:pPr algn="just">
              <a:lnSpc>
                <a:spcPts val="3838"/>
              </a:lnSpc>
            </a:pPr>
          </a:p>
          <a:p>
            <a:pPr algn="l" marL="552543" indent="-276272" lvl="1">
              <a:lnSpc>
                <a:spcPts val="3838"/>
              </a:lnSpc>
              <a:buAutoNum type="arabicPeriod" startAt="1"/>
            </a:pPr>
            <a:r>
              <a:rPr lang="en-US" sz="2559">
                <a:solidFill>
                  <a:srgbClr val="32223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Bagaimana penerapan blockchain dapat meningkatkan transparansi serta meminimalisir manipulasi dan pemalsuan data kesehatan? 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251901" y="2775430"/>
            <a:ext cx="4628806" cy="597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15"/>
              </a:lnSpc>
            </a:pPr>
            <a:r>
              <a:rPr lang="en-US" sz="3620" b="true">
                <a:solidFill>
                  <a:srgbClr val="481D9D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Konteks &amp; Urgensi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872964" y="2775430"/>
            <a:ext cx="5297512" cy="597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15"/>
              </a:lnSpc>
            </a:pPr>
            <a:r>
              <a:rPr lang="en-US" sz="3620" b="true">
                <a:solidFill>
                  <a:srgbClr val="481D9D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Rumusan Masalah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20893" y="9498276"/>
            <a:ext cx="5542074" cy="411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2"/>
              </a:lnSpc>
            </a:pPr>
            <a:r>
              <a:rPr lang="en-US" sz="2520">
                <a:solidFill>
                  <a:srgbClr val="322230"/>
                </a:solidFill>
                <a:latin typeface="Touvlo"/>
                <a:ea typeface="Touvlo"/>
                <a:cs typeface="Touvlo"/>
                <a:sym typeface="Touvlo"/>
              </a:rPr>
              <a:t>FAKULTAS TELEMATIKA ENERGI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139854" y="9498276"/>
            <a:ext cx="5542074" cy="4060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2"/>
              </a:lnSpc>
            </a:pPr>
            <a:r>
              <a:rPr lang="en-US" sz="2520">
                <a:solidFill>
                  <a:srgbClr val="322230"/>
                </a:solidFill>
                <a:latin typeface="Touvlo"/>
                <a:ea typeface="Touvlo"/>
                <a:cs typeface="Touvlo"/>
                <a:sym typeface="Touvlo"/>
              </a:rPr>
              <a:t>PRODI SISTEM INFORMASI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523583" y="298229"/>
            <a:ext cx="1010234" cy="1131809"/>
          </a:xfrm>
          <a:custGeom>
            <a:avLst/>
            <a:gdLst/>
            <a:ahLst/>
            <a:cxnLst/>
            <a:rect r="r" b="b" t="t" l="l"/>
            <a:pathLst>
              <a:path h="1131809" w="1010234">
                <a:moveTo>
                  <a:pt x="0" y="0"/>
                </a:moveTo>
                <a:lnTo>
                  <a:pt x="1010234" y="0"/>
                </a:lnTo>
                <a:lnTo>
                  <a:pt x="1010234" y="1131810"/>
                </a:lnTo>
                <a:lnTo>
                  <a:pt x="0" y="113181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AutoShape 17" id="17"/>
          <p:cNvSpPr/>
          <p:nvPr/>
        </p:nvSpPr>
        <p:spPr>
          <a:xfrm>
            <a:off x="9163050" y="3223355"/>
            <a:ext cx="0" cy="6492240"/>
          </a:xfrm>
          <a:prstGeom prst="line">
            <a:avLst/>
          </a:prstGeom>
          <a:ln cap="flat" w="228600">
            <a:solidFill>
              <a:srgbClr val="481D9D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9317039">
            <a:off x="-8075290" y="-4033182"/>
            <a:ext cx="18207979" cy="7530252"/>
          </a:xfrm>
          <a:custGeom>
            <a:avLst/>
            <a:gdLst/>
            <a:ahLst/>
            <a:cxnLst/>
            <a:rect r="r" b="b" t="t" l="l"/>
            <a:pathLst>
              <a:path h="7530252" w="18207979">
                <a:moveTo>
                  <a:pt x="0" y="0"/>
                </a:moveTo>
                <a:lnTo>
                  <a:pt x="18207980" y="0"/>
                </a:lnTo>
                <a:lnTo>
                  <a:pt x="18207980" y="7530251"/>
                </a:lnTo>
                <a:lnTo>
                  <a:pt x="0" y="75302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9250924">
            <a:off x="7968489" y="-3765126"/>
            <a:ext cx="18207979" cy="7530252"/>
          </a:xfrm>
          <a:custGeom>
            <a:avLst/>
            <a:gdLst/>
            <a:ahLst/>
            <a:cxnLst/>
            <a:rect r="r" b="b" t="t" l="l"/>
            <a:pathLst>
              <a:path h="7530252" w="18207979">
                <a:moveTo>
                  <a:pt x="18207979" y="0"/>
                </a:moveTo>
                <a:lnTo>
                  <a:pt x="0" y="0"/>
                </a:lnTo>
                <a:lnTo>
                  <a:pt x="0" y="7530252"/>
                </a:lnTo>
                <a:lnTo>
                  <a:pt x="18207979" y="7530252"/>
                </a:lnTo>
                <a:lnTo>
                  <a:pt x="1820797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400000">
            <a:off x="16466928" y="-609971"/>
            <a:ext cx="1211101" cy="2431042"/>
          </a:xfrm>
          <a:custGeom>
            <a:avLst/>
            <a:gdLst/>
            <a:ahLst/>
            <a:cxnLst/>
            <a:rect r="r" b="b" t="t" l="l"/>
            <a:pathLst>
              <a:path h="2431042" w="1211101">
                <a:moveTo>
                  <a:pt x="0" y="0"/>
                </a:moveTo>
                <a:lnTo>
                  <a:pt x="1211101" y="0"/>
                </a:lnTo>
                <a:lnTo>
                  <a:pt x="1211101" y="2431043"/>
                </a:lnTo>
                <a:lnTo>
                  <a:pt x="0" y="243104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144000" y="8913298"/>
            <a:ext cx="4995894" cy="4114800"/>
          </a:xfrm>
          <a:custGeom>
            <a:avLst/>
            <a:gdLst/>
            <a:ahLst/>
            <a:cxnLst/>
            <a:rect r="r" b="b" t="t" l="l"/>
            <a:pathLst>
              <a:path h="4114800" w="4995894">
                <a:moveTo>
                  <a:pt x="0" y="0"/>
                </a:moveTo>
                <a:lnTo>
                  <a:pt x="4995894" y="0"/>
                </a:lnTo>
                <a:lnTo>
                  <a:pt x="499589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9641910">
            <a:off x="4379319" y="8921459"/>
            <a:ext cx="4243373" cy="3757314"/>
          </a:xfrm>
          <a:custGeom>
            <a:avLst/>
            <a:gdLst/>
            <a:ahLst/>
            <a:cxnLst/>
            <a:rect r="r" b="b" t="t" l="l"/>
            <a:pathLst>
              <a:path h="3757314" w="4243373">
                <a:moveTo>
                  <a:pt x="0" y="0"/>
                </a:moveTo>
                <a:lnTo>
                  <a:pt x="4243373" y="0"/>
                </a:lnTo>
                <a:lnTo>
                  <a:pt x="4243373" y="3757314"/>
                </a:lnTo>
                <a:lnTo>
                  <a:pt x="0" y="375731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877604" y="1430039"/>
            <a:ext cx="1053484" cy="921320"/>
          </a:xfrm>
          <a:custGeom>
            <a:avLst/>
            <a:gdLst/>
            <a:ahLst/>
            <a:cxnLst/>
            <a:rect r="r" b="b" t="t" l="l"/>
            <a:pathLst>
              <a:path h="921320" w="1053484">
                <a:moveTo>
                  <a:pt x="0" y="0"/>
                </a:moveTo>
                <a:lnTo>
                  <a:pt x="1053485" y="0"/>
                </a:lnTo>
                <a:lnTo>
                  <a:pt x="1053485" y="921320"/>
                </a:lnTo>
                <a:lnTo>
                  <a:pt x="0" y="92132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0">
            <a:off x="13553616" y="1430039"/>
            <a:ext cx="1053484" cy="921320"/>
          </a:xfrm>
          <a:custGeom>
            <a:avLst/>
            <a:gdLst/>
            <a:ahLst/>
            <a:cxnLst/>
            <a:rect r="r" b="b" t="t" l="l"/>
            <a:pathLst>
              <a:path h="921320" w="1053484">
                <a:moveTo>
                  <a:pt x="1053484" y="0"/>
                </a:moveTo>
                <a:lnTo>
                  <a:pt x="0" y="0"/>
                </a:lnTo>
                <a:lnTo>
                  <a:pt x="0" y="921320"/>
                </a:lnTo>
                <a:lnTo>
                  <a:pt x="1053484" y="921320"/>
                </a:lnTo>
                <a:lnTo>
                  <a:pt x="1053484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802624" y="1372889"/>
            <a:ext cx="6682753" cy="907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89"/>
              </a:lnSpc>
            </a:pPr>
            <a:r>
              <a:rPr lang="en-US" sz="5630" spc="-236">
                <a:solidFill>
                  <a:srgbClr val="FFFFFF"/>
                </a:solidFill>
                <a:latin typeface="Days"/>
                <a:ea typeface="Days"/>
                <a:cs typeface="Days"/>
                <a:sym typeface="Days"/>
              </a:rPr>
              <a:t>Tujuan &amp; Batasan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015892" y="3066876"/>
            <a:ext cx="3886603" cy="597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15"/>
              </a:lnSpc>
            </a:pPr>
            <a:r>
              <a:rPr lang="en-US" sz="3620" b="true">
                <a:solidFill>
                  <a:srgbClr val="481D9D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Tujuan Project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092367" y="3066876"/>
            <a:ext cx="4095053" cy="597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15"/>
              </a:lnSpc>
            </a:pPr>
            <a:r>
              <a:rPr lang="en-US" sz="3620" b="true">
                <a:solidFill>
                  <a:srgbClr val="481D9D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Batasan Project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20893" y="9498276"/>
            <a:ext cx="5542074" cy="411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2"/>
              </a:lnSpc>
            </a:pPr>
            <a:r>
              <a:rPr lang="en-US" sz="2520">
                <a:solidFill>
                  <a:srgbClr val="322230"/>
                </a:solidFill>
                <a:latin typeface="Touvlo"/>
                <a:ea typeface="Touvlo"/>
                <a:cs typeface="Touvlo"/>
                <a:sym typeface="Touvlo"/>
              </a:rPr>
              <a:t>FAKULTAS TELEMATIKA ENERGI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139854" y="9498276"/>
            <a:ext cx="5542074" cy="4060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2"/>
              </a:lnSpc>
            </a:pPr>
            <a:r>
              <a:rPr lang="en-US" sz="2520">
                <a:solidFill>
                  <a:srgbClr val="322230"/>
                </a:solidFill>
                <a:latin typeface="Touvlo"/>
                <a:ea typeface="Touvlo"/>
                <a:cs typeface="Touvlo"/>
                <a:sym typeface="Touvlo"/>
              </a:rPr>
              <a:t>PRODI SISTEM INFORMASI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523583" y="298229"/>
            <a:ext cx="1010234" cy="1131809"/>
          </a:xfrm>
          <a:custGeom>
            <a:avLst/>
            <a:gdLst/>
            <a:ahLst/>
            <a:cxnLst/>
            <a:rect r="r" b="b" t="t" l="l"/>
            <a:pathLst>
              <a:path h="1131809" w="1010234">
                <a:moveTo>
                  <a:pt x="0" y="0"/>
                </a:moveTo>
                <a:lnTo>
                  <a:pt x="1010234" y="0"/>
                </a:lnTo>
                <a:lnTo>
                  <a:pt x="1010234" y="1131810"/>
                </a:lnTo>
                <a:lnTo>
                  <a:pt x="0" y="113181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AutoShape 15" id="15"/>
          <p:cNvSpPr/>
          <p:nvPr/>
        </p:nvSpPr>
        <p:spPr>
          <a:xfrm>
            <a:off x="9355314" y="3114501"/>
            <a:ext cx="0" cy="6795770"/>
          </a:xfrm>
          <a:prstGeom prst="line">
            <a:avLst/>
          </a:prstGeom>
          <a:ln cap="flat" w="228600">
            <a:solidFill>
              <a:srgbClr val="481D9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6" id="16"/>
          <p:cNvGrpSpPr/>
          <p:nvPr/>
        </p:nvGrpSpPr>
        <p:grpSpPr>
          <a:xfrm rot="0">
            <a:off x="10478788" y="4042448"/>
            <a:ext cx="7203140" cy="3509878"/>
            <a:chOff x="0" y="0"/>
            <a:chExt cx="2065031" cy="100622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065031" cy="1006229"/>
            </a:xfrm>
            <a:custGeom>
              <a:avLst/>
              <a:gdLst/>
              <a:ahLst/>
              <a:cxnLst/>
              <a:rect r="r" b="b" t="t" l="l"/>
              <a:pathLst>
                <a:path h="1006229" w="2065031">
                  <a:moveTo>
                    <a:pt x="37618" y="0"/>
                  </a:moveTo>
                  <a:lnTo>
                    <a:pt x="2027413" y="0"/>
                  </a:lnTo>
                  <a:cubicBezTo>
                    <a:pt x="2037390" y="0"/>
                    <a:pt x="2046958" y="3963"/>
                    <a:pt x="2054013" y="11018"/>
                  </a:cubicBezTo>
                  <a:cubicBezTo>
                    <a:pt x="2061067" y="18073"/>
                    <a:pt x="2065031" y="27641"/>
                    <a:pt x="2065031" y="37618"/>
                  </a:cubicBezTo>
                  <a:lnTo>
                    <a:pt x="2065031" y="968611"/>
                  </a:lnTo>
                  <a:cubicBezTo>
                    <a:pt x="2065031" y="989387"/>
                    <a:pt x="2048189" y="1006229"/>
                    <a:pt x="2027413" y="1006229"/>
                  </a:cubicBezTo>
                  <a:lnTo>
                    <a:pt x="37618" y="1006229"/>
                  </a:lnTo>
                  <a:cubicBezTo>
                    <a:pt x="16842" y="1006229"/>
                    <a:pt x="0" y="989387"/>
                    <a:pt x="0" y="968611"/>
                  </a:cubicBezTo>
                  <a:lnTo>
                    <a:pt x="0" y="37618"/>
                  </a:lnTo>
                  <a:cubicBezTo>
                    <a:pt x="0" y="16842"/>
                    <a:pt x="16842" y="0"/>
                    <a:pt x="37618" y="0"/>
                  </a:cubicBezTo>
                  <a:close/>
                </a:path>
              </a:pathLst>
            </a:custGeom>
            <a:solidFill>
              <a:srgbClr val="481D9D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28575"/>
              <a:ext cx="2065031" cy="10348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544157" indent="-272079" lvl="1">
                <a:lnSpc>
                  <a:spcPts val="3352"/>
                </a:lnSpc>
                <a:buAutoNum type="arabicPeriod" startAt="1"/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0739492" y="4501222"/>
            <a:ext cx="6681732" cy="1885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3090" indent="-271545" lvl="1">
              <a:lnSpc>
                <a:spcPts val="3773"/>
              </a:lnSpc>
              <a:buAutoNum type="arabicPeriod" startAt="1"/>
            </a:pPr>
            <a:r>
              <a:rPr lang="en-US" sz="2515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Sistem berupa prototipe simulasi.</a:t>
            </a:r>
          </a:p>
          <a:p>
            <a:pPr algn="l" marL="543090" indent="-271545" lvl="1">
              <a:lnSpc>
                <a:spcPts val="3773"/>
              </a:lnSpc>
              <a:buAutoNum type="arabicPeriod" startAt="1"/>
            </a:pPr>
            <a:r>
              <a:rPr lang="en-US" sz="2515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Menggunakan data dummy (simulasi).</a:t>
            </a:r>
          </a:p>
          <a:p>
            <a:pPr algn="just" marL="543090" indent="-271545" lvl="1">
              <a:lnSpc>
                <a:spcPts val="3773"/>
              </a:lnSpc>
              <a:buAutoNum type="arabicPeriod" startAt="1"/>
            </a:pPr>
            <a:r>
              <a:rPr lang="en-US" sz="2515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Implementasi pada Testnet, bukan Mainnet.</a:t>
            </a:r>
          </a:p>
          <a:p>
            <a:pPr algn="just" marL="543090" indent="-271545" lvl="1">
              <a:lnSpc>
                <a:spcPts val="3773"/>
              </a:lnSpc>
              <a:buAutoNum type="arabicPeriod" startAt="1"/>
            </a:pPr>
            <a:r>
              <a:rPr lang="en-US" sz="2515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Fokus pada integrasi Web3 &amp; MetaMask.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357624" y="4042448"/>
            <a:ext cx="7407350" cy="3509878"/>
            <a:chOff x="0" y="0"/>
            <a:chExt cx="2123575" cy="100622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123575" cy="1006229"/>
            </a:xfrm>
            <a:custGeom>
              <a:avLst/>
              <a:gdLst/>
              <a:ahLst/>
              <a:cxnLst/>
              <a:rect r="r" b="b" t="t" l="l"/>
              <a:pathLst>
                <a:path h="1006229" w="2123575">
                  <a:moveTo>
                    <a:pt x="36581" y="0"/>
                  </a:moveTo>
                  <a:lnTo>
                    <a:pt x="2086994" y="0"/>
                  </a:lnTo>
                  <a:cubicBezTo>
                    <a:pt x="2096696" y="0"/>
                    <a:pt x="2106000" y="3854"/>
                    <a:pt x="2112861" y="10714"/>
                  </a:cubicBezTo>
                  <a:cubicBezTo>
                    <a:pt x="2119721" y="17575"/>
                    <a:pt x="2123575" y="26879"/>
                    <a:pt x="2123575" y="36581"/>
                  </a:cubicBezTo>
                  <a:lnTo>
                    <a:pt x="2123575" y="969648"/>
                  </a:lnTo>
                  <a:cubicBezTo>
                    <a:pt x="2123575" y="989851"/>
                    <a:pt x="2107197" y="1006229"/>
                    <a:pt x="2086994" y="1006229"/>
                  </a:cubicBezTo>
                  <a:lnTo>
                    <a:pt x="36581" y="1006229"/>
                  </a:lnTo>
                  <a:cubicBezTo>
                    <a:pt x="16378" y="1006229"/>
                    <a:pt x="0" y="989851"/>
                    <a:pt x="0" y="969648"/>
                  </a:cubicBezTo>
                  <a:lnTo>
                    <a:pt x="0" y="36581"/>
                  </a:lnTo>
                  <a:cubicBezTo>
                    <a:pt x="0" y="16378"/>
                    <a:pt x="16378" y="0"/>
                    <a:pt x="36581" y="0"/>
                  </a:cubicBezTo>
                  <a:close/>
                </a:path>
              </a:pathLst>
            </a:custGeom>
            <a:solidFill>
              <a:srgbClr val="481D9D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28575"/>
              <a:ext cx="2123575" cy="10348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544157" indent="-272079" lvl="1">
                <a:lnSpc>
                  <a:spcPts val="3352"/>
                </a:lnSpc>
                <a:buAutoNum type="arabicPeriod" startAt="1"/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777257" y="4501222"/>
            <a:ext cx="6568085" cy="2361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43090" indent="-271545" lvl="1">
              <a:lnSpc>
                <a:spcPts val="3773"/>
              </a:lnSpc>
              <a:buAutoNum type="arabicPeriod" startAt="1"/>
            </a:pPr>
            <a:r>
              <a:rPr lang="en-US" sz="2515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Merancang sistem RME berbasis blockchain</a:t>
            </a:r>
          </a:p>
          <a:p>
            <a:pPr algn="just" marL="543090" indent="-271545" lvl="1">
              <a:lnSpc>
                <a:spcPts val="3773"/>
              </a:lnSpc>
              <a:buAutoNum type="arabicPeriod" startAt="1"/>
            </a:pPr>
            <a:r>
              <a:rPr lang="en-US" sz="2515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Mengimplementasikan smart contract pada Ethereum Sepolia</a:t>
            </a:r>
          </a:p>
          <a:p>
            <a:pPr algn="just" marL="543090" indent="-271545" lvl="1">
              <a:lnSpc>
                <a:spcPts val="3773"/>
              </a:lnSpc>
              <a:buAutoNum type="arabicPeriod" startAt="1"/>
            </a:pPr>
            <a:r>
              <a:rPr lang="en-US" sz="2515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Meningkatkan keamanan &amp; keaslian data medis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9317039">
            <a:off x="-8075290" y="-4033182"/>
            <a:ext cx="18207979" cy="7530252"/>
          </a:xfrm>
          <a:custGeom>
            <a:avLst/>
            <a:gdLst/>
            <a:ahLst/>
            <a:cxnLst/>
            <a:rect r="r" b="b" t="t" l="l"/>
            <a:pathLst>
              <a:path h="7530252" w="18207979">
                <a:moveTo>
                  <a:pt x="0" y="0"/>
                </a:moveTo>
                <a:lnTo>
                  <a:pt x="18207980" y="0"/>
                </a:lnTo>
                <a:lnTo>
                  <a:pt x="18207980" y="7530251"/>
                </a:lnTo>
                <a:lnTo>
                  <a:pt x="0" y="75302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9250924">
            <a:off x="7968489" y="-3765126"/>
            <a:ext cx="18207979" cy="7530252"/>
          </a:xfrm>
          <a:custGeom>
            <a:avLst/>
            <a:gdLst/>
            <a:ahLst/>
            <a:cxnLst/>
            <a:rect r="r" b="b" t="t" l="l"/>
            <a:pathLst>
              <a:path h="7530252" w="18207979">
                <a:moveTo>
                  <a:pt x="18207979" y="0"/>
                </a:moveTo>
                <a:lnTo>
                  <a:pt x="0" y="0"/>
                </a:lnTo>
                <a:lnTo>
                  <a:pt x="0" y="7530252"/>
                </a:lnTo>
                <a:lnTo>
                  <a:pt x="18207979" y="7530252"/>
                </a:lnTo>
                <a:lnTo>
                  <a:pt x="1820797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400000">
            <a:off x="16466928" y="-609971"/>
            <a:ext cx="1211101" cy="2431042"/>
          </a:xfrm>
          <a:custGeom>
            <a:avLst/>
            <a:gdLst/>
            <a:ahLst/>
            <a:cxnLst/>
            <a:rect r="r" b="b" t="t" l="l"/>
            <a:pathLst>
              <a:path h="2431042" w="1211101">
                <a:moveTo>
                  <a:pt x="0" y="0"/>
                </a:moveTo>
                <a:lnTo>
                  <a:pt x="1211101" y="0"/>
                </a:lnTo>
                <a:lnTo>
                  <a:pt x="1211101" y="2431043"/>
                </a:lnTo>
                <a:lnTo>
                  <a:pt x="0" y="243104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144000" y="8913298"/>
            <a:ext cx="4995894" cy="4114800"/>
          </a:xfrm>
          <a:custGeom>
            <a:avLst/>
            <a:gdLst/>
            <a:ahLst/>
            <a:cxnLst/>
            <a:rect r="r" b="b" t="t" l="l"/>
            <a:pathLst>
              <a:path h="4114800" w="4995894">
                <a:moveTo>
                  <a:pt x="0" y="0"/>
                </a:moveTo>
                <a:lnTo>
                  <a:pt x="4995894" y="0"/>
                </a:lnTo>
                <a:lnTo>
                  <a:pt x="499589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9641910">
            <a:off x="4379319" y="8921459"/>
            <a:ext cx="4243373" cy="3757314"/>
          </a:xfrm>
          <a:custGeom>
            <a:avLst/>
            <a:gdLst/>
            <a:ahLst/>
            <a:cxnLst/>
            <a:rect r="r" b="b" t="t" l="l"/>
            <a:pathLst>
              <a:path h="3757314" w="4243373">
                <a:moveTo>
                  <a:pt x="0" y="0"/>
                </a:moveTo>
                <a:lnTo>
                  <a:pt x="4243373" y="0"/>
                </a:lnTo>
                <a:lnTo>
                  <a:pt x="4243373" y="3757314"/>
                </a:lnTo>
                <a:lnTo>
                  <a:pt x="0" y="375731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343991" y="1422695"/>
            <a:ext cx="1067227" cy="933338"/>
          </a:xfrm>
          <a:custGeom>
            <a:avLst/>
            <a:gdLst/>
            <a:ahLst/>
            <a:cxnLst/>
            <a:rect r="r" b="b" t="t" l="l"/>
            <a:pathLst>
              <a:path h="933338" w="1067227">
                <a:moveTo>
                  <a:pt x="0" y="0"/>
                </a:moveTo>
                <a:lnTo>
                  <a:pt x="1067227" y="0"/>
                </a:lnTo>
                <a:lnTo>
                  <a:pt x="1067227" y="933338"/>
                </a:lnTo>
                <a:lnTo>
                  <a:pt x="0" y="93333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0">
            <a:off x="13606281" y="1422695"/>
            <a:ext cx="1067227" cy="933338"/>
          </a:xfrm>
          <a:custGeom>
            <a:avLst/>
            <a:gdLst/>
            <a:ahLst/>
            <a:cxnLst/>
            <a:rect r="r" b="b" t="t" l="l"/>
            <a:pathLst>
              <a:path h="933338" w="1067227">
                <a:moveTo>
                  <a:pt x="1067226" y="0"/>
                </a:moveTo>
                <a:lnTo>
                  <a:pt x="0" y="0"/>
                </a:lnTo>
                <a:lnTo>
                  <a:pt x="0" y="933338"/>
                </a:lnTo>
                <a:lnTo>
                  <a:pt x="1067226" y="933338"/>
                </a:lnTo>
                <a:lnTo>
                  <a:pt x="1067226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2871951" y="6947834"/>
            <a:ext cx="1019274" cy="1019274"/>
          </a:xfrm>
          <a:custGeom>
            <a:avLst/>
            <a:gdLst/>
            <a:ahLst/>
            <a:cxnLst/>
            <a:rect r="r" b="b" t="t" l="l"/>
            <a:pathLst>
              <a:path h="1019274" w="1019274">
                <a:moveTo>
                  <a:pt x="0" y="0"/>
                </a:moveTo>
                <a:lnTo>
                  <a:pt x="1019274" y="0"/>
                </a:lnTo>
                <a:lnTo>
                  <a:pt x="1019274" y="1019274"/>
                </a:lnTo>
                <a:lnTo>
                  <a:pt x="0" y="101927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871951" y="3776636"/>
            <a:ext cx="996874" cy="996874"/>
          </a:xfrm>
          <a:custGeom>
            <a:avLst/>
            <a:gdLst/>
            <a:ahLst/>
            <a:cxnLst/>
            <a:rect r="r" b="b" t="t" l="l"/>
            <a:pathLst>
              <a:path h="996874" w="996874">
                <a:moveTo>
                  <a:pt x="0" y="0"/>
                </a:moveTo>
                <a:lnTo>
                  <a:pt x="996875" y="0"/>
                </a:lnTo>
                <a:lnTo>
                  <a:pt x="996875" y="996874"/>
                </a:lnTo>
                <a:lnTo>
                  <a:pt x="0" y="996874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338183" y="1007667"/>
            <a:ext cx="9611633" cy="1696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03"/>
              </a:lnSpc>
            </a:pPr>
            <a:r>
              <a:rPr lang="en-US" sz="5115" spc="-214">
                <a:solidFill>
                  <a:srgbClr val="FFFFFF"/>
                </a:solidFill>
                <a:latin typeface="Days"/>
                <a:ea typeface="Days"/>
                <a:cs typeface="Days"/>
                <a:sym typeface="Days"/>
              </a:rPr>
              <a:t>Dasar Teori Blockchain &amp; Smart Contract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237814" y="3177654"/>
            <a:ext cx="5252142" cy="493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17"/>
              </a:lnSpc>
            </a:pPr>
            <a:r>
              <a:rPr lang="en-US" sz="3020" b="true">
                <a:solidFill>
                  <a:srgbClr val="481D9D"/>
                </a:solidFill>
                <a:latin typeface="Touvlo Ultra-Bold"/>
                <a:ea typeface="Touvlo Ultra-Bold"/>
                <a:cs typeface="Touvlo Ultra-Bold"/>
                <a:sym typeface="Touvlo Ultra-Bold"/>
              </a:rPr>
              <a:t>Dasar Teori (Blockchain)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260214" y="6298036"/>
            <a:ext cx="4730559" cy="493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17"/>
              </a:lnSpc>
            </a:pPr>
            <a:r>
              <a:rPr lang="en-US" sz="3020" b="true">
                <a:solidFill>
                  <a:srgbClr val="481D9D"/>
                </a:solidFill>
                <a:latin typeface="Touvlo Ultra-Bold"/>
                <a:ea typeface="Touvlo Ultra-Bold"/>
                <a:cs typeface="Touvlo Ultra-Bold"/>
                <a:sym typeface="Touvlo Ultra-Bold"/>
              </a:rPr>
              <a:t>Smart Contract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237814" y="3793267"/>
            <a:ext cx="10812493" cy="1586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82243" indent="-341122" lvl="1">
              <a:lnSpc>
                <a:spcPts val="4202"/>
              </a:lnSpc>
              <a:buFont typeface="Arial"/>
              <a:buChar char="•"/>
            </a:pPr>
            <a:r>
              <a:rPr lang="en-US" sz="3159">
                <a:solidFill>
                  <a:srgbClr val="322230"/>
                </a:solidFill>
                <a:latin typeface="Touvlo"/>
                <a:ea typeface="Touvlo"/>
                <a:cs typeface="Touvlo"/>
                <a:sym typeface="Touvlo"/>
              </a:rPr>
              <a:t>Sistem distributed ledger (terdesentralisasi)</a:t>
            </a:r>
          </a:p>
          <a:p>
            <a:pPr algn="l" marL="682243" indent="-341122" lvl="1">
              <a:lnSpc>
                <a:spcPts val="4202"/>
              </a:lnSpc>
              <a:buFont typeface="Arial"/>
              <a:buChar char="•"/>
            </a:pPr>
            <a:r>
              <a:rPr lang="en-US" sz="3159">
                <a:solidFill>
                  <a:srgbClr val="322230"/>
                </a:solidFill>
                <a:latin typeface="Touvlo"/>
                <a:ea typeface="Touvlo"/>
                <a:cs typeface="Touvlo"/>
                <a:sym typeface="Touvlo"/>
              </a:rPr>
              <a:t>Data tersimpan dalam blok dan saling terhubung</a:t>
            </a:r>
          </a:p>
          <a:p>
            <a:pPr algn="l" marL="682243" indent="-341122" lvl="1">
              <a:lnSpc>
                <a:spcPts val="4202"/>
              </a:lnSpc>
              <a:buFont typeface="Arial"/>
              <a:buChar char="•"/>
            </a:pPr>
            <a:r>
              <a:rPr lang="en-US" sz="3159">
                <a:solidFill>
                  <a:srgbClr val="322230"/>
                </a:solidFill>
                <a:latin typeface="Touvlo"/>
                <a:ea typeface="Touvlo"/>
                <a:cs typeface="Touvlo"/>
                <a:sym typeface="Touvlo"/>
              </a:rPr>
              <a:t>Bersifat immutable (tidak dapat diubah)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260214" y="7015146"/>
            <a:ext cx="9346067" cy="1586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82243" indent="-341122" lvl="1">
              <a:lnSpc>
                <a:spcPts val="4202"/>
              </a:lnSpc>
              <a:buFont typeface="Arial"/>
              <a:buChar char="•"/>
            </a:pPr>
            <a:r>
              <a:rPr lang="en-US" sz="3159">
                <a:solidFill>
                  <a:srgbClr val="322230"/>
                </a:solidFill>
                <a:latin typeface="Touvlo"/>
                <a:ea typeface="Touvlo"/>
                <a:cs typeface="Touvlo"/>
                <a:sym typeface="Touvlo"/>
              </a:rPr>
              <a:t>Program otomatis di blockchain</a:t>
            </a:r>
          </a:p>
          <a:p>
            <a:pPr algn="l" marL="682243" indent="-341122" lvl="1">
              <a:lnSpc>
                <a:spcPts val="4202"/>
              </a:lnSpc>
              <a:buFont typeface="Arial"/>
              <a:buChar char="•"/>
            </a:pPr>
            <a:r>
              <a:rPr lang="en-US" sz="3159">
                <a:solidFill>
                  <a:srgbClr val="322230"/>
                </a:solidFill>
                <a:latin typeface="Touvlo"/>
                <a:ea typeface="Touvlo"/>
                <a:cs typeface="Touvlo"/>
                <a:sym typeface="Touvlo"/>
              </a:rPr>
              <a:t>Mengatur logika sistem &amp; akses data</a:t>
            </a:r>
          </a:p>
          <a:p>
            <a:pPr algn="l" marL="682243" indent="-341122" lvl="1">
              <a:lnSpc>
                <a:spcPts val="4202"/>
              </a:lnSpc>
              <a:buFont typeface="Arial"/>
              <a:buChar char="•"/>
            </a:pPr>
            <a:r>
              <a:rPr lang="en-US" sz="3159">
                <a:solidFill>
                  <a:srgbClr val="322230"/>
                </a:solidFill>
                <a:latin typeface="Touvlo"/>
                <a:ea typeface="Touvlo"/>
                <a:cs typeface="Touvlo"/>
                <a:sym typeface="Touvlo"/>
              </a:rPr>
              <a:t>Menghilangkan kebutuhan pihak ketiga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20893" y="9498276"/>
            <a:ext cx="5542074" cy="411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2"/>
              </a:lnSpc>
            </a:pPr>
            <a:r>
              <a:rPr lang="en-US" sz="2520">
                <a:solidFill>
                  <a:srgbClr val="322230"/>
                </a:solidFill>
                <a:latin typeface="Touvlo"/>
                <a:ea typeface="Touvlo"/>
                <a:cs typeface="Touvlo"/>
                <a:sym typeface="Touvlo"/>
              </a:rPr>
              <a:t>FAKULTAS TELEMATIKA ENERGI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139854" y="9498276"/>
            <a:ext cx="5542074" cy="4060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2"/>
              </a:lnSpc>
            </a:pPr>
            <a:r>
              <a:rPr lang="en-US" sz="2520">
                <a:solidFill>
                  <a:srgbClr val="322230"/>
                </a:solidFill>
                <a:latin typeface="Touvlo"/>
                <a:ea typeface="Touvlo"/>
                <a:cs typeface="Touvlo"/>
                <a:sym typeface="Touvlo"/>
              </a:rPr>
              <a:t>PRODI SISTEM INFORMASI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523583" y="298229"/>
            <a:ext cx="1010234" cy="1131809"/>
          </a:xfrm>
          <a:custGeom>
            <a:avLst/>
            <a:gdLst/>
            <a:ahLst/>
            <a:cxnLst/>
            <a:rect r="r" b="b" t="t" l="l"/>
            <a:pathLst>
              <a:path h="1131809" w="1010234">
                <a:moveTo>
                  <a:pt x="0" y="0"/>
                </a:moveTo>
                <a:lnTo>
                  <a:pt x="1010234" y="0"/>
                </a:lnTo>
                <a:lnTo>
                  <a:pt x="1010234" y="1131810"/>
                </a:lnTo>
                <a:lnTo>
                  <a:pt x="0" y="113181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AutoShape 19" id="19"/>
          <p:cNvSpPr/>
          <p:nvPr/>
        </p:nvSpPr>
        <p:spPr>
          <a:xfrm flipH="true">
            <a:off x="1005296" y="5957437"/>
            <a:ext cx="14851661" cy="0"/>
          </a:xfrm>
          <a:prstGeom prst="line">
            <a:avLst/>
          </a:prstGeom>
          <a:ln cap="flat" w="133350">
            <a:solidFill>
              <a:srgbClr val="481D9D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9317039">
            <a:off x="-8075290" y="-4033182"/>
            <a:ext cx="18207979" cy="7530252"/>
          </a:xfrm>
          <a:custGeom>
            <a:avLst/>
            <a:gdLst/>
            <a:ahLst/>
            <a:cxnLst/>
            <a:rect r="r" b="b" t="t" l="l"/>
            <a:pathLst>
              <a:path h="7530252" w="18207979">
                <a:moveTo>
                  <a:pt x="0" y="0"/>
                </a:moveTo>
                <a:lnTo>
                  <a:pt x="18207980" y="0"/>
                </a:lnTo>
                <a:lnTo>
                  <a:pt x="18207980" y="7530251"/>
                </a:lnTo>
                <a:lnTo>
                  <a:pt x="0" y="75302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9250924">
            <a:off x="7968489" y="-3765126"/>
            <a:ext cx="18207979" cy="7530252"/>
          </a:xfrm>
          <a:custGeom>
            <a:avLst/>
            <a:gdLst/>
            <a:ahLst/>
            <a:cxnLst/>
            <a:rect r="r" b="b" t="t" l="l"/>
            <a:pathLst>
              <a:path h="7530252" w="18207979">
                <a:moveTo>
                  <a:pt x="18207979" y="0"/>
                </a:moveTo>
                <a:lnTo>
                  <a:pt x="0" y="0"/>
                </a:lnTo>
                <a:lnTo>
                  <a:pt x="0" y="7530252"/>
                </a:lnTo>
                <a:lnTo>
                  <a:pt x="18207979" y="7530252"/>
                </a:lnTo>
                <a:lnTo>
                  <a:pt x="1820797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400000">
            <a:off x="16466928" y="-609971"/>
            <a:ext cx="1211101" cy="2431042"/>
          </a:xfrm>
          <a:custGeom>
            <a:avLst/>
            <a:gdLst/>
            <a:ahLst/>
            <a:cxnLst/>
            <a:rect r="r" b="b" t="t" l="l"/>
            <a:pathLst>
              <a:path h="2431042" w="1211101">
                <a:moveTo>
                  <a:pt x="0" y="0"/>
                </a:moveTo>
                <a:lnTo>
                  <a:pt x="1211101" y="0"/>
                </a:lnTo>
                <a:lnTo>
                  <a:pt x="1211101" y="2431043"/>
                </a:lnTo>
                <a:lnTo>
                  <a:pt x="0" y="243104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144000" y="9526851"/>
            <a:ext cx="4250962" cy="3501247"/>
          </a:xfrm>
          <a:custGeom>
            <a:avLst/>
            <a:gdLst/>
            <a:ahLst/>
            <a:cxnLst/>
            <a:rect r="r" b="b" t="t" l="l"/>
            <a:pathLst>
              <a:path h="3501247" w="4250962">
                <a:moveTo>
                  <a:pt x="0" y="0"/>
                </a:moveTo>
                <a:lnTo>
                  <a:pt x="4250962" y="0"/>
                </a:lnTo>
                <a:lnTo>
                  <a:pt x="4250962" y="3501247"/>
                </a:lnTo>
                <a:lnTo>
                  <a:pt x="0" y="350124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9641910">
            <a:off x="4379319" y="8921459"/>
            <a:ext cx="4243373" cy="3757314"/>
          </a:xfrm>
          <a:custGeom>
            <a:avLst/>
            <a:gdLst/>
            <a:ahLst/>
            <a:cxnLst/>
            <a:rect r="r" b="b" t="t" l="l"/>
            <a:pathLst>
              <a:path h="3757314" w="4243373">
                <a:moveTo>
                  <a:pt x="0" y="0"/>
                </a:moveTo>
                <a:lnTo>
                  <a:pt x="4243373" y="0"/>
                </a:lnTo>
                <a:lnTo>
                  <a:pt x="4243373" y="3757314"/>
                </a:lnTo>
                <a:lnTo>
                  <a:pt x="0" y="375731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2723904" y="3659101"/>
            <a:ext cx="1009440" cy="882801"/>
          </a:xfrm>
          <a:custGeom>
            <a:avLst/>
            <a:gdLst/>
            <a:ahLst/>
            <a:cxnLst/>
            <a:rect r="r" b="b" t="t" l="l"/>
            <a:pathLst>
              <a:path h="882801" w="1009440">
                <a:moveTo>
                  <a:pt x="1009440" y="0"/>
                </a:moveTo>
                <a:lnTo>
                  <a:pt x="0" y="0"/>
                </a:lnTo>
                <a:lnTo>
                  <a:pt x="0" y="882801"/>
                </a:lnTo>
                <a:lnTo>
                  <a:pt x="1009440" y="882801"/>
                </a:lnTo>
                <a:lnTo>
                  <a:pt x="100944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28700" y="3267612"/>
            <a:ext cx="5710901" cy="5018454"/>
          </a:xfrm>
          <a:custGeom>
            <a:avLst/>
            <a:gdLst/>
            <a:ahLst/>
            <a:cxnLst/>
            <a:rect r="r" b="b" t="t" l="l"/>
            <a:pathLst>
              <a:path h="5018454" w="5710901">
                <a:moveTo>
                  <a:pt x="0" y="0"/>
                </a:moveTo>
                <a:lnTo>
                  <a:pt x="5710901" y="0"/>
                </a:lnTo>
                <a:lnTo>
                  <a:pt x="5710901" y="5018454"/>
                </a:lnTo>
                <a:lnTo>
                  <a:pt x="0" y="501845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0">
            <a:off x="15595340" y="1630265"/>
            <a:ext cx="624715" cy="546342"/>
          </a:xfrm>
          <a:custGeom>
            <a:avLst/>
            <a:gdLst/>
            <a:ahLst/>
            <a:cxnLst/>
            <a:rect r="r" b="b" t="t" l="l"/>
            <a:pathLst>
              <a:path h="546342" w="624715">
                <a:moveTo>
                  <a:pt x="624715" y="0"/>
                </a:moveTo>
                <a:lnTo>
                  <a:pt x="0" y="0"/>
                </a:lnTo>
                <a:lnTo>
                  <a:pt x="0" y="546342"/>
                </a:lnTo>
                <a:lnTo>
                  <a:pt x="624715" y="546342"/>
                </a:lnTo>
                <a:lnTo>
                  <a:pt x="624715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411546" y="1630265"/>
            <a:ext cx="624715" cy="546342"/>
          </a:xfrm>
          <a:custGeom>
            <a:avLst/>
            <a:gdLst/>
            <a:ahLst/>
            <a:cxnLst/>
            <a:rect r="r" b="b" t="t" l="l"/>
            <a:pathLst>
              <a:path h="546342" w="624715">
                <a:moveTo>
                  <a:pt x="0" y="0"/>
                </a:moveTo>
                <a:lnTo>
                  <a:pt x="624715" y="0"/>
                </a:lnTo>
                <a:lnTo>
                  <a:pt x="624715" y="546342"/>
                </a:lnTo>
                <a:lnTo>
                  <a:pt x="0" y="54634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7401417" y="3173240"/>
            <a:ext cx="188744" cy="188744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06C25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2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3179136" y="1458953"/>
            <a:ext cx="12276914" cy="754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05"/>
              </a:lnSpc>
            </a:pPr>
            <a:r>
              <a:rPr lang="en-US" sz="4515" spc="-189">
                <a:solidFill>
                  <a:srgbClr val="FFFFFF"/>
                </a:solidFill>
                <a:latin typeface="Days"/>
                <a:ea typeface="Days"/>
                <a:cs typeface="Days"/>
                <a:sym typeface="Days"/>
              </a:rPr>
              <a:t>Kriptografi dan Mekanisme Konsensus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847830" y="3050293"/>
            <a:ext cx="4730559" cy="4060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2"/>
              </a:lnSpc>
            </a:pPr>
            <a:r>
              <a:rPr lang="en-US" sz="2520" b="true">
                <a:solidFill>
                  <a:srgbClr val="481D9D"/>
                </a:solidFill>
                <a:latin typeface="Touvlo Ultra-Bold"/>
                <a:ea typeface="Touvlo Ultra-Bold"/>
                <a:cs typeface="Touvlo Ultra-Bold"/>
                <a:sym typeface="Touvlo Ultra-Bold"/>
              </a:rPr>
              <a:t>Kriptografi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590161" y="3742106"/>
            <a:ext cx="8751616" cy="2962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4157" indent="-272078" lvl="1">
              <a:lnSpc>
                <a:spcPts val="3352"/>
              </a:lnSpc>
              <a:buFont typeface="Arial"/>
              <a:buChar char="•"/>
            </a:pPr>
            <a:r>
              <a:rPr lang="en-US" sz="2520">
                <a:solidFill>
                  <a:srgbClr val="322230"/>
                </a:solidFill>
                <a:latin typeface="Touvlo"/>
                <a:ea typeface="Touvlo"/>
                <a:cs typeface="Touvlo"/>
                <a:sym typeface="Touvlo"/>
              </a:rPr>
              <a:t>Fungsi Hash: Transformasi data menjadi nilai tetap yang unik untuk menjaga integritas rekam medis.</a:t>
            </a:r>
          </a:p>
          <a:p>
            <a:pPr algn="l">
              <a:lnSpc>
                <a:spcPts val="3352"/>
              </a:lnSpc>
            </a:pPr>
            <a:r>
              <a:rPr lang="en-US" sz="2520">
                <a:solidFill>
                  <a:srgbClr val="322230"/>
                </a:solidFill>
                <a:latin typeface="Touvlo"/>
                <a:ea typeface="Touvlo"/>
                <a:cs typeface="Touvlo"/>
                <a:sym typeface="Touvlo"/>
              </a:rPr>
              <a:t> </a:t>
            </a:r>
          </a:p>
          <a:p>
            <a:pPr algn="l" marL="544157" indent="-272078" lvl="1">
              <a:lnSpc>
                <a:spcPts val="3352"/>
              </a:lnSpc>
              <a:buFont typeface="Arial"/>
              <a:buChar char="•"/>
            </a:pPr>
            <a:r>
              <a:rPr lang="en-US" sz="2520">
                <a:solidFill>
                  <a:srgbClr val="322230"/>
                </a:solidFill>
                <a:latin typeface="Touvlo"/>
                <a:ea typeface="Touvlo"/>
                <a:cs typeface="Touvlo"/>
                <a:sym typeface="Touvlo"/>
              </a:rPr>
              <a:t>Digital Signature: Tanda tangan digital dengan kunci publik dan privat untuk memastikan otorisasi data. </a:t>
            </a:r>
          </a:p>
          <a:p>
            <a:pPr algn="l">
              <a:lnSpc>
                <a:spcPts val="3352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7847830" y="6685225"/>
            <a:ext cx="6292065" cy="4060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2"/>
              </a:lnSpc>
            </a:pPr>
            <a:r>
              <a:rPr lang="en-US" sz="2520" b="true">
                <a:solidFill>
                  <a:srgbClr val="481D9D"/>
                </a:solidFill>
                <a:latin typeface="Touvlo Ultra-Bold"/>
                <a:ea typeface="Touvlo Ultra-Bold"/>
                <a:cs typeface="Touvlo Ultra-Bold"/>
                <a:sym typeface="Touvlo Ultra-Bold"/>
              </a:rPr>
              <a:t>Mekanisme Konsensus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590161" y="7167488"/>
            <a:ext cx="8726090" cy="2537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4157" indent="-272078" lvl="1">
              <a:lnSpc>
                <a:spcPts val="3352"/>
              </a:lnSpc>
              <a:buFont typeface="Arial"/>
              <a:buChar char="•"/>
            </a:pPr>
            <a:r>
              <a:rPr lang="en-US" sz="2520">
                <a:solidFill>
                  <a:srgbClr val="322230"/>
                </a:solidFill>
                <a:latin typeface="Touvlo"/>
                <a:ea typeface="Touvlo"/>
                <a:cs typeface="Touvlo"/>
                <a:sym typeface="Touvlo"/>
              </a:rPr>
              <a:t>Ethereum telah beralih ke Proof of Stake (PoS) untuk efisiensi jaringan yang lebih baik. </a:t>
            </a:r>
          </a:p>
          <a:p>
            <a:pPr algn="l">
              <a:lnSpc>
                <a:spcPts val="3352"/>
              </a:lnSpc>
            </a:pPr>
          </a:p>
          <a:p>
            <a:pPr algn="l" marL="544157" indent="-272078" lvl="1">
              <a:lnSpc>
                <a:spcPts val="3352"/>
              </a:lnSpc>
              <a:buFont typeface="Arial"/>
              <a:buChar char="•"/>
            </a:pPr>
            <a:r>
              <a:rPr lang="en-US" sz="2520">
                <a:solidFill>
                  <a:srgbClr val="322230"/>
                </a:solidFill>
                <a:latin typeface="Touvlo"/>
                <a:ea typeface="Touvlo"/>
                <a:cs typeface="Touvlo"/>
                <a:sym typeface="Touvlo"/>
              </a:rPr>
              <a:t>Proyek ini menggunakan testnet Sepolia untuk simulasi konsensus secara efisien. </a:t>
            </a:r>
          </a:p>
          <a:p>
            <a:pPr algn="l">
              <a:lnSpc>
                <a:spcPts val="3352"/>
              </a:lnSpc>
            </a:pPr>
          </a:p>
        </p:txBody>
      </p:sp>
      <p:grpSp>
        <p:nvGrpSpPr>
          <p:cNvPr name="Group 19" id="19"/>
          <p:cNvGrpSpPr/>
          <p:nvPr/>
        </p:nvGrpSpPr>
        <p:grpSpPr>
          <a:xfrm rot="0">
            <a:off x="7401417" y="6808172"/>
            <a:ext cx="188744" cy="188744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06C25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2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420893" y="9498276"/>
            <a:ext cx="5542074" cy="411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2"/>
              </a:lnSpc>
            </a:pPr>
            <a:r>
              <a:rPr lang="en-US" sz="2520">
                <a:solidFill>
                  <a:srgbClr val="322230"/>
                </a:solidFill>
                <a:latin typeface="Touvlo"/>
                <a:ea typeface="Touvlo"/>
                <a:cs typeface="Touvlo"/>
                <a:sym typeface="Touvlo"/>
              </a:rPr>
              <a:t>FAKULTAS TELEMATIKA ENERGI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139854" y="9498276"/>
            <a:ext cx="5542074" cy="4060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2"/>
              </a:lnSpc>
            </a:pPr>
            <a:r>
              <a:rPr lang="en-US" sz="2520">
                <a:solidFill>
                  <a:srgbClr val="322230"/>
                </a:solidFill>
                <a:latin typeface="Touvlo"/>
                <a:ea typeface="Touvlo"/>
                <a:cs typeface="Touvlo"/>
                <a:sym typeface="Touvlo"/>
              </a:rPr>
              <a:t>PRODI SISTEM INFORMASI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523583" y="298229"/>
            <a:ext cx="1010234" cy="1131809"/>
          </a:xfrm>
          <a:custGeom>
            <a:avLst/>
            <a:gdLst/>
            <a:ahLst/>
            <a:cxnLst/>
            <a:rect r="r" b="b" t="t" l="l"/>
            <a:pathLst>
              <a:path h="1131809" w="1010234">
                <a:moveTo>
                  <a:pt x="0" y="0"/>
                </a:moveTo>
                <a:lnTo>
                  <a:pt x="1010234" y="0"/>
                </a:lnTo>
                <a:lnTo>
                  <a:pt x="1010234" y="1131810"/>
                </a:lnTo>
                <a:lnTo>
                  <a:pt x="0" y="113181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9317039">
            <a:off x="-8075290" y="-4033182"/>
            <a:ext cx="18207979" cy="7530252"/>
          </a:xfrm>
          <a:custGeom>
            <a:avLst/>
            <a:gdLst/>
            <a:ahLst/>
            <a:cxnLst/>
            <a:rect r="r" b="b" t="t" l="l"/>
            <a:pathLst>
              <a:path h="7530252" w="18207979">
                <a:moveTo>
                  <a:pt x="0" y="0"/>
                </a:moveTo>
                <a:lnTo>
                  <a:pt x="18207980" y="0"/>
                </a:lnTo>
                <a:lnTo>
                  <a:pt x="18207980" y="7530251"/>
                </a:lnTo>
                <a:lnTo>
                  <a:pt x="0" y="75302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9250924">
            <a:off x="7968489" y="-3765126"/>
            <a:ext cx="18207979" cy="7530252"/>
          </a:xfrm>
          <a:custGeom>
            <a:avLst/>
            <a:gdLst/>
            <a:ahLst/>
            <a:cxnLst/>
            <a:rect r="r" b="b" t="t" l="l"/>
            <a:pathLst>
              <a:path h="7530252" w="18207979">
                <a:moveTo>
                  <a:pt x="18207979" y="0"/>
                </a:moveTo>
                <a:lnTo>
                  <a:pt x="0" y="0"/>
                </a:lnTo>
                <a:lnTo>
                  <a:pt x="0" y="7530252"/>
                </a:lnTo>
                <a:lnTo>
                  <a:pt x="18207979" y="7530252"/>
                </a:lnTo>
                <a:lnTo>
                  <a:pt x="1820797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400000">
            <a:off x="16466928" y="-609971"/>
            <a:ext cx="1211101" cy="2431042"/>
          </a:xfrm>
          <a:custGeom>
            <a:avLst/>
            <a:gdLst/>
            <a:ahLst/>
            <a:cxnLst/>
            <a:rect r="r" b="b" t="t" l="l"/>
            <a:pathLst>
              <a:path h="2431042" w="1211101">
                <a:moveTo>
                  <a:pt x="0" y="0"/>
                </a:moveTo>
                <a:lnTo>
                  <a:pt x="1211101" y="0"/>
                </a:lnTo>
                <a:lnTo>
                  <a:pt x="1211101" y="2431043"/>
                </a:lnTo>
                <a:lnTo>
                  <a:pt x="0" y="243104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720609" y="368115"/>
            <a:ext cx="965563" cy="844429"/>
          </a:xfrm>
          <a:custGeom>
            <a:avLst/>
            <a:gdLst/>
            <a:ahLst/>
            <a:cxnLst/>
            <a:rect r="r" b="b" t="t" l="l"/>
            <a:pathLst>
              <a:path h="844429" w="965563">
                <a:moveTo>
                  <a:pt x="0" y="0"/>
                </a:moveTo>
                <a:lnTo>
                  <a:pt x="965563" y="0"/>
                </a:lnTo>
                <a:lnTo>
                  <a:pt x="965563" y="844429"/>
                </a:lnTo>
                <a:lnTo>
                  <a:pt x="0" y="84442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0872964" y="298229"/>
            <a:ext cx="965563" cy="844429"/>
          </a:xfrm>
          <a:custGeom>
            <a:avLst/>
            <a:gdLst/>
            <a:ahLst/>
            <a:cxnLst/>
            <a:rect r="r" b="b" t="t" l="l"/>
            <a:pathLst>
              <a:path h="844429" w="965563">
                <a:moveTo>
                  <a:pt x="965563" y="0"/>
                </a:moveTo>
                <a:lnTo>
                  <a:pt x="0" y="0"/>
                </a:lnTo>
                <a:lnTo>
                  <a:pt x="0" y="844429"/>
                </a:lnTo>
                <a:lnTo>
                  <a:pt x="965563" y="844429"/>
                </a:lnTo>
                <a:lnTo>
                  <a:pt x="965563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8653818" y="1525098"/>
            <a:ext cx="7203140" cy="2555622"/>
            <a:chOff x="0" y="0"/>
            <a:chExt cx="2065031" cy="73265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65031" cy="732658"/>
            </a:xfrm>
            <a:custGeom>
              <a:avLst/>
              <a:gdLst/>
              <a:ahLst/>
              <a:cxnLst/>
              <a:rect r="r" b="b" t="t" l="l"/>
              <a:pathLst>
                <a:path h="732658" w="2065031">
                  <a:moveTo>
                    <a:pt x="37618" y="0"/>
                  </a:moveTo>
                  <a:lnTo>
                    <a:pt x="2027413" y="0"/>
                  </a:lnTo>
                  <a:cubicBezTo>
                    <a:pt x="2037390" y="0"/>
                    <a:pt x="2046958" y="3963"/>
                    <a:pt x="2054013" y="11018"/>
                  </a:cubicBezTo>
                  <a:cubicBezTo>
                    <a:pt x="2061067" y="18073"/>
                    <a:pt x="2065031" y="27641"/>
                    <a:pt x="2065031" y="37618"/>
                  </a:cubicBezTo>
                  <a:lnTo>
                    <a:pt x="2065031" y="695040"/>
                  </a:lnTo>
                  <a:cubicBezTo>
                    <a:pt x="2065031" y="715816"/>
                    <a:pt x="2048189" y="732658"/>
                    <a:pt x="2027413" y="732658"/>
                  </a:cubicBezTo>
                  <a:lnTo>
                    <a:pt x="37618" y="732658"/>
                  </a:lnTo>
                  <a:cubicBezTo>
                    <a:pt x="16842" y="732658"/>
                    <a:pt x="0" y="715816"/>
                    <a:pt x="0" y="695040"/>
                  </a:cubicBezTo>
                  <a:lnTo>
                    <a:pt x="0" y="37618"/>
                  </a:lnTo>
                  <a:cubicBezTo>
                    <a:pt x="0" y="16842"/>
                    <a:pt x="16842" y="0"/>
                    <a:pt x="37618" y="0"/>
                  </a:cubicBezTo>
                  <a:close/>
                </a:path>
              </a:pathLst>
            </a:custGeom>
            <a:solidFill>
              <a:srgbClr val="481D9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2065031" cy="7612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2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685502" y="4233120"/>
            <a:ext cx="7244710" cy="2591256"/>
            <a:chOff x="0" y="0"/>
            <a:chExt cx="2076948" cy="74287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076948" cy="742874"/>
            </a:xfrm>
            <a:custGeom>
              <a:avLst/>
              <a:gdLst/>
              <a:ahLst/>
              <a:cxnLst/>
              <a:rect r="r" b="b" t="t" l="l"/>
              <a:pathLst>
                <a:path h="742874" w="2076948">
                  <a:moveTo>
                    <a:pt x="37402" y="0"/>
                  </a:moveTo>
                  <a:lnTo>
                    <a:pt x="2039546" y="0"/>
                  </a:lnTo>
                  <a:cubicBezTo>
                    <a:pt x="2049466" y="0"/>
                    <a:pt x="2058979" y="3941"/>
                    <a:pt x="2065993" y="10955"/>
                  </a:cubicBezTo>
                  <a:cubicBezTo>
                    <a:pt x="2073008" y="17969"/>
                    <a:pt x="2076948" y="27482"/>
                    <a:pt x="2076948" y="37402"/>
                  </a:cubicBezTo>
                  <a:lnTo>
                    <a:pt x="2076948" y="705472"/>
                  </a:lnTo>
                  <a:cubicBezTo>
                    <a:pt x="2076948" y="726128"/>
                    <a:pt x="2060203" y="742874"/>
                    <a:pt x="2039546" y="742874"/>
                  </a:cubicBezTo>
                  <a:lnTo>
                    <a:pt x="37402" y="742874"/>
                  </a:lnTo>
                  <a:cubicBezTo>
                    <a:pt x="16745" y="742874"/>
                    <a:pt x="0" y="726128"/>
                    <a:pt x="0" y="705472"/>
                  </a:cubicBezTo>
                  <a:lnTo>
                    <a:pt x="0" y="37402"/>
                  </a:lnTo>
                  <a:cubicBezTo>
                    <a:pt x="0" y="16745"/>
                    <a:pt x="16745" y="0"/>
                    <a:pt x="37402" y="0"/>
                  </a:cubicBezTo>
                  <a:close/>
                </a:path>
              </a:pathLst>
            </a:custGeom>
            <a:solidFill>
              <a:srgbClr val="481D9D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2076948" cy="7714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2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43378" y="1909286"/>
            <a:ext cx="6930788" cy="3251064"/>
            <a:chOff x="0" y="0"/>
            <a:chExt cx="1986952" cy="93203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986952" cy="932031"/>
            </a:xfrm>
            <a:custGeom>
              <a:avLst/>
              <a:gdLst/>
              <a:ahLst/>
              <a:cxnLst/>
              <a:rect r="r" b="b" t="t" l="l"/>
              <a:pathLst>
                <a:path h="932031" w="1986952">
                  <a:moveTo>
                    <a:pt x="39096" y="0"/>
                  </a:moveTo>
                  <a:lnTo>
                    <a:pt x="1947855" y="0"/>
                  </a:lnTo>
                  <a:cubicBezTo>
                    <a:pt x="1958224" y="0"/>
                    <a:pt x="1968169" y="4119"/>
                    <a:pt x="1975501" y="11451"/>
                  </a:cubicBezTo>
                  <a:cubicBezTo>
                    <a:pt x="1982832" y="18783"/>
                    <a:pt x="1986952" y="28727"/>
                    <a:pt x="1986952" y="39096"/>
                  </a:cubicBezTo>
                  <a:lnTo>
                    <a:pt x="1986952" y="892935"/>
                  </a:lnTo>
                  <a:cubicBezTo>
                    <a:pt x="1986952" y="903303"/>
                    <a:pt x="1982832" y="913248"/>
                    <a:pt x="1975501" y="920580"/>
                  </a:cubicBezTo>
                  <a:cubicBezTo>
                    <a:pt x="1968169" y="927912"/>
                    <a:pt x="1958224" y="932031"/>
                    <a:pt x="1947855" y="932031"/>
                  </a:cubicBezTo>
                  <a:lnTo>
                    <a:pt x="39096" y="932031"/>
                  </a:lnTo>
                  <a:cubicBezTo>
                    <a:pt x="28727" y="932031"/>
                    <a:pt x="18783" y="927912"/>
                    <a:pt x="11451" y="920580"/>
                  </a:cubicBezTo>
                  <a:cubicBezTo>
                    <a:pt x="4119" y="913248"/>
                    <a:pt x="0" y="903303"/>
                    <a:pt x="0" y="892935"/>
                  </a:cubicBezTo>
                  <a:lnTo>
                    <a:pt x="0" y="39096"/>
                  </a:lnTo>
                  <a:cubicBezTo>
                    <a:pt x="0" y="28727"/>
                    <a:pt x="4119" y="18783"/>
                    <a:pt x="11451" y="11451"/>
                  </a:cubicBezTo>
                  <a:cubicBezTo>
                    <a:pt x="18783" y="4119"/>
                    <a:pt x="28727" y="0"/>
                    <a:pt x="39096" y="0"/>
                  </a:cubicBezTo>
                  <a:close/>
                </a:path>
              </a:pathLst>
            </a:custGeom>
            <a:solidFill>
              <a:srgbClr val="481D9D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1986952" cy="9606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2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34980" y="5460670"/>
            <a:ext cx="6839185" cy="2265505"/>
            <a:chOff x="0" y="0"/>
            <a:chExt cx="1960691" cy="64948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960691" cy="649486"/>
            </a:xfrm>
            <a:custGeom>
              <a:avLst/>
              <a:gdLst/>
              <a:ahLst/>
              <a:cxnLst/>
              <a:rect r="r" b="b" t="t" l="l"/>
              <a:pathLst>
                <a:path h="649486" w="1960691">
                  <a:moveTo>
                    <a:pt x="39620" y="0"/>
                  </a:moveTo>
                  <a:lnTo>
                    <a:pt x="1921071" y="0"/>
                  </a:lnTo>
                  <a:cubicBezTo>
                    <a:pt x="1931579" y="0"/>
                    <a:pt x="1941656" y="4174"/>
                    <a:pt x="1949086" y="11604"/>
                  </a:cubicBezTo>
                  <a:cubicBezTo>
                    <a:pt x="1956516" y="19035"/>
                    <a:pt x="1960691" y="29112"/>
                    <a:pt x="1960691" y="39620"/>
                  </a:cubicBezTo>
                  <a:lnTo>
                    <a:pt x="1960691" y="609866"/>
                  </a:lnTo>
                  <a:cubicBezTo>
                    <a:pt x="1960691" y="631748"/>
                    <a:pt x="1942952" y="649486"/>
                    <a:pt x="1921071" y="649486"/>
                  </a:cubicBezTo>
                  <a:lnTo>
                    <a:pt x="39620" y="649486"/>
                  </a:lnTo>
                  <a:cubicBezTo>
                    <a:pt x="29112" y="649486"/>
                    <a:pt x="19035" y="645312"/>
                    <a:pt x="11604" y="637882"/>
                  </a:cubicBezTo>
                  <a:cubicBezTo>
                    <a:pt x="4174" y="630451"/>
                    <a:pt x="0" y="620374"/>
                    <a:pt x="0" y="609866"/>
                  </a:cubicBezTo>
                  <a:lnTo>
                    <a:pt x="0" y="39620"/>
                  </a:lnTo>
                  <a:cubicBezTo>
                    <a:pt x="0" y="29112"/>
                    <a:pt x="4174" y="19035"/>
                    <a:pt x="11604" y="11604"/>
                  </a:cubicBezTo>
                  <a:cubicBezTo>
                    <a:pt x="19035" y="4174"/>
                    <a:pt x="29112" y="0"/>
                    <a:pt x="39620" y="0"/>
                  </a:cubicBezTo>
                  <a:close/>
                </a:path>
              </a:pathLst>
            </a:custGeom>
            <a:solidFill>
              <a:srgbClr val="481D9D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28575"/>
              <a:ext cx="1960691" cy="6780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2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319795" y="2069322"/>
            <a:ext cx="758699" cy="758699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66C4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2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8274468" y="1658238"/>
            <a:ext cx="758699" cy="758699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66C4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2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464029" y="5460670"/>
            <a:ext cx="758699" cy="758699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66C4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2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8348817" y="4401652"/>
            <a:ext cx="758699" cy="758699"/>
            <a:chOff x="0" y="0"/>
            <a:chExt cx="812800" cy="812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66C4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2"/>
                </a:lnSpc>
              </a:pPr>
            </a:p>
          </p:txBody>
        </p:sp>
      </p:grpSp>
      <p:sp>
        <p:nvSpPr>
          <p:cNvPr name="Freeform 31" id="31"/>
          <p:cNvSpPr/>
          <p:nvPr/>
        </p:nvSpPr>
        <p:spPr>
          <a:xfrm flipH="false" flipV="false" rot="0">
            <a:off x="523583" y="298229"/>
            <a:ext cx="1010234" cy="1131809"/>
          </a:xfrm>
          <a:custGeom>
            <a:avLst/>
            <a:gdLst/>
            <a:ahLst/>
            <a:cxnLst/>
            <a:rect r="r" b="b" t="t" l="l"/>
            <a:pathLst>
              <a:path h="1131809" w="1010234">
                <a:moveTo>
                  <a:pt x="0" y="0"/>
                </a:moveTo>
                <a:lnTo>
                  <a:pt x="1010234" y="0"/>
                </a:lnTo>
                <a:lnTo>
                  <a:pt x="1010234" y="1131810"/>
                </a:lnTo>
                <a:lnTo>
                  <a:pt x="0" y="113181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1253945" y="2069322"/>
            <a:ext cx="6109654" cy="1809653"/>
          </a:xfrm>
          <a:custGeom>
            <a:avLst/>
            <a:gdLst/>
            <a:ahLst/>
            <a:cxnLst/>
            <a:rect r="r" b="b" t="t" l="l"/>
            <a:pathLst>
              <a:path h="1809653" w="6109654">
                <a:moveTo>
                  <a:pt x="0" y="0"/>
                </a:moveTo>
                <a:lnTo>
                  <a:pt x="6109654" y="0"/>
                </a:lnTo>
                <a:lnTo>
                  <a:pt x="6109654" y="1809653"/>
                </a:lnTo>
                <a:lnTo>
                  <a:pt x="0" y="180965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1253945" y="3878975"/>
            <a:ext cx="6109654" cy="1034145"/>
          </a:xfrm>
          <a:custGeom>
            <a:avLst/>
            <a:gdLst/>
            <a:ahLst/>
            <a:cxnLst/>
            <a:rect r="r" b="b" t="t" l="l"/>
            <a:pathLst>
              <a:path h="1034145" w="6109654">
                <a:moveTo>
                  <a:pt x="0" y="0"/>
                </a:moveTo>
                <a:lnTo>
                  <a:pt x="6109654" y="0"/>
                </a:lnTo>
                <a:lnTo>
                  <a:pt x="6109654" y="1034146"/>
                </a:lnTo>
                <a:lnTo>
                  <a:pt x="0" y="103414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2644" t="0" r="-2644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1471719" y="5619611"/>
            <a:ext cx="5891880" cy="1940873"/>
          </a:xfrm>
          <a:custGeom>
            <a:avLst/>
            <a:gdLst/>
            <a:ahLst/>
            <a:cxnLst/>
            <a:rect r="r" b="b" t="t" l="l"/>
            <a:pathLst>
              <a:path h="1940873" w="5891880">
                <a:moveTo>
                  <a:pt x="0" y="0"/>
                </a:moveTo>
                <a:lnTo>
                  <a:pt x="5891880" y="0"/>
                </a:lnTo>
                <a:lnTo>
                  <a:pt x="5891880" y="1940873"/>
                </a:lnTo>
                <a:lnTo>
                  <a:pt x="0" y="194087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-1073" r="0" b="-1073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9321298" y="1686839"/>
            <a:ext cx="5575254" cy="683318"/>
          </a:xfrm>
          <a:custGeom>
            <a:avLst/>
            <a:gdLst/>
            <a:ahLst/>
            <a:cxnLst/>
            <a:rect r="r" b="b" t="t" l="l"/>
            <a:pathLst>
              <a:path h="683318" w="5575254">
                <a:moveTo>
                  <a:pt x="0" y="0"/>
                </a:moveTo>
                <a:lnTo>
                  <a:pt x="5575254" y="0"/>
                </a:lnTo>
                <a:lnTo>
                  <a:pt x="5575254" y="683318"/>
                </a:lnTo>
                <a:lnTo>
                  <a:pt x="0" y="683318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9298165" y="2370157"/>
            <a:ext cx="5621519" cy="1588365"/>
          </a:xfrm>
          <a:custGeom>
            <a:avLst/>
            <a:gdLst/>
            <a:ahLst/>
            <a:cxnLst/>
            <a:rect r="r" b="b" t="t" l="l"/>
            <a:pathLst>
              <a:path h="1588365" w="5621519">
                <a:moveTo>
                  <a:pt x="0" y="0"/>
                </a:moveTo>
                <a:lnTo>
                  <a:pt x="5621520" y="0"/>
                </a:lnTo>
                <a:lnTo>
                  <a:pt x="5621520" y="1588365"/>
                </a:lnTo>
                <a:lnTo>
                  <a:pt x="0" y="158836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-1398" r="0" b="-1398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9442755" y="4431749"/>
            <a:ext cx="5903853" cy="2193999"/>
          </a:xfrm>
          <a:custGeom>
            <a:avLst/>
            <a:gdLst/>
            <a:ahLst/>
            <a:cxnLst/>
            <a:rect r="r" b="b" t="t" l="l"/>
            <a:pathLst>
              <a:path h="2193999" w="5903853">
                <a:moveTo>
                  <a:pt x="0" y="0"/>
                </a:moveTo>
                <a:lnTo>
                  <a:pt x="5903853" y="0"/>
                </a:lnTo>
                <a:lnTo>
                  <a:pt x="5903853" y="2193999"/>
                </a:lnTo>
                <a:lnTo>
                  <a:pt x="0" y="219399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38" id="38"/>
          <p:cNvSpPr txBox="true"/>
          <p:nvPr/>
        </p:nvSpPr>
        <p:spPr>
          <a:xfrm rot="0">
            <a:off x="13621963" y="9519842"/>
            <a:ext cx="4616498" cy="378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08"/>
              </a:lnSpc>
            </a:pPr>
            <a:r>
              <a:rPr lang="en-US" sz="2337">
                <a:solidFill>
                  <a:srgbClr val="322230"/>
                </a:solidFill>
                <a:latin typeface="Touvlo"/>
                <a:ea typeface="Touvlo"/>
                <a:cs typeface="Touvlo"/>
                <a:sym typeface="Touvlo"/>
              </a:rPr>
              <a:t>PRODI SISTEM INFORMASI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8393577" y="7111119"/>
            <a:ext cx="7536635" cy="2806510"/>
            <a:chOff x="0" y="0"/>
            <a:chExt cx="2160639" cy="804584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160639" cy="804584"/>
            </a:xfrm>
            <a:custGeom>
              <a:avLst/>
              <a:gdLst/>
              <a:ahLst/>
              <a:cxnLst/>
              <a:rect r="r" b="b" t="t" l="l"/>
              <a:pathLst>
                <a:path h="804584" w="2160639">
                  <a:moveTo>
                    <a:pt x="35953" y="0"/>
                  </a:moveTo>
                  <a:lnTo>
                    <a:pt x="2124685" y="0"/>
                  </a:lnTo>
                  <a:cubicBezTo>
                    <a:pt x="2144542" y="0"/>
                    <a:pt x="2160639" y="16097"/>
                    <a:pt x="2160639" y="35953"/>
                  </a:cubicBezTo>
                  <a:lnTo>
                    <a:pt x="2160639" y="768630"/>
                  </a:lnTo>
                  <a:cubicBezTo>
                    <a:pt x="2160639" y="788487"/>
                    <a:pt x="2144542" y="804584"/>
                    <a:pt x="2124685" y="804584"/>
                  </a:cubicBezTo>
                  <a:lnTo>
                    <a:pt x="35953" y="804584"/>
                  </a:lnTo>
                  <a:cubicBezTo>
                    <a:pt x="16097" y="804584"/>
                    <a:pt x="0" y="788487"/>
                    <a:pt x="0" y="768630"/>
                  </a:cubicBezTo>
                  <a:lnTo>
                    <a:pt x="0" y="35953"/>
                  </a:lnTo>
                  <a:cubicBezTo>
                    <a:pt x="0" y="16097"/>
                    <a:pt x="16097" y="0"/>
                    <a:pt x="35953" y="0"/>
                  </a:cubicBezTo>
                  <a:close/>
                </a:path>
              </a:pathLst>
            </a:custGeom>
            <a:solidFill>
              <a:srgbClr val="481D9D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28575"/>
              <a:ext cx="2160639" cy="8331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2"/>
                </a:lnSpc>
              </a:pP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8187044" y="7282569"/>
            <a:ext cx="758699" cy="758699"/>
            <a:chOff x="0" y="0"/>
            <a:chExt cx="812800" cy="8128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66C4"/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2"/>
                </a:lnSpc>
              </a:pPr>
            </a:p>
          </p:txBody>
        </p:sp>
      </p:grpSp>
      <p:sp>
        <p:nvSpPr>
          <p:cNvPr name="Freeform 45" id="45"/>
          <p:cNvSpPr/>
          <p:nvPr/>
        </p:nvSpPr>
        <p:spPr>
          <a:xfrm flipH="false" flipV="false" rot="0">
            <a:off x="9172700" y="7208017"/>
            <a:ext cx="6270314" cy="2532110"/>
          </a:xfrm>
          <a:custGeom>
            <a:avLst/>
            <a:gdLst/>
            <a:ahLst/>
            <a:cxnLst/>
            <a:rect r="r" b="b" t="t" l="l"/>
            <a:pathLst>
              <a:path h="2532110" w="6270314">
                <a:moveTo>
                  <a:pt x="0" y="0"/>
                </a:moveTo>
                <a:lnTo>
                  <a:pt x="6270314" y="0"/>
                </a:lnTo>
                <a:lnTo>
                  <a:pt x="6270314" y="2532110"/>
                </a:lnTo>
                <a:lnTo>
                  <a:pt x="0" y="253211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-2445"/>
            </a:stretch>
          </a:blipFill>
        </p:spPr>
      </p:sp>
      <p:sp>
        <p:nvSpPr>
          <p:cNvPr name="TextBox 46" id="46"/>
          <p:cNvSpPr txBox="true"/>
          <p:nvPr/>
        </p:nvSpPr>
        <p:spPr>
          <a:xfrm rot="0">
            <a:off x="4881253" y="301440"/>
            <a:ext cx="7693827" cy="839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03"/>
              </a:lnSpc>
            </a:pPr>
            <a:r>
              <a:rPr lang="en-US" sz="5115" spc="-214">
                <a:solidFill>
                  <a:srgbClr val="FFFFFF"/>
                </a:solidFill>
                <a:latin typeface="Days"/>
                <a:ea typeface="Days"/>
                <a:cs typeface="Days"/>
                <a:sym typeface="Days"/>
              </a:rPr>
              <a:t>Referensi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379349" y="2138307"/>
            <a:ext cx="639590" cy="573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55"/>
              </a:lnSpc>
            </a:pPr>
            <a:r>
              <a:rPr lang="en-US" sz="3500" spc="-147">
                <a:solidFill>
                  <a:srgbClr val="FFFFFF"/>
                </a:solidFill>
                <a:latin typeface="Days"/>
                <a:ea typeface="Days"/>
                <a:cs typeface="Days"/>
                <a:sym typeface="Days"/>
              </a:rPr>
              <a:t>1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8306153" y="1727223"/>
            <a:ext cx="639590" cy="573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55"/>
              </a:lnSpc>
            </a:pPr>
            <a:r>
              <a:rPr lang="en-US" sz="3500" spc="-147">
                <a:solidFill>
                  <a:srgbClr val="FFFFFF"/>
                </a:solidFill>
                <a:latin typeface="Days"/>
                <a:ea typeface="Days"/>
                <a:cs typeface="Days"/>
                <a:sym typeface="Days"/>
              </a:rPr>
              <a:t>3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8393577" y="4414095"/>
            <a:ext cx="639590" cy="573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55"/>
              </a:lnSpc>
            </a:pPr>
            <a:r>
              <a:rPr lang="en-US" sz="3500" spc="-147">
                <a:solidFill>
                  <a:srgbClr val="FFFFFF"/>
                </a:solidFill>
                <a:latin typeface="Days"/>
                <a:ea typeface="Days"/>
                <a:cs typeface="Days"/>
                <a:sym typeface="Days"/>
              </a:rPr>
              <a:t>4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523583" y="5440327"/>
            <a:ext cx="639590" cy="573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55"/>
              </a:lnSpc>
            </a:pPr>
            <a:r>
              <a:rPr lang="en-US" sz="3500" spc="-147">
                <a:solidFill>
                  <a:srgbClr val="FFFFFF"/>
                </a:solidFill>
                <a:latin typeface="Days"/>
                <a:ea typeface="Days"/>
                <a:cs typeface="Days"/>
                <a:sym typeface="Days"/>
              </a:rPr>
              <a:t>2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319795" y="9519842"/>
            <a:ext cx="5400814" cy="411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2"/>
              </a:lnSpc>
            </a:pPr>
            <a:r>
              <a:rPr lang="en-US" sz="2520">
                <a:solidFill>
                  <a:srgbClr val="322230"/>
                </a:solidFill>
                <a:latin typeface="Touvlo"/>
                <a:ea typeface="Touvlo"/>
                <a:cs typeface="Touvlo"/>
                <a:sym typeface="Touvlo"/>
              </a:rPr>
              <a:t>FAKULTAS TELEMATIKA ENERGI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8187044" y="7351554"/>
            <a:ext cx="639590" cy="573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55"/>
              </a:lnSpc>
            </a:pPr>
            <a:r>
              <a:rPr lang="en-US" sz="3500" spc="-147">
                <a:solidFill>
                  <a:srgbClr val="FFFFFF"/>
                </a:solidFill>
                <a:latin typeface="Days"/>
                <a:ea typeface="Days"/>
                <a:cs typeface="Days"/>
                <a:sym typeface="Days"/>
              </a:rPr>
              <a:t>5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9317039">
            <a:off x="-8075290" y="-4033182"/>
            <a:ext cx="18207979" cy="7530252"/>
          </a:xfrm>
          <a:custGeom>
            <a:avLst/>
            <a:gdLst/>
            <a:ahLst/>
            <a:cxnLst/>
            <a:rect r="r" b="b" t="t" l="l"/>
            <a:pathLst>
              <a:path h="7530252" w="18207979">
                <a:moveTo>
                  <a:pt x="0" y="0"/>
                </a:moveTo>
                <a:lnTo>
                  <a:pt x="18207980" y="0"/>
                </a:lnTo>
                <a:lnTo>
                  <a:pt x="18207980" y="7530251"/>
                </a:lnTo>
                <a:lnTo>
                  <a:pt x="0" y="75302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9250924">
            <a:off x="7968489" y="-3765126"/>
            <a:ext cx="18207979" cy="7530252"/>
          </a:xfrm>
          <a:custGeom>
            <a:avLst/>
            <a:gdLst/>
            <a:ahLst/>
            <a:cxnLst/>
            <a:rect r="r" b="b" t="t" l="l"/>
            <a:pathLst>
              <a:path h="7530252" w="18207979">
                <a:moveTo>
                  <a:pt x="18207979" y="0"/>
                </a:moveTo>
                <a:lnTo>
                  <a:pt x="0" y="0"/>
                </a:lnTo>
                <a:lnTo>
                  <a:pt x="0" y="7530252"/>
                </a:lnTo>
                <a:lnTo>
                  <a:pt x="18207979" y="7530252"/>
                </a:lnTo>
                <a:lnTo>
                  <a:pt x="1820797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400000">
            <a:off x="16466928" y="-609971"/>
            <a:ext cx="1211101" cy="2431042"/>
          </a:xfrm>
          <a:custGeom>
            <a:avLst/>
            <a:gdLst/>
            <a:ahLst/>
            <a:cxnLst/>
            <a:rect r="r" b="b" t="t" l="l"/>
            <a:pathLst>
              <a:path h="2431042" w="1211101">
                <a:moveTo>
                  <a:pt x="0" y="0"/>
                </a:moveTo>
                <a:lnTo>
                  <a:pt x="1211101" y="0"/>
                </a:lnTo>
                <a:lnTo>
                  <a:pt x="1211101" y="2431043"/>
                </a:lnTo>
                <a:lnTo>
                  <a:pt x="0" y="243104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144000" y="8913298"/>
            <a:ext cx="4995894" cy="4114800"/>
          </a:xfrm>
          <a:custGeom>
            <a:avLst/>
            <a:gdLst/>
            <a:ahLst/>
            <a:cxnLst/>
            <a:rect r="r" b="b" t="t" l="l"/>
            <a:pathLst>
              <a:path h="4114800" w="4995894">
                <a:moveTo>
                  <a:pt x="0" y="0"/>
                </a:moveTo>
                <a:lnTo>
                  <a:pt x="4995894" y="0"/>
                </a:lnTo>
                <a:lnTo>
                  <a:pt x="499589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9641910">
            <a:off x="4379319" y="8921459"/>
            <a:ext cx="4243373" cy="3757314"/>
          </a:xfrm>
          <a:custGeom>
            <a:avLst/>
            <a:gdLst/>
            <a:ahLst/>
            <a:cxnLst/>
            <a:rect r="r" b="b" t="t" l="l"/>
            <a:pathLst>
              <a:path h="3757314" w="4243373">
                <a:moveTo>
                  <a:pt x="0" y="0"/>
                </a:moveTo>
                <a:lnTo>
                  <a:pt x="4243373" y="0"/>
                </a:lnTo>
                <a:lnTo>
                  <a:pt x="4243373" y="3757314"/>
                </a:lnTo>
                <a:lnTo>
                  <a:pt x="0" y="375731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842049" y="1527307"/>
            <a:ext cx="965563" cy="844429"/>
          </a:xfrm>
          <a:custGeom>
            <a:avLst/>
            <a:gdLst/>
            <a:ahLst/>
            <a:cxnLst/>
            <a:rect r="r" b="b" t="t" l="l"/>
            <a:pathLst>
              <a:path h="844429" w="965563">
                <a:moveTo>
                  <a:pt x="0" y="0"/>
                </a:moveTo>
                <a:lnTo>
                  <a:pt x="965563" y="0"/>
                </a:lnTo>
                <a:lnTo>
                  <a:pt x="965563" y="844428"/>
                </a:lnTo>
                <a:lnTo>
                  <a:pt x="0" y="84442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0">
            <a:off x="12139854" y="1527307"/>
            <a:ext cx="965563" cy="844429"/>
          </a:xfrm>
          <a:custGeom>
            <a:avLst/>
            <a:gdLst/>
            <a:ahLst/>
            <a:cxnLst/>
            <a:rect r="r" b="b" t="t" l="l"/>
            <a:pathLst>
              <a:path h="844429" w="965563">
                <a:moveTo>
                  <a:pt x="965563" y="0"/>
                </a:moveTo>
                <a:lnTo>
                  <a:pt x="0" y="0"/>
                </a:lnTo>
                <a:lnTo>
                  <a:pt x="0" y="844428"/>
                </a:lnTo>
                <a:lnTo>
                  <a:pt x="965563" y="844428"/>
                </a:lnTo>
                <a:lnTo>
                  <a:pt x="965563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041823" y="1460632"/>
            <a:ext cx="7693827" cy="839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03"/>
              </a:lnSpc>
            </a:pPr>
            <a:r>
              <a:rPr lang="en-US" sz="5115" spc="-214">
                <a:solidFill>
                  <a:srgbClr val="FFFFFF"/>
                </a:solidFill>
                <a:latin typeface="Days"/>
                <a:ea typeface="Days"/>
                <a:cs typeface="Days"/>
                <a:sym typeface="Days"/>
              </a:rPr>
              <a:t>Analisis Kasus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20893" y="9498276"/>
            <a:ext cx="5542074" cy="411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2"/>
              </a:lnSpc>
            </a:pPr>
            <a:r>
              <a:rPr lang="en-US" sz="2520">
                <a:solidFill>
                  <a:srgbClr val="322230"/>
                </a:solidFill>
                <a:latin typeface="Touvlo"/>
                <a:ea typeface="Touvlo"/>
                <a:cs typeface="Touvlo"/>
                <a:sym typeface="Touvlo"/>
              </a:rPr>
              <a:t>FAKULTAS TELEMATIKA ENERGI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139854" y="9498276"/>
            <a:ext cx="5542074" cy="4060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2"/>
              </a:lnSpc>
            </a:pPr>
            <a:r>
              <a:rPr lang="en-US" sz="2520">
                <a:solidFill>
                  <a:srgbClr val="322230"/>
                </a:solidFill>
                <a:latin typeface="Touvlo"/>
                <a:ea typeface="Touvlo"/>
                <a:cs typeface="Touvlo"/>
                <a:sym typeface="Touvlo"/>
              </a:rPr>
              <a:t>PRODI SISTEM INFORMASI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523583" y="298229"/>
            <a:ext cx="1010234" cy="1131809"/>
          </a:xfrm>
          <a:custGeom>
            <a:avLst/>
            <a:gdLst/>
            <a:ahLst/>
            <a:cxnLst/>
            <a:rect r="r" b="b" t="t" l="l"/>
            <a:pathLst>
              <a:path h="1131809" w="1010234">
                <a:moveTo>
                  <a:pt x="0" y="0"/>
                </a:moveTo>
                <a:lnTo>
                  <a:pt x="1010234" y="0"/>
                </a:lnTo>
                <a:lnTo>
                  <a:pt x="1010234" y="1131810"/>
                </a:lnTo>
                <a:lnTo>
                  <a:pt x="0" y="113181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232408" y="3503660"/>
            <a:ext cx="4730559" cy="475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4"/>
              </a:lnSpc>
            </a:pPr>
            <a:r>
              <a:rPr lang="en-US" sz="2920" b="true">
                <a:solidFill>
                  <a:srgbClr val="481D9D"/>
                </a:solidFill>
                <a:latin typeface="Touvlo Ultra-Bold"/>
                <a:ea typeface="Touvlo Ultra-Bold"/>
                <a:cs typeface="Touvlo Ultra-Bold"/>
                <a:sym typeface="Touvlo Ultra-Bold"/>
              </a:rPr>
              <a:t>Studi Kasus &amp; Banding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715548" y="3666167"/>
            <a:ext cx="313152" cy="313152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06C25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2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232408" y="4265832"/>
            <a:ext cx="7117933" cy="2837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44157" indent="-272079" lvl="1">
              <a:lnSpc>
                <a:spcPts val="3780"/>
              </a:lnSpc>
              <a:buFont typeface="Arial"/>
              <a:buChar char="•"/>
            </a:pPr>
            <a:r>
              <a:rPr lang="en-US" sz="2520">
                <a:solidFill>
                  <a:srgbClr val="32223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Pendekatan Privacy by Design di mana pasien memegang otoritas penuh atas izin data. Studi banding menggunakan Estonia e-Health System yang berhasil mengamankan jutaan data warga secara absolut menggunakan blockchain.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740137" y="3503660"/>
            <a:ext cx="4730559" cy="475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4"/>
              </a:lnSpc>
            </a:pPr>
            <a:r>
              <a:rPr lang="en-US" sz="2920" b="true">
                <a:solidFill>
                  <a:srgbClr val="481D9D"/>
                </a:solidFill>
                <a:latin typeface="Touvlo Ultra-Bold"/>
                <a:ea typeface="Touvlo Ultra-Bold"/>
                <a:cs typeface="Touvlo Ultra-Bold"/>
                <a:sym typeface="Touvlo Ultra-Bold"/>
              </a:rPr>
              <a:t>Identifikasi Masalah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0008264" y="3603963"/>
            <a:ext cx="313152" cy="313152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06C25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2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0740137" y="4207919"/>
            <a:ext cx="6616000" cy="3948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65747" indent="-282873" lvl="1">
              <a:lnSpc>
                <a:spcPts val="3930"/>
              </a:lnSpc>
              <a:buFont typeface="Arial"/>
              <a:buChar char="•"/>
            </a:pPr>
            <a:r>
              <a:rPr lang="en-US" sz="2620">
                <a:solidFill>
                  <a:srgbClr val="32223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Tingginya risiko pemalsuan dokumen untuk keperluan administrasi formal. </a:t>
            </a:r>
          </a:p>
          <a:p>
            <a:pPr algn="just" marL="565747" indent="-282873" lvl="1">
              <a:lnSpc>
                <a:spcPts val="3930"/>
              </a:lnSpc>
              <a:buFont typeface="Arial"/>
              <a:buChar char="•"/>
            </a:pPr>
            <a:r>
              <a:rPr lang="en-US" sz="2620">
                <a:solidFill>
                  <a:srgbClr val="32223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Data Silos atau terputusnya riwayat medis antar institusi yang memicu kesalahan penanganan medis. </a:t>
            </a:r>
          </a:p>
          <a:p>
            <a:pPr algn="just" marL="565747" indent="-282873" lvl="1">
              <a:lnSpc>
                <a:spcPts val="3930"/>
              </a:lnSpc>
              <a:buFont typeface="Arial"/>
              <a:buChar char="•"/>
            </a:pPr>
            <a:r>
              <a:rPr lang="en-US" sz="2620">
                <a:solidFill>
                  <a:srgbClr val="32223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Kerentanan sistem terpusat terhadap serangan peretas (ransomware) dan kebocoran identitas. 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9317039">
            <a:off x="-8075290" y="-4033182"/>
            <a:ext cx="18207979" cy="7530252"/>
          </a:xfrm>
          <a:custGeom>
            <a:avLst/>
            <a:gdLst/>
            <a:ahLst/>
            <a:cxnLst/>
            <a:rect r="r" b="b" t="t" l="l"/>
            <a:pathLst>
              <a:path h="7530252" w="18207979">
                <a:moveTo>
                  <a:pt x="0" y="0"/>
                </a:moveTo>
                <a:lnTo>
                  <a:pt x="18207980" y="0"/>
                </a:lnTo>
                <a:lnTo>
                  <a:pt x="18207980" y="7530251"/>
                </a:lnTo>
                <a:lnTo>
                  <a:pt x="0" y="75302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9250924">
            <a:off x="7968489" y="-3765126"/>
            <a:ext cx="18207979" cy="7530252"/>
          </a:xfrm>
          <a:custGeom>
            <a:avLst/>
            <a:gdLst/>
            <a:ahLst/>
            <a:cxnLst/>
            <a:rect r="r" b="b" t="t" l="l"/>
            <a:pathLst>
              <a:path h="7530252" w="18207979">
                <a:moveTo>
                  <a:pt x="18207979" y="0"/>
                </a:moveTo>
                <a:lnTo>
                  <a:pt x="0" y="0"/>
                </a:lnTo>
                <a:lnTo>
                  <a:pt x="0" y="7530252"/>
                </a:lnTo>
                <a:lnTo>
                  <a:pt x="18207979" y="7530252"/>
                </a:lnTo>
                <a:lnTo>
                  <a:pt x="1820797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400000">
            <a:off x="16466928" y="-609971"/>
            <a:ext cx="1211101" cy="2431042"/>
          </a:xfrm>
          <a:custGeom>
            <a:avLst/>
            <a:gdLst/>
            <a:ahLst/>
            <a:cxnLst/>
            <a:rect r="r" b="b" t="t" l="l"/>
            <a:pathLst>
              <a:path h="2431042" w="1211101">
                <a:moveTo>
                  <a:pt x="0" y="0"/>
                </a:moveTo>
                <a:lnTo>
                  <a:pt x="1211101" y="0"/>
                </a:lnTo>
                <a:lnTo>
                  <a:pt x="1211101" y="2431043"/>
                </a:lnTo>
                <a:lnTo>
                  <a:pt x="0" y="243104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144000" y="9575395"/>
            <a:ext cx="4192023" cy="3452703"/>
          </a:xfrm>
          <a:custGeom>
            <a:avLst/>
            <a:gdLst/>
            <a:ahLst/>
            <a:cxnLst/>
            <a:rect r="r" b="b" t="t" l="l"/>
            <a:pathLst>
              <a:path h="3452703" w="4192023">
                <a:moveTo>
                  <a:pt x="0" y="0"/>
                </a:moveTo>
                <a:lnTo>
                  <a:pt x="4192023" y="0"/>
                </a:lnTo>
                <a:lnTo>
                  <a:pt x="4192023" y="3452703"/>
                </a:lnTo>
                <a:lnTo>
                  <a:pt x="0" y="345270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9641910">
            <a:off x="4379319" y="8921459"/>
            <a:ext cx="4243373" cy="3757314"/>
          </a:xfrm>
          <a:custGeom>
            <a:avLst/>
            <a:gdLst/>
            <a:ahLst/>
            <a:cxnLst/>
            <a:rect r="r" b="b" t="t" l="l"/>
            <a:pathLst>
              <a:path h="3757314" w="4243373">
                <a:moveTo>
                  <a:pt x="0" y="0"/>
                </a:moveTo>
                <a:lnTo>
                  <a:pt x="4243373" y="0"/>
                </a:lnTo>
                <a:lnTo>
                  <a:pt x="4243373" y="3757314"/>
                </a:lnTo>
                <a:lnTo>
                  <a:pt x="0" y="375731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646232" y="1282662"/>
            <a:ext cx="965563" cy="844429"/>
          </a:xfrm>
          <a:custGeom>
            <a:avLst/>
            <a:gdLst/>
            <a:ahLst/>
            <a:cxnLst/>
            <a:rect r="r" b="b" t="t" l="l"/>
            <a:pathLst>
              <a:path h="844429" w="965563">
                <a:moveTo>
                  <a:pt x="0" y="0"/>
                </a:moveTo>
                <a:lnTo>
                  <a:pt x="965563" y="0"/>
                </a:lnTo>
                <a:lnTo>
                  <a:pt x="965563" y="844429"/>
                </a:lnTo>
                <a:lnTo>
                  <a:pt x="0" y="84442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0">
            <a:off x="13336023" y="1211101"/>
            <a:ext cx="965563" cy="844429"/>
          </a:xfrm>
          <a:custGeom>
            <a:avLst/>
            <a:gdLst/>
            <a:ahLst/>
            <a:cxnLst/>
            <a:rect r="r" b="b" t="t" l="l"/>
            <a:pathLst>
              <a:path h="844429" w="965563">
                <a:moveTo>
                  <a:pt x="965563" y="0"/>
                </a:moveTo>
                <a:lnTo>
                  <a:pt x="0" y="0"/>
                </a:lnTo>
                <a:lnTo>
                  <a:pt x="0" y="844429"/>
                </a:lnTo>
                <a:lnTo>
                  <a:pt x="965563" y="844429"/>
                </a:lnTo>
                <a:lnTo>
                  <a:pt x="965563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28700" y="3078914"/>
            <a:ext cx="5166190" cy="5338217"/>
          </a:xfrm>
          <a:custGeom>
            <a:avLst/>
            <a:gdLst/>
            <a:ahLst/>
            <a:cxnLst/>
            <a:rect r="r" b="b" t="t" l="l"/>
            <a:pathLst>
              <a:path h="5338217" w="5166190">
                <a:moveTo>
                  <a:pt x="0" y="0"/>
                </a:moveTo>
                <a:lnTo>
                  <a:pt x="5166190" y="0"/>
                </a:lnTo>
                <a:lnTo>
                  <a:pt x="5166190" y="5338217"/>
                </a:lnTo>
                <a:lnTo>
                  <a:pt x="0" y="533821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-3887" t="0" r="-3887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649895" y="1104048"/>
            <a:ext cx="9752835" cy="951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55"/>
              </a:lnSpc>
            </a:pPr>
            <a:r>
              <a:rPr lang="en-US" sz="5830" spc="-244">
                <a:solidFill>
                  <a:srgbClr val="FFFFFF"/>
                </a:solidFill>
                <a:latin typeface="Days"/>
                <a:ea typeface="Days"/>
                <a:cs typeface="Days"/>
                <a:sym typeface="Days"/>
              </a:rPr>
              <a:t>Justifikasi Blockchain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501005" y="3318031"/>
            <a:ext cx="11026985" cy="1732228"/>
            <a:chOff x="0" y="0"/>
            <a:chExt cx="14702647" cy="230963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55895" cy="857464"/>
            </a:xfrm>
            <a:custGeom>
              <a:avLst/>
              <a:gdLst/>
              <a:ahLst/>
              <a:cxnLst/>
              <a:rect r="r" b="b" t="t" l="l"/>
              <a:pathLst>
                <a:path h="857464" w="1155895">
                  <a:moveTo>
                    <a:pt x="0" y="0"/>
                  </a:moveTo>
                  <a:lnTo>
                    <a:pt x="1155895" y="0"/>
                  </a:lnTo>
                  <a:lnTo>
                    <a:pt x="1155895" y="857464"/>
                  </a:lnTo>
                  <a:lnTo>
                    <a:pt x="0" y="8574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 rot="0">
              <a:off x="1536759" y="81823"/>
              <a:ext cx="13165887" cy="22278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4530"/>
                </a:lnSpc>
              </a:pPr>
              <a:r>
                <a:rPr lang="en-US" sz="3020" b="true">
                  <a:solidFill>
                    <a:srgbClr val="481D9D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Immutability : </a:t>
              </a:r>
              <a:r>
                <a:rPr lang="en-US" sz="3020">
                  <a:solidFill>
                    <a:srgbClr val="481D9D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Data rekam medis yang dicatat tidak dapat diubah (Edit/Delete), menghilangkan risiko pemalsuan data sama sekali.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420893" y="9498276"/>
            <a:ext cx="5542074" cy="411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2"/>
              </a:lnSpc>
            </a:pPr>
            <a:r>
              <a:rPr lang="en-US" sz="2520">
                <a:solidFill>
                  <a:srgbClr val="322230"/>
                </a:solidFill>
                <a:latin typeface="Touvlo"/>
                <a:ea typeface="Touvlo"/>
                <a:cs typeface="Touvlo"/>
                <a:sym typeface="Touvlo"/>
              </a:rPr>
              <a:t>FAKULTAS TELEMATIKA ENERGI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139854" y="9498276"/>
            <a:ext cx="5542074" cy="4060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2"/>
              </a:lnSpc>
            </a:pPr>
            <a:r>
              <a:rPr lang="en-US" sz="2520">
                <a:solidFill>
                  <a:srgbClr val="322230"/>
                </a:solidFill>
                <a:latin typeface="Touvlo"/>
                <a:ea typeface="Touvlo"/>
                <a:cs typeface="Touvlo"/>
                <a:sym typeface="Touvlo"/>
              </a:rPr>
              <a:t>PRODI SISTEM INFORMASI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523583" y="298229"/>
            <a:ext cx="1010234" cy="1131809"/>
          </a:xfrm>
          <a:custGeom>
            <a:avLst/>
            <a:gdLst/>
            <a:ahLst/>
            <a:cxnLst/>
            <a:rect r="r" b="b" t="t" l="l"/>
            <a:pathLst>
              <a:path h="1131809" w="1010234">
                <a:moveTo>
                  <a:pt x="0" y="0"/>
                </a:moveTo>
                <a:lnTo>
                  <a:pt x="1010234" y="0"/>
                </a:lnTo>
                <a:lnTo>
                  <a:pt x="1010234" y="1131810"/>
                </a:lnTo>
                <a:lnTo>
                  <a:pt x="0" y="113181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6565761" y="5459399"/>
            <a:ext cx="10516459" cy="1732228"/>
            <a:chOff x="0" y="0"/>
            <a:chExt cx="14021945" cy="230963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155895" cy="857464"/>
            </a:xfrm>
            <a:custGeom>
              <a:avLst/>
              <a:gdLst/>
              <a:ahLst/>
              <a:cxnLst/>
              <a:rect r="r" b="b" t="t" l="l"/>
              <a:pathLst>
                <a:path h="857464" w="1155895">
                  <a:moveTo>
                    <a:pt x="0" y="0"/>
                  </a:moveTo>
                  <a:lnTo>
                    <a:pt x="1155895" y="0"/>
                  </a:lnTo>
                  <a:lnTo>
                    <a:pt x="1155895" y="857464"/>
                  </a:lnTo>
                  <a:lnTo>
                    <a:pt x="0" y="8574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 rot="0">
              <a:off x="1536759" y="81823"/>
              <a:ext cx="12485186" cy="22278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4530"/>
                </a:lnSpc>
              </a:pPr>
              <a:r>
                <a:rPr lang="en-US" sz="3020" b="true">
                  <a:solidFill>
                    <a:srgbClr val="481D9D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Patient-Centered (Ownership) : </a:t>
              </a:r>
              <a:r>
                <a:rPr lang="en-US" sz="3020">
                  <a:solidFill>
                    <a:srgbClr val="481D9D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Kontrol data dipegang oleh pasien melalui mekanisme token/QR code berbatas waktu. 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603890" y="7493125"/>
            <a:ext cx="11078037" cy="1732228"/>
            <a:chOff x="0" y="0"/>
            <a:chExt cx="14770717" cy="230963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155895" cy="857464"/>
            </a:xfrm>
            <a:custGeom>
              <a:avLst/>
              <a:gdLst/>
              <a:ahLst/>
              <a:cxnLst/>
              <a:rect r="r" b="b" t="t" l="l"/>
              <a:pathLst>
                <a:path h="857464" w="1155895">
                  <a:moveTo>
                    <a:pt x="0" y="0"/>
                  </a:moveTo>
                  <a:lnTo>
                    <a:pt x="1155895" y="0"/>
                  </a:lnTo>
                  <a:lnTo>
                    <a:pt x="1155895" y="857464"/>
                  </a:lnTo>
                  <a:lnTo>
                    <a:pt x="0" y="8574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 rot="0">
              <a:off x="1536759" y="81823"/>
              <a:ext cx="13233958" cy="22278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4530"/>
                </a:lnSpc>
              </a:pPr>
              <a:r>
                <a:rPr lang="en-US" sz="3020" b="true">
                  <a:solidFill>
                    <a:srgbClr val="481D9D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Distributed Ledger : </a:t>
              </a:r>
              <a:r>
                <a:rPr lang="en-US" sz="3020">
                  <a:solidFill>
                    <a:srgbClr val="481D9D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Mengatasi Single Point of Failure pada sistem database tradisional sehingga data akan terus tersedia meski satu server mati. 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9317039">
            <a:off x="-8075290" y="-4033182"/>
            <a:ext cx="18207979" cy="7530252"/>
          </a:xfrm>
          <a:custGeom>
            <a:avLst/>
            <a:gdLst/>
            <a:ahLst/>
            <a:cxnLst/>
            <a:rect r="r" b="b" t="t" l="l"/>
            <a:pathLst>
              <a:path h="7530252" w="18207979">
                <a:moveTo>
                  <a:pt x="0" y="0"/>
                </a:moveTo>
                <a:lnTo>
                  <a:pt x="18207980" y="0"/>
                </a:lnTo>
                <a:lnTo>
                  <a:pt x="18207980" y="7530251"/>
                </a:lnTo>
                <a:lnTo>
                  <a:pt x="0" y="75302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9250924">
            <a:off x="7968489" y="-3765126"/>
            <a:ext cx="18207979" cy="7530252"/>
          </a:xfrm>
          <a:custGeom>
            <a:avLst/>
            <a:gdLst/>
            <a:ahLst/>
            <a:cxnLst/>
            <a:rect r="r" b="b" t="t" l="l"/>
            <a:pathLst>
              <a:path h="7530252" w="18207979">
                <a:moveTo>
                  <a:pt x="18207979" y="0"/>
                </a:moveTo>
                <a:lnTo>
                  <a:pt x="0" y="0"/>
                </a:lnTo>
                <a:lnTo>
                  <a:pt x="0" y="7530252"/>
                </a:lnTo>
                <a:lnTo>
                  <a:pt x="18207979" y="7530252"/>
                </a:lnTo>
                <a:lnTo>
                  <a:pt x="1820797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400000">
            <a:off x="16466928" y="-609971"/>
            <a:ext cx="1211101" cy="2431042"/>
          </a:xfrm>
          <a:custGeom>
            <a:avLst/>
            <a:gdLst/>
            <a:ahLst/>
            <a:cxnLst/>
            <a:rect r="r" b="b" t="t" l="l"/>
            <a:pathLst>
              <a:path h="2431042" w="1211101">
                <a:moveTo>
                  <a:pt x="0" y="0"/>
                </a:moveTo>
                <a:lnTo>
                  <a:pt x="1211101" y="0"/>
                </a:lnTo>
                <a:lnTo>
                  <a:pt x="1211101" y="2431043"/>
                </a:lnTo>
                <a:lnTo>
                  <a:pt x="0" y="243104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144000" y="8913298"/>
            <a:ext cx="4995894" cy="4114800"/>
          </a:xfrm>
          <a:custGeom>
            <a:avLst/>
            <a:gdLst/>
            <a:ahLst/>
            <a:cxnLst/>
            <a:rect r="r" b="b" t="t" l="l"/>
            <a:pathLst>
              <a:path h="4114800" w="4995894">
                <a:moveTo>
                  <a:pt x="0" y="0"/>
                </a:moveTo>
                <a:lnTo>
                  <a:pt x="4995894" y="0"/>
                </a:lnTo>
                <a:lnTo>
                  <a:pt x="499589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9641910">
            <a:off x="4379319" y="8921459"/>
            <a:ext cx="4243373" cy="3757314"/>
          </a:xfrm>
          <a:custGeom>
            <a:avLst/>
            <a:gdLst/>
            <a:ahLst/>
            <a:cxnLst/>
            <a:rect r="r" b="b" t="t" l="l"/>
            <a:pathLst>
              <a:path h="3757314" w="4243373">
                <a:moveTo>
                  <a:pt x="0" y="0"/>
                </a:moveTo>
                <a:lnTo>
                  <a:pt x="4243373" y="0"/>
                </a:lnTo>
                <a:lnTo>
                  <a:pt x="4243373" y="3757314"/>
                </a:lnTo>
                <a:lnTo>
                  <a:pt x="0" y="375731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5400000">
            <a:off x="14850324" y="2501537"/>
            <a:ext cx="965563" cy="844429"/>
          </a:xfrm>
          <a:custGeom>
            <a:avLst/>
            <a:gdLst/>
            <a:ahLst/>
            <a:cxnLst/>
            <a:rect r="r" b="b" t="t" l="l"/>
            <a:pathLst>
              <a:path h="844429" w="965563">
                <a:moveTo>
                  <a:pt x="0" y="0"/>
                </a:moveTo>
                <a:lnTo>
                  <a:pt x="965563" y="0"/>
                </a:lnTo>
                <a:lnTo>
                  <a:pt x="965563" y="844429"/>
                </a:lnTo>
                <a:lnTo>
                  <a:pt x="0" y="84442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5400000">
            <a:off x="14850324" y="4721286"/>
            <a:ext cx="965563" cy="844429"/>
          </a:xfrm>
          <a:custGeom>
            <a:avLst/>
            <a:gdLst/>
            <a:ahLst/>
            <a:cxnLst/>
            <a:rect r="r" b="b" t="t" l="l"/>
            <a:pathLst>
              <a:path h="844429" w="965563">
                <a:moveTo>
                  <a:pt x="965563" y="0"/>
                </a:moveTo>
                <a:lnTo>
                  <a:pt x="0" y="0"/>
                </a:lnTo>
                <a:lnTo>
                  <a:pt x="0" y="844428"/>
                </a:lnTo>
                <a:lnTo>
                  <a:pt x="965563" y="844428"/>
                </a:lnTo>
                <a:lnTo>
                  <a:pt x="965563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523583" y="298229"/>
            <a:ext cx="1010234" cy="1131809"/>
          </a:xfrm>
          <a:custGeom>
            <a:avLst/>
            <a:gdLst/>
            <a:ahLst/>
            <a:cxnLst/>
            <a:rect r="r" b="b" t="t" l="l"/>
            <a:pathLst>
              <a:path h="1131809" w="1010234">
                <a:moveTo>
                  <a:pt x="0" y="0"/>
                </a:moveTo>
                <a:lnTo>
                  <a:pt x="1010234" y="0"/>
                </a:lnTo>
                <a:lnTo>
                  <a:pt x="1010234" y="1131810"/>
                </a:lnTo>
                <a:lnTo>
                  <a:pt x="0" y="113181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6329029" y="298229"/>
            <a:ext cx="5159231" cy="9612042"/>
          </a:xfrm>
          <a:custGeom>
            <a:avLst/>
            <a:gdLst/>
            <a:ahLst/>
            <a:cxnLst/>
            <a:rect r="r" b="b" t="t" l="l"/>
            <a:pathLst>
              <a:path h="9612042" w="5159231">
                <a:moveTo>
                  <a:pt x="0" y="0"/>
                </a:moveTo>
                <a:lnTo>
                  <a:pt x="5159231" y="0"/>
                </a:lnTo>
                <a:lnTo>
                  <a:pt x="5159231" y="9612042"/>
                </a:lnTo>
                <a:lnTo>
                  <a:pt x="0" y="9612042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-4191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2622635" y="3416058"/>
            <a:ext cx="5114230" cy="1188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69"/>
              </a:lnSpc>
            </a:pPr>
            <a:r>
              <a:rPr lang="en-US" sz="3586" spc="-150">
                <a:solidFill>
                  <a:srgbClr val="FFFFFF"/>
                </a:solidFill>
                <a:latin typeface="Days"/>
                <a:ea typeface="Days"/>
                <a:cs typeface="Days"/>
                <a:sym typeface="Days"/>
              </a:rPr>
              <a:t>Rancangan Arsi </a:t>
            </a:r>
          </a:p>
          <a:p>
            <a:pPr algn="ctr">
              <a:lnSpc>
                <a:spcPts val="4769"/>
              </a:lnSpc>
            </a:pPr>
            <a:r>
              <a:rPr lang="en-US" sz="3586" spc="-150">
                <a:solidFill>
                  <a:srgbClr val="FFFFFF"/>
                </a:solidFill>
                <a:latin typeface="Days"/>
                <a:ea typeface="Days"/>
                <a:cs typeface="Days"/>
                <a:sym typeface="Days"/>
              </a:rPr>
              <a:t>On-Chain &amp; Off-Chain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20893" y="9498276"/>
            <a:ext cx="5542074" cy="411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2"/>
              </a:lnSpc>
            </a:pPr>
            <a:r>
              <a:rPr lang="en-US" sz="2520">
                <a:solidFill>
                  <a:srgbClr val="322230"/>
                </a:solidFill>
                <a:latin typeface="Touvlo"/>
                <a:ea typeface="Touvlo"/>
                <a:cs typeface="Touvlo"/>
                <a:sym typeface="Touvlo"/>
              </a:rPr>
              <a:t>FAKULTAS TELEMATIKA ENERGI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139854" y="9498276"/>
            <a:ext cx="5542074" cy="4060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2"/>
              </a:lnSpc>
            </a:pPr>
            <a:r>
              <a:rPr lang="en-US" sz="2520">
                <a:solidFill>
                  <a:srgbClr val="322230"/>
                </a:solidFill>
                <a:latin typeface="Touvlo"/>
                <a:ea typeface="Touvlo"/>
                <a:cs typeface="Touvlo"/>
                <a:sym typeface="Touvlo"/>
              </a:rPr>
              <a:t>PRODI SISTEM INFORMASI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9317039">
            <a:off x="-8075290" y="-4033182"/>
            <a:ext cx="18207979" cy="7530252"/>
          </a:xfrm>
          <a:custGeom>
            <a:avLst/>
            <a:gdLst/>
            <a:ahLst/>
            <a:cxnLst/>
            <a:rect r="r" b="b" t="t" l="l"/>
            <a:pathLst>
              <a:path h="7530252" w="18207979">
                <a:moveTo>
                  <a:pt x="0" y="0"/>
                </a:moveTo>
                <a:lnTo>
                  <a:pt x="18207980" y="0"/>
                </a:lnTo>
                <a:lnTo>
                  <a:pt x="18207980" y="7530251"/>
                </a:lnTo>
                <a:lnTo>
                  <a:pt x="0" y="75302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9250924">
            <a:off x="7968489" y="-3765126"/>
            <a:ext cx="18207979" cy="7530252"/>
          </a:xfrm>
          <a:custGeom>
            <a:avLst/>
            <a:gdLst/>
            <a:ahLst/>
            <a:cxnLst/>
            <a:rect r="r" b="b" t="t" l="l"/>
            <a:pathLst>
              <a:path h="7530252" w="18207979">
                <a:moveTo>
                  <a:pt x="18207979" y="0"/>
                </a:moveTo>
                <a:lnTo>
                  <a:pt x="0" y="0"/>
                </a:lnTo>
                <a:lnTo>
                  <a:pt x="0" y="7530252"/>
                </a:lnTo>
                <a:lnTo>
                  <a:pt x="18207979" y="7530252"/>
                </a:lnTo>
                <a:lnTo>
                  <a:pt x="1820797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400000">
            <a:off x="16466928" y="-609971"/>
            <a:ext cx="1211101" cy="2431042"/>
          </a:xfrm>
          <a:custGeom>
            <a:avLst/>
            <a:gdLst/>
            <a:ahLst/>
            <a:cxnLst/>
            <a:rect r="r" b="b" t="t" l="l"/>
            <a:pathLst>
              <a:path h="2431042" w="1211101">
                <a:moveTo>
                  <a:pt x="0" y="0"/>
                </a:moveTo>
                <a:lnTo>
                  <a:pt x="1211101" y="0"/>
                </a:lnTo>
                <a:lnTo>
                  <a:pt x="1211101" y="2431043"/>
                </a:lnTo>
                <a:lnTo>
                  <a:pt x="0" y="243104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144000" y="8913298"/>
            <a:ext cx="4995894" cy="4114800"/>
          </a:xfrm>
          <a:custGeom>
            <a:avLst/>
            <a:gdLst/>
            <a:ahLst/>
            <a:cxnLst/>
            <a:rect r="r" b="b" t="t" l="l"/>
            <a:pathLst>
              <a:path h="4114800" w="4995894">
                <a:moveTo>
                  <a:pt x="0" y="0"/>
                </a:moveTo>
                <a:lnTo>
                  <a:pt x="4995894" y="0"/>
                </a:lnTo>
                <a:lnTo>
                  <a:pt x="499589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9641910">
            <a:off x="4379319" y="8921459"/>
            <a:ext cx="4243373" cy="3757314"/>
          </a:xfrm>
          <a:custGeom>
            <a:avLst/>
            <a:gdLst/>
            <a:ahLst/>
            <a:cxnLst/>
            <a:rect r="r" b="b" t="t" l="l"/>
            <a:pathLst>
              <a:path h="3757314" w="4243373">
                <a:moveTo>
                  <a:pt x="0" y="0"/>
                </a:moveTo>
                <a:lnTo>
                  <a:pt x="4243373" y="0"/>
                </a:lnTo>
                <a:lnTo>
                  <a:pt x="4243373" y="3757314"/>
                </a:lnTo>
                <a:lnTo>
                  <a:pt x="0" y="375731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099629" y="788887"/>
            <a:ext cx="965563" cy="844429"/>
          </a:xfrm>
          <a:custGeom>
            <a:avLst/>
            <a:gdLst/>
            <a:ahLst/>
            <a:cxnLst/>
            <a:rect r="r" b="b" t="t" l="l"/>
            <a:pathLst>
              <a:path h="844429" w="965563">
                <a:moveTo>
                  <a:pt x="0" y="0"/>
                </a:moveTo>
                <a:lnTo>
                  <a:pt x="965562" y="0"/>
                </a:lnTo>
                <a:lnTo>
                  <a:pt x="965562" y="844428"/>
                </a:lnTo>
                <a:lnTo>
                  <a:pt x="0" y="84442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0">
            <a:off x="12139854" y="606486"/>
            <a:ext cx="965563" cy="844429"/>
          </a:xfrm>
          <a:custGeom>
            <a:avLst/>
            <a:gdLst/>
            <a:ahLst/>
            <a:cxnLst/>
            <a:rect r="r" b="b" t="t" l="l"/>
            <a:pathLst>
              <a:path h="844429" w="965563">
                <a:moveTo>
                  <a:pt x="965563" y="0"/>
                </a:moveTo>
                <a:lnTo>
                  <a:pt x="0" y="0"/>
                </a:lnTo>
                <a:lnTo>
                  <a:pt x="0" y="844428"/>
                </a:lnTo>
                <a:lnTo>
                  <a:pt x="965563" y="844428"/>
                </a:lnTo>
                <a:lnTo>
                  <a:pt x="965563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523583" y="298229"/>
            <a:ext cx="1010234" cy="1131809"/>
          </a:xfrm>
          <a:custGeom>
            <a:avLst/>
            <a:gdLst/>
            <a:ahLst/>
            <a:cxnLst/>
            <a:rect r="r" b="b" t="t" l="l"/>
            <a:pathLst>
              <a:path h="1131809" w="1010234">
                <a:moveTo>
                  <a:pt x="0" y="0"/>
                </a:moveTo>
                <a:lnTo>
                  <a:pt x="1010234" y="0"/>
                </a:lnTo>
                <a:lnTo>
                  <a:pt x="1010234" y="1131810"/>
                </a:lnTo>
                <a:lnTo>
                  <a:pt x="0" y="113181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4714694" y="2147286"/>
            <a:ext cx="9784531" cy="7017612"/>
          </a:xfrm>
          <a:custGeom>
            <a:avLst/>
            <a:gdLst/>
            <a:ahLst/>
            <a:cxnLst/>
            <a:rect r="r" b="b" t="t" l="l"/>
            <a:pathLst>
              <a:path h="7017612" w="9784531">
                <a:moveTo>
                  <a:pt x="0" y="0"/>
                </a:moveTo>
                <a:lnTo>
                  <a:pt x="9784531" y="0"/>
                </a:lnTo>
                <a:lnTo>
                  <a:pt x="9784531" y="7017612"/>
                </a:lnTo>
                <a:lnTo>
                  <a:pt x="0" y="7017612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-947" r="0" b="-947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5065191" y="281805"/>
            <a:ext cx="7074662" cy="1633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58"/>
              </a:lnSpc>
            </a:pPr>
            <a:r>
              <a:rPr lang="en-US" sz="4930" spc="-207">
                <a:solidFill>
                  <a:srgbClr val="FFFFFF"/>
                </a:solidFill>
                <a:latin typeface="Days"/>
                <a:ea typeface="Days"/>
                <a:cs typeface="Days"/>
                <a:sym typeface="Days"/>
              </a:rPr>
              <a:t>Logika Fungsi </a:t>
            </a:r>
          </a:p>
          <a:p>
            <a:pPr algn="ctr">
              <a:lnSpc>
                <a:spcPts val="6558"/>
              </a:lnSpc>
            </a:pPr>
            <a:r>
              <a:rPr lang="en-US" sz="4930" spc="-207">
                <a:solidFill>
                  <a:srgbClr val="FFFFFF"/>
                </a:solidFill>
                <a:latin typeface="Days"/>
                <a:ea typeface="Days"/>
                <a:cs typeface="Days"/>
                <a:sym typeface="Days"/>
              </a:rPr>
              <a:t>Smart Contact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20893" y="9498276"/>
            <a:ext cx="5542074" cy="411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2"/>
              </a:lnSpc>
            </a:pPr>
            <a:r>
              <a:rPr lang="en-US" sz="2520">
                <a:solidFill>
                  <a:srgbClr val="322230"/>
                </a:solidFill>
                <a:latin typeface="Touvlo"/>
                <a:ea typeface="Touvlo"/>
                <a:cs typeface="Touvlo"/>
                <a:sym typeface="Touvlo"/>
              </a:rPr>
              <a:t>FAKULTAS TELEMATIKA ENERGI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139854" y="9498276"/>
            <a:ext cx="5542074" cy="4060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2"/>
              </a:lnSpc>
            </a:pPr>
            <a:r>
              <a:rPr lang="en-US" sz="2520">
                <a:solidFill>
                  <a:srgbClr val="322230"/>
                </a:solidFill>
                <a:latin typeface="Touvlo"/>
                <a:ea typeface="Touvlo"/>
                <a:cs typeface="Touvlo"/>
                <a:sym typeface="Touvlo"/>
              </a:rPr>
              <a:t>PRODI SISTEM INFORMASI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420893" y="5177178"/>
            <a:ext cx="3456711" cy="1617381"/>
            <a:chOff x="0" y="0"/>
            <a:chExt cx="990987" cy="46367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90987" cy="463679"/>
            </a:xfrm>
            <a:custGeom>
              <a:avLst/>
              <a:gdLst/>
              <a:ahLst/>
              <a:cxnLst/>
              <a:rect r="r" b="b" t="t" l="l"/>
              <a:pathLst>
                <a:path h="463679" w="990987">
                  <a:moveTo>
                    <a:pt x="78389" y="0"/>
                  </a:moveTo>
                  <a:lnTo>
                    <a:pt x="912598" y="0"/>
                  </a:lnTo>
                  <a:cubicBezTo>
                    <a:pt x="955891" y="0"/>
                    <a:pt x="990987" y="35096"/>
                    <a:pt x="990987" y="78389"/>
                  </a:cubicBezTo>
                  <a:lnTo>
                    <a:pt x="990987" y="385290"/>
                  </a:lnTo>
                  <a:cubicBezTo>
                    <a:pt x="990987" y="406080"/>
                    <a:pt x="982728" y="426018"/>
                    <a:pt x="968027" y="440719"/>
                  </a:cubicBezTo>
                  <a:cubicBezTo>
                    <a:pt x="953326" y="455420"/>
                    <a:pt x="933388" y="463679"/>
                    <a:pt x="912598" y="463679"/>
                  </a:cubicBezTo>
                  <a:lnTo>
                    <a:pt x="78389" y="463679"/>
                  </a:lnTo>
                  <a:cubicBezTo>
                    <a:pt x="57599" y="463679"/>
                    <a:pt x="37660" y="455420"/>
                    <a:pt x="22960" y="440719"/>
                  </a:cubicBezTo>
                  <a:cubicBezTo>
                    <a:pt x="8259" y="426018"/>
                    <a:pt x="0" y="406080"/>
                    <a:pt x="0" y="385290"/>
                  </a:cubicBezTo>
                  <a:lnTo>
                    <a:pt x="0" y="78389"/>
                  </a:lnTo>
                  <a:cubicBezTo>
                    <a:pt x="0" y="57599"/>
                    <a:pt x="8259" y="37660"/>
                    <a:pt x="22960" y="22960"/>
                  </a:cubicBezTo>
                  <a:cubicBezTo>
                    <a:pt x="37660" y="8259"/>
                    <a:pt x="57599" y="0"/>
                    <a:pt x="78389" y="0"/>
                  </a:cubicBezTo>
                  <a:close/>
                </a:path>
              </a:pathLst>
            </a:custGeom>
            <a:solidFill>
              <a:srgbClr val="481D9D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990987" cy="4922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2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222024" y="5349449"/>
            <a:ext cx="3877604" cy="1244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2"/>
              </a:lnSpc>
              <a:spcBef>
                <a:spcPct val="0"/>
              </a:spcBef>
            </a:pPr>
            <a:r>
              <a:rPr lang="en-US" sz="2520" u="sng">
                <a:solidFill>
                  <a:srgbClr val="FFFFFF"/>
                </a:solidFill>
                <a:latin typeface="Touvlo"/>
                <a:ea typeface="Touvlo"/>
                <a:cs typeface="Touvlo"/>
                <a:sym typeface="Touvlo"/>
                <a:hlinkClick r:id="rId14" tooltip="https://sttpln-my.sharepoint.com/:f:/g/personal/sultan2332079_itpln_ac_id/IgAJKins2iEyRKycvdRt-go3AUpRcgkcWYLSXbPL6mmBKcE?e=W1cRTC"/>
              </a:rPr>
              <a:t>Link Drive lengkap semua logika fungsi smart contact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9317039">
            <a:off x="-8075290" y="-4033182"/>
            <a:ext cx="18207979" cy="7530252"/>
          </a:xfrm>
          <a:custGeom>
            <a:avLst/>
            <a:gdLst/>
            <a:ahLst/>
            <a:cxnLst/>
            <a:rect r="r" b="b" t="t" l="l"/>
            <a:pathLst>
              <a:path h="7530252" w="18207979">
                <a:moveTo>
                  <a:pt x="0" y="0"/>
                </a:moveTo>
                <a:lnTo>
                  <a:pt x="18207980" y="0"/>
                </a:lnTo>
                <a:lnTo>
                  <a:pt x="18207980" y="7530251"/>
                </a:lnTo>
                <a:lnTo>
                  <a:pt x="0" y="75302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9250924">
            <a:off x="7968489" y="-3765126"/>
            <a:ext cx="18207979" cy="7530252"/>
          </a:xfrm>
          <a:custGeom>
            <a:avLst/>
            <a:gdLst/>
            <a:ahLst/>
            <a:cxnLst/>
            <a:rect r="r" b="b" t="t" l="l"/>
            <a:pathLst>
              <a:path h="7530252" w="18207979">
                <a:moveTo>
                  <a:pt x="18207979" y="0"/>
                </a:moveTo>
                <a:lnTo>
                  <a:pt x="0" y="0"/>
                </a:lnTo>
                <a:lnTo>
                  <a:pt x="0" y="7530252"/>
                </a:lnTo>
                <a:lnTo>
                  <a:pt x="18207979" y="7530252"/>
                </a:lnTo>
                <a:lnTo>
                  <a:pt x="1820797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400000">
            <a:off x="16466928" y="-609971"/>
            <a:ext cx="1211101" cy="2431042"/>
          </a:xfrm>
          <a:custGeom>
            <a:avLst/>
            <a:gdLst/>
            <a:ahLst/>
            <a:cxnLst/>
            <a:rect r="r" b="b" t="t" l="l"/>
            <a:pathLst>
              <a:path h="2431042" w="1211101">
                <a:moveTo>
                  <a:pt x="0" y="0"/>
                </a:moveTo>
                <a:lnTo>
                  <a:pt x="1211101" y="0"/>
                </a:lnTo>
                <a:lnTo>
                  <a:pt x="1211101" y="2431043"/>
                </a:lnTo>
                <a:lnTo>
                  <a:pt x="0" y="243104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144000" y="8913298"/>
            <a:ext cx="4995894" cy="4114800"/>
          </a:xfrm>
          <a:custGeom>
            <a:avLst/>
            <a:gdLst/>
            <a:ahLst/>
            <a:cxnLst/>
            <a:rect r="r" b="b" t="t" l="l"/>
            <a:pathLst>
              <a:path h="4114800" w="4995894">
                <a:moveTo>
                  <a:pt x="0" y="0"/>
                </a:moveTo>
                <a:lnTo>
                  <a:pt x="4995894" y="0"/>
                </a:lnTo>
                <a:lnTo>
                  <a:pt x="499589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9641910">
            <a:off x="4379319" y="8921459"/>
            <a:ext cx="4243373" cy="3757314"/>
          </a:xfrm>
          <a:custGeom>
            <a:avLst/>
            <a:gdLst/>
            <a:ahLst/>
            <a:cxnLst/>
            <a:rect r="r" b="b" t="t" l="l"/>
            <a:pathLst>
              <a:path h="3757314" w="4243373">
                <a:moveTo>
                  <a:pt x="0" y="0"/>
                </a:moveTo>
                <a:lnTo>
                  <a:pt x="4243373" y="0"/>
                </a:lnTo>
                <a:lnTo>
                  <a:pt x="4243373" y="3757314"/>
                </a:lnTo>
                <a:lnTo>
                  <a:pt x="0" y="375731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444120" y="711073"/>
            <a:ext cx="866968" cy="758203"/>
          </a:xfrm>
          <a:custGeom>
            <a:avLst/>
            <a:gdLst/>
            <a:ahLst/>
            <a:cxnLst/>
            <a:rect r="r" b="b" t="t" l="l"/>
            <a:pathLst>
              <a:path h="758203" w="866968">
                <a:moveTo>
                  <a:pt x="0" y="0"/>
                </a:moveTo>
                <a:lnTo>
                  <a:pt x="866969" y="0"/>
                </a:lnTo>
                <a:lnTo>
                  <a:pt x="866969" y="758204"/>
                </a:lnTo>
                <a:lnTo>
                  <a:pt x="0" y="75820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0">
            <a:off x="12787489" y="648790"/>
            <a:ext cx="868817" cy="759820"/>
          </a:xfrm>
          <a:custGeom>
            <a:avLst/>
            <a:gdLst/>
            <a:ahLst/>
            <a:cxnLst/>
            <a:rect r="r" b="b" t="t" l="l"/>
            <a:pathLst>
              <a:path h="759820" w="868817">
                <a:moveTo>
                  <a:pt x="868817" y="0"/>
                </a:moveTo>
                <a:lnTo>
                  <a:pt x="0" y="0"/>
                </a:lnTo>
                <a:lnTo>
                  <a:pt x="0" y="759820"/>
                </a:lnTo>
                <a:lnTo>
                  <a:pt x="868817" y="759820"/>
                </a:lnTo>
                <a:lnTo>
                  <a:pt x="868817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523583" y="298229"/>
            <a:ext cx="1010234" cy="1131809"/>
          </a:xfrm>
          <a:custGeom>
            <a:avLst/>
            <a:gdLst/>
            <a:ahLst/>
            <a:cxnLst/>
            <a:rect r="r" b="b" t="t" l="l"/>
            <a:pathLst>
              <a:path h="1131809" w="1010234">
                <a:moveTo>
                  <a:pt x="0" y="0"/>
                </a:moveTo>
                <a:lnTo>
                  <a:pt x="1010234" y="0"/>
                </a:lnTo>
                <a:lnTo>
                  <a:pt x="1010234" y="1131810"/>
                </a:lnTo>
                <a:lnTo>
                  <a:pt x="0" y="113181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028700" y="1805722"/>
            <a:ext cx="7184872" cy="3825945"/>
          </a:xfrm>
          <a:custGeom>
            <a:avLst/>
            <a:gdLst/>
            <a:ahLst/>
            <a:cxnLst/>
            <a:rect r="r" b="b" t="t" l="l"/>
            <a:pathLst>
              <a:path h="3825945" w="7184872">
                <a:moveTo>
                  <a:pt x="0" y="0"/>
                </a:moveTo>
                <a:lnTo>
                  <a:pt x="7184872" y="0"/>
                </a:lnTo>
                <a:lnTo>
                  <a:pt x="7184872" y="3825945"/>
                </a:lnTo>
                <a:lnTo>
                  <a:pt x="0" y="382594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8849793" y="1805722"/>
            <a:ext cx="7218763" cy="3825945"/>
          </a:xfrm>
          <a:custGeom>
            <a:avLst/>
            <a:gdLst/>
            <a:ahLst/>
            <a:cxnLst/>
            <a:rect r="r" b="b" t="t" l="l"/>
            <a:pathLst>
              <a:path h="3825945" w="7218763">
                <a:moveTo>
                  <a:pt x="0" y="0"/>
                </a:moveTo>
                <a:lnTo>
                  <a:pt x="7218764" y="0"/>
                </a:lnTo>
                <a:lnTo>
                  <a:pt x="7218764" y="3825945"/>
                </a:lnTo>
                <a:lnTo>
                  <a:pt x="0" y="382594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028700" y="5860164"/>
            <a:ext cx="7184872" cy="3799001"/>
          </a:xfrm>
          <a:custGeom>
            <a:avLst/>
            <a:gdLst/>
            <a:ahLst/>
            <a:cxnLst/>
            <a:rect r="r" b="b" t="t" l="l"/>
            <a:pathLst>
              <a:path h="3799001" w="7184872">
                <a:moveTo>
                  <a:pt x="0" y="0"/>
                </a:moveTo>
                <a:lnTo>
                  <a:pt x="7184872" y="0"/>
                </a:lnTo>
                <a:lnTo>
                  <a:pt x="7184872" y="3799001"/>
                </a:lnTo>
                <a:lnTo>
                  <a:pt x="0" y="3799001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958624" y="5882014"/>
            <a:ext cx="7109932" cy="3777152"/>
          </a:xfrm>
          <a:custGeom>
            <a:avLst/>
            <a:gdLst/>
            <a:ahLst/>
            <a:cxnLst/>
            <a:rect r="r" b="b" t="t" l="l"/>
            <a:pathLst>
              <a:path h="3777152" w="7109932">
                <a:moveTo>
                  <a:pt x="0" y="0"/>
                </a:moveTo>
                <a:lnTo>
                  <a:pt x="7109933" y="0"/>
                </a:lnTo>
                <a:lnTo>
                  <a:pt x="7109933" y="3777151"/>
                </a:lnTo>
                <a:lnTo>
                  <a:pt x="0" y="3777151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4528261" y="653923"/>
            <a:ext cx="9611633" cy="692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6"/>
              </a:lnSpc>
            </a:pPr>
            <a:r>
              <a:rPr lang="en-US" sz="4215" spc="-177">
                <a:solidFill>
                  <a:srgbClr val="FFFFFF"/>
                </a:solidFill>
                <a:latin typeface="Days"/>
                <a:ea typeface="Days"/>
                <a:cs typeface="Days"/>
                <a:sym typeface="Days"/>
              </a:rPr>
              <a:t>Sketsa Antar Muka Front-End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69841" y="9875005"/>
            <a:ext cx="5542074" cy="411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2"/>
              </a:lnSpc>
            </a:pPr>
            <a:r>
              <a:rPr lang="en-US" sz="2520">
                <a:solidFill>
                  <a:srgbClr val="322230"/>
                </a:solidFill>
                <a:latin typeface="Touvlo"/>
                <a:ea typeface="Touvlo"/>
                <a:cs typeface="Touvlo"/>
                <a:sym typeface="Touvlo"/>
              </a:rPr>
              <a:t>FAKULTAS TELEMATIKA ENERGI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787489" y="9880937"/>
            <a:ext cx="5542074" cy="4060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2"/>
              </a:lnSpc>
            </a:pPr>
            <a:r>
              <a:rPr lang="en-US" sz="2520">
                <a:solidFill>
                  <a:srgbClr val="322230"/>
                </a:solidFill>
                <a:latin typeface="Touvlo"/>
                <a:ea typeface="Touvlo"/>
                <a:cs typeface="Touvlo"/>
                <a:sym typeface="Touvlo"/>
              </a:rPr>
              <a:t>PRODI SISTEM INFORMASI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9317039">
            <a:off x="-8075290" y="-4033182"/>
            <a:ext cx="18207979" cy="7530252"/>
          </a:xfrm>
          <a:custGeom>
            <a:avLst/>
            <a:gdLst/>
            <a:ahLst/>
            <a:cxnLst/>
            <a:rect r="r" b="b" t="t" l="l"/>
            <a:pathLst>
              <a:path h="7530252" w="18207979">
                <a:moveTo>
                  <a:pt x="0" y="0"/>
                </a:moveTo>
                <a:lnTo>
                  <a:pt x="18207980" y="0"/>
                </a:lnTo>
                <a:lnTo>
                  <a:pt x="18207980" y="7530251"/>
                </a:lnTo>
                <a:lnTo>
                  <a:pt x="0" y="75302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9250924">
            <a:off x="7968489" y="-3765126"/>
            <a:ext cx="18207979" cy="7530252"/>
          </a:xfrm>
          <a:custGeom>
            <a:avLst/>
            <a:gdLst/>
            <a:ahLst/>
            <a:cxnLst/>
            <a:rect r="r" b="b" t="t" l="l"/>
            <a:pathLst>
              <a:path h="7530252" w="18207979">
                <a:moveTo>
                  <a:pt x="18207979" y="0"/>
                </a:moveTo>
                <a:lnTo>
                  <a:pt x="0" y="0"/>
                </a:lnTo>
                <a:lnTo>
                  <a:pt x="0" y="7530252"/>
                </a:lnTo>
                <a:lnTo>
                  <a:pt x="18207979" y="7530252"/>
                </a:lnTo>
                <a:lnTo>
                  <a:pt x="1820797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400000">
            <a:off x="16466928" y="-609971"/>
            <a:ext cx="1211101" cy="2431042"/>
          </a:xfrm>
          <a:custGeom>
            <a:avLst/>
            <a:gdLst/>
            <a:ahLst/>
            <a:cxnLst/>
            <a:rect r="r" b="b" t="t" l="l"/>
            <a:pathLst>
              <a:path h="2431042" w="1211101">
                <a:moveTo>
                  <a:pt x="0" y="0"/>
                </a:moveTo>
                <a:lnTo>
                  <a:pt x="1211101" y="0"/>
                </a:lnTo>
                <a:lnTo>
                  <a:pt x="1211101" y="2431043"/>
                </a:lnTo>
                <a:lnTo>
                  <a:pt x="0" y="243104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144000" y="8913298"/>
            <a:ext cx="4995894" cy="4114800"/>
          </a:xfrm>
          <a:custGeom>
            <a:avLst/>
            <a:gdLst/>
            <a:ahLst/>
            <a:cxnLst/>
            <a:rect r="r" b="b" t="t" l="l"/>
            <a:pathLst>
              <a:path h="4114800" w="4995894">
                <a:moveTo>
                  <a:pt x="0" y="0"/>
                </a:moveTo>
                <a:lnTo>
                  <a:pt x="4995894" y="0"/>
                </a:lnTo>
                <a:lnTo>
                  <a:pt x="499589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9641910">
            <a:off x="4379319" y="8921459"/>
            <a:ext cx="4243373" cy="3757314"/>
          </a:xfrm>
          <a:custGeom>
            <a:avLst/>
            <a:gdLst/>
            <a:ahLst/>
            <a:cxnLst/>
            <a:rect r="r" b="b" t="t" l="l"/>
            <a:pathLst>
              <a:path h="3757314" w="4243373">
                <a:moveTo>
                  <a:pt x="0" y="0"/>
                </a:moveTo>
                <a:lnTo>
                  <a:pt x="4243373" y="0"/>
                </a:lnTo>
                <a:lnTo>
                  <a:pt x="4243373" y="3757314"/>
                </a:lnTo>
                <a:lnTo>
                  <a:pt x="0" y="375731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444120" y="711073"/>
            <a:ext cx="866968" cy="758203"/>
          </a:xfrm>
          <a:custGeom>
            <a:avLst/>
            <a:gdLst/>
            <a:ahLst/>
            <a:cxnLst/>
            <a:rect r="r" b="b" t="t" l="l"/>
            <a:pathLst>
              <a:path h="758203" w="866968">
                <a:moveTo>
                  <a:pt x="0" y="0"/>
                </a:moveTo>
                <a:lnTo>
                  <a:pt x="866969" y="0"/>
                </a:lnTo>
                <a:lnTo>
                  <a:pt x="866969" y="758204"/>
                </a:lnTo>
                <a:lnTo>
                  <a:pt x="0" y="75820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0">
            <a:off x="12787489" y="648790"/>
            <a:ext cx="868817" cy="759820"/>
          </a:xfrm>
          <a:custGeom>
            <a:avLst/>
            <a:gdLst/>
            <a:ahLst/>
            <a:cxnLst/>
            <a:rect r="r" b="b" t="t" l="l"/>
            <a:pathLst>
              <a:path h="759820" w="868817">
                <a:moveTo>
                  <a:pt x="868817" y="0"/>
                </a:moveTo>
                <a:lnTo>
                  <a:pt x="0" y="0"/>
                </a:lnTo>
                <a:lnTo>
                  <a:pt x="0" y="759820"/>
                </a:lnTo>
                <a:lnTo>
                  <a:pt x="868817" y="759820"/>
                </a:lnTo>
                <a:lnTo>
                  <a:pt x="868817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523583" y="298229"/>
            <a:ext cx="1010234" cy="1131809"/>
          </a:xfrm>
          <a:custGeom>
            <a:avLst/>
            <a:gdLst/>
            <a:ahLst/>
            <a:cxnLst/>
            <a:rect r="r" b="b" t="t" l="l"/>
            <a:pathLst>
              <a:path h="1131809" w="1010234">
                <a:moveTo>
                  <a:pt x="0" y="0"/>
                </a:moveTo>
                <a:lnTo>
                  <a:pt x="1010234" y="0"/>
                </a:lnTo>
                <a:lnTo>
                  <a:pt x="1010234" y="1131810"/>
                </a:lnTo>
                <a:lnTo>
                  <a:pt x="0" y="113181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028700" y="1841647"/>
            <a:ext cx="7184872" cy="3790020"/>
          </a:xfrm>
          <a:custGeom>
            <a:avLst/>
            <a:gdLst/>
            <a:ahLst/>
            <a:cxnLst/>
            <a:rect r="r" b="b" t="t" l="l"/>
            <a:pathLst>
              <a:path h="3790020" w="7184872">
                <a:moveTo>
                  <a:pt x="0" y="0"/>
                </a:moveTo>
                <a:lnTo>
                  <a:pt x="7184872" y="0"/>
                </a:lnTo>
                <a:lnTo>
                  <a:pt x="7184872" y="3790020"/>
                </a:lnTo>
                <a:lnTo>
                  <a:pt x="0" y="379002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8880813" y="1841647"/>
            <a:ext cx="7265556" cy="3850745"/>
          </a:xfrm>
          <a:custGeom>
            <a:avLst/>
            <a:gdLst/>
            <a:ahLst/>
            <a:cxnLst/>
            <a:rect r="r" b="b" t="t" l="l"/>
            <a:pathLst>
              <a:path h="3850745" w="7265556">
                <a:moveTo>
                  <a:pt x="0" y="0"/>
                </a:moveTo>
                <a:lnTo>
                  <a:pt x="7265556" y="0"/>
                </a:lnTo>
                <a:lnTo>
                  <a:pt x="7265556" y="3850744"/>
                </a:lnTo>
                <a:lnTo>
                  <a:pt x="0" y="385074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063177" y="5882014"/>
            <a:ext cx="7150395" cy="3789709"/>
          </a:xfrm>
          <a:custGeom>
            <a:avLst/>
            <a:gdLst/>
            <a:ahLst/>
            <a:cxnLst/>
            <a:rect r="r" b="b" t="t" l="l"/>
            <a:pathLst>
              <a:path h="3789709" w="7150395">
                <a:moveTo>
                  <a:pt x="0" y="0"/>
                </a:moveTo>
                <a:lnTo>
                  <a:pt x="7150395" y="0"/>
                </a:lnTo>
                <a:lnTo>
                  <a:pt x="7150395" y="3789709"/>
                </a:lnTo>
                <a:lnTo>
                  <a:pt x="0" y="378970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880813" y="5882014"/>
            <a:ext cx="7167085" cy="3807514"/>
          </a:xfrm>
          <a:custGeom>
            <a:avLst/>
            <a:gdLst/>
            <a:ahLst/>
            <a:cxnLst/>
            <a:rect r="r" b="b" t="t" l="l"/>
            <a:pathLst>
              <a:path h="3807514" w="7167085">
                <a:moveTo>
                  <a:pt x="0" y="0"/>
                </a:moveTo>
                <a:lnTo>
                  <a:pt x="7167084" y="0"/>
                </a:lnTo>
                <a:lnTo>
                  <a:pt x="7167084" y="3807513"/>
                </a:lnTo>
                <a:lnTo>
                  <a:pt x="0" y="3807513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4528261" y="653923"/>
            <a:ext cx="9611633" cy="692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6"/>
              </a:lnSpc>
            </a:pPr>
            <a:r>
              <a:rPr lang="en-US" sz="4215" spc="-177">
                <a:solidFill>
                  <a:srgbClr val="FFFFFF"/>
                </a:solidFill>
                <a:latin typeface="Days"/>
                <a:ea typeface="Days"/>
                <a:cs typeface="Days"/>
                <a:sym typeface="Days"/>
              </a:rPr>
              <a:t>Sketsa Antar Muka Front-End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69841" y="9875005"/>
            <a:ext cx="5542074" cy="411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2"/>
              </a:lnSpc>
            </a:pPr>
            <a:r>
              <a:rPr lang="en-US" sz="2520">
                <a:solidFill>
                  <a:srgbClr val="322230"/>
                </a:solidFill>
                <a:latin typeface="Touvlo"/>
                <a:ea typeface="Touvlo"/>
                <a:cs typeface="Touvlo"/>
                <a:sym typeface="Touvlo"/>
              </a:rPr>
              <a:t>FAKULTAS TELEMATIKA ENERGI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787489" y="9880937"/>
            <a:ext cx="5542074" cy="4060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2"/>
              </a:lnSpc>
            </a:pPr>
            <a:r>
              <a:rPr lang="en-US" sz="2520">
                <a:solidFill>
                  <a:srgbClr val="322230"/>
                </a:solidFill>
                <a:latin typeface="Touvlo"/>
                <a:ea typeface="Touvlo"/>
                <a:cs typeface="Touvlo"/>
                <a:sym typeface="Touvlo"/>
              </a:rPr>
              <a:t>PRODI SISTEM INFORMASI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9317039">
            <a:off x="-8075290" y="-4033182"/>
            <a:ext cx="18207979" cy="7530252"/>
          </a:xfrm>
          <a:custGeom>
            <a:avLst/>
            <a:gdLst/>
            <a:ahLst/>
            <a:cxnLst/>
            <a:rect r="r" b="b" t="t" l="l"/>
            <a:pathLst>
              <a:path h="7530252" w="18207979">
                <a:moveTo>
                  <a:pt x="0" y="0"/>
                </a:moveTo>
                <a:lnTo>
                  <a:pt x="18207980" y="0"/>
                </a:lnTo>
                <a:lnTo>
                  <a:pt x="18207980" y="7530251"/>
                </a:lnTo>
                <a:lnTo>
                  <a:pt x="0" y="75302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9250924">
            <a:off x="7968489" y="-3765126"/>
            <a:ext cx="18207979" cy="7530252"/>
          </a:xfrm>
          <a:custGeom>
            <a:avLst/>
            <a:gdLst/>
            <a:ahLst/>
            <a:cxnLst/>
            <a:rect r="r" b="b" t="t" l="l"/>
            <a:pathLst>
              <a:path h="7530252" w="18207979">
                <a:moveTo>
                  <a:pt x="18207979" y="0"/>
                </a:moveTo>
                <a:lnTo>
                  <a:pt x="0" y="0"/>
                </a:lnTo>
                <a:lnTo>
                  <a:pt x="0" y="7530252"/>
                </a:lnTo>
                <a:lnTo>
                  <a:pt x="18207979" y="7530252"/>
                </a:lnTo>
                <a:lnTo>
                  <a:pt x="1820797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400000">
            <a:off x="16466928" y="-609971"/>
            <a:ext cx="1211101" cy="2431042"/>
          </a:xfrm>
          <a:custGeom>
            <a:avLst/>
            <a:gdLst/>
            <a:ahLst/>
            <a:cxnLst/>
            <a:rect r="r" b="b" t="t" l="l"/>
            <a:pathLst>
              <a:path h="2431042" w="1211101">
                <a:moveTo>
                  <a:pt x="0" y="0"/>
                </a:moveTo>
                <a:lnTo>
                  <a:pt x="1211101" y="0"/>
                </a:lnTo>
                <a:lnTo>
                  <a:pt x="1211101" y="2431043"/>
                </a:lnTo>
                <a:lnTo>
                  <a:pt x="0" y="243104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144000" y="8913298"/>
            <a:ext cx="4995894" cy="4114800"/>
          </a:xfrm>
          <a:custGeom>
            <a:avLst/>
            <a:gdLst/>
            <a:ahLst/>
            <a:cxnLst/>
            <a:rect r="r" b="b" t="t" l="l"/>
            <a:pathLst>
              <a:path h="4114800" w="4995894">
                <a:moveTo>
                  <a:pt x="0" y="0"/>
                </a:moveTo>
                <a:lnTo>
                  <a:pt x="4995894" y="0"/>
                </a:lnTo>
                <a:lnTo>
                  <a:pt x="499589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9641910">
            <a:off x="4379319" y="8921459"/>
            <a:ext cx="4243373" cy="3757314"/>
          </a:xfrm>
          <a:custGeom>
            <a:avLst/>
            <a:gdLst/>
            <a:ahLst/>
            <a:cxnLst/>
            <a:rect r="r" b="b" t="t" l="l"/>
            <a:pathLst>
              <a:path h="3757314" w="4243373">
                <a:moveTo>
                  <a:pt x="0" y="0"/>
                </a:moveTo>
                <a:lnTo>
                  <a:pt x="4243373" y="0"/>
                </a:lnTo>
                <a:lnTo>
                  <a:pt x="4243373" y="3757314"/>
                </a:lnTo>
                <a:lnTo>
                  <a:pt x="0" y="375731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444120" y="711073"/>
            <a:ext cx="866968" cy="758203"/>
          </a:xfrm>
          <a:custGeom>
            <a:avLst/>
            <a:gdLst/>
            <a:ahLst/>
            <a:cxnLst/>
            <a:rect r="r" b="b" t="t" l="l"/>
            <a:pathLst>
              <a:path h="758203" w="866968">
                <a:moveTo>
                  <a:pt x="0" y="0"/>
                </a:moveTo>
                <a:lnTo>
                  <a:pt x="866969" y="0"/>
                </a:lnTo>
                <a:lnTo>
                  <a:pt x="866969" y="758204"/>
                </a:lnTo>
                <a:lnTo>
                  <a:pt x="0" y="75820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0">
            <a:off x="12787489" y="648790"/>
            <a:ext cx="868817" cy="759820"/>
          </a:xfrm>
          <a:custGeom>
            <a:avLst/>
            <a:gdLst/>
            <a:ahLst/>
            <a:cxnLst/>
            <a:rect r="r" b="b" t="t" l="l"/>
            <a:pathLst>
              <a:path h="759820" w="868817">
                <a:moveTo>
                  <a:pt x="868817" y="0"/>
                </a:moveTo>
                <a:lnTo>
                  <a:pt x="0" y="0"/>
                </a:lnTo>
                <a:lnTo>
                  <a:pt x="0" y="759820"/>
                </a:lnTo>
                <a:lnTo>
                  <a:pt x="868817" y="759820"/>
                </a:lnTo>
                <a:lnTo>
                  <a:pt x="868817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523583" y="298229"/>
            <a:ext cx="1010234" cy="1131809"/>
          </a:xfrm>
          <a:custGeom>
            <a:avLst/>
            <a:gdLst/>
            <a:ahLst/>
            <a:cxnLst/>
            <a:rect r="r" b="b" t="t" l="l"/>
            <a:pathLst>
              <a:path h="1131809" w="1010234">
                <a:moveTo>
                  <a:pt x="0" y="0"/>
                </a:moveTo>
                <a:lnTo>
                  <a:pt x="1010234" y="0"/>
                </a:lnTo>
                <a:lnTo>
                  <a:pt x="1010234" y="1131810"/>
                </a:lnTo>
                <a:lnTo>
                  <a:pt x="0" y="113181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079417" y="1902371"/>
            <a:ext cx="7134156" cy="3790020"/>
          </a:xfrm>
          <a:custGeom>
            <a:avLst/>
            <a:gdLst/>
            <a:ahLst/>
            <a:cxnLst/>
            <a:rect r="r" b="b" t="t" l="l"/>
            <a:pathLst>
              <a:path h="3790020" w="7134156">
                <a:moveTo>
                  <a:pt x="0" y="0"/>
                </a:moveTo>
                <a:lnTo>
                  <a:pt x="7134155" y="0"/>
                </a:lnTo>
                <a:lnTo>
                  <a:pt x="7134155" y="3790020"/>
                </a:lnTo>
                <a:lnTo>
                  <a:pt x="0" y="379002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8783461" y="1918484"/>
            <a:ext cx="7103826" cy="3773908"/>
          </a:xfrm>
          <a:custGeom>
            <a:avLst/>
            <a:gdLst/>
            <a:ahLst/>
            <a:cxnLst/>
            <a:rect r="r" b="b" t="t" l="l"/>
            <a:pathLst>
              <a:path h="3773908" w="7103826">
                <a:moveTo>
                  <a:pt x="0" y="0"/>
                </a:moveTo>
                <a:lnTo>
                  <a:pt x="7103826" y="0"/>
                </a:lnTo>
                <a:lnTo>
                  <a:pt x="7103826" y="3773907"/>
                </a:lnTo>
                <a:lnTo>
                  <a:pt x="0" y="3773907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079417" y="5898662"/>
            <a:ext cx="7150395" cy="3798647"/>
          </a:xfrm>
          <a:custGeom>
            <a:avLst/>
            <a:gdLst/>
            <a:ahLst/>
            <a:cxnLst/>
            <a:rect r="r" b="b" t="t" l="l"/>
            <a:pathLst>
              <a:path h="3798647" w="7150395">
                <a:moveTo>
                  <a:pt x="0" y="0"/>
                </a:moveTo>
                <a:lnTo>
                  <a:pt x="7150395" y="0"/>
                </a:lnTo>
                <a:lnTo>
                  <a:pt x="7150395" y="3798647"/>
                </a:lnTo>
                <a:lnTo>
                  <a:pt x="0" y="3798647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4528261" y="653923"/>
            <a:ext cx="9611633" cy="692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6"/>
              </a:lnSpc>
            </a:pPr>
            <a:r>
              <a:rPr lang="en-US" sz="4215" spc="-177">
                <a:solidFill>
                  <a:srgbClr val="FFFFFF"/>
                </a:solidFill>
                <a:latin typeface="Days"/>
                <a:ea typeface="Days"/>
                <a:cs typeface="Days"/>
                <a:sym typeface="Days"/>
              </a:rPr>
              <a:t>Sketsa Antar Muka Front-End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69841" y="9875005"/>
            <a:ext cx="5542074" cy="411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2"/>
              </a:lnSpc>
            </a:pPr>
            <a:r>
              <a:rPr lang="en-US" sz="2520">
                <a:solidFill>
                  <a:srgbClr val="322230"/>
                </a:solidFill>
                <a:latin typeface="Touvlo"/>
                <a:ea typeface="Touvlo"/>
                <a:cs typeface="Touvlo"/>
                <a:sym typeface="Touvlo"/>
              </a:rPr>
              <a:t>FAKULTAS TELEMATIKA ENERGI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787489" y="9880937"/>
            <a:ext cx="5542074" cy="4060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2"/>
              </a:lnSpc>
            </a:pPr>
            <a:r>
              <a:rPr lang="en-US" sz="2520">
                <a:solidFill>
                  <a:srgbClr val="322230"/>
                </a:solidFill>
                <a:latin typeface="Touvlo"/>
                <a:ea typeface="Touvlo"/>
                <a:cs typeface="Touvlo"/>
                <a:sym typeface="Touvlo"/>
              </a:rPr>
              <a:t>PRODI SISTEM INFORMASI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-5257779">
            <a:off x="10285327" y="1378374"/>
            <a:ext cx="18207979" cy="7530252"/>
          </a:xfrm>
          <a:custGeom>
            <a:avLst/>
            <a:gdLst/>
            <a:ahLst/>
            <a:cxnLst/>
            <a:rect r="r" b="b" t="t" l="l"/>
            <a:pathLst>
              <a:path h="7530252" w="18207979">
                <a:moveTo>
                  <a:pt x="18207979" y="0"/>
                </a:moveTo>
                <a:lnTo>
                  <a:pt x="0" y="0"/>
                </a:lnTo>
                <a:lnTo>
                  <a:pt x="0" y="7530252"/>
                </a:lnTo>
                <a:lnTo>
                  <a:pt x="18207979" y="7530252"/>
                </a:lnTo>
                <a:lnTo>
                  <a:pt x="1820797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-5257779">
            <a:off x="-10527233" y="1378374"/>
            <a:ext cx="18207979" cy="7530252"/>
          </a:xfrm>
          <a:custGeom>
            <a:avLst/>
            <a:gdLst/>
            <a:ahLst/>
            <a:cxnLst/>
            <a:rect r="r" b="b" t="t" l="l"/>
            <a:pathLst>
              <a:path h="7530252" w="18207979">
                <a:moveTo>
                  <a:pt x="0" y="7530252"/>
                </a:moveTo>
                <a:lnTo>
                  <a:pt x="18207979" y="7530252"/>
                </a:lnTo>
                <a:lnTo>
                  <a:pt x="18207979" y="0"/>
                </a:lnTo>
                <a:lnTo>
                  <a:pt x="0" y="0"/>
                </a:lnTo>
                <a:lnTo>
                  <a:pt x="0" y="753025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400000">
            <a:off x="15758238" y="-847347"/>
            <a:ext cx="1682414" cy="3377109"/>
          </a:xfrm>
          <a:custGeom>
            <a:avLst/>
            <a:gdLst/>
            <a:ahLst/>
            <a:cxnLst/>
            <a:rect r="r" b="b" t="t" l="l"/>
            <a:pathLst>
              <a:path h="3377109" w="1682414">
                <a:moveTo>
                  <a:pt x="0" y="0"/>
                </a:moveTo>
                <a:lnTo>
                  <a:pt x="1682415" y="0"/>
                </a:lnTo>
                <a:lnTo>
                  <a:pt x="1682415" y="3377109"/>
                </a:lnTo>
                <a:lnTo>
                  <a:pt x="0" y="33771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-5400000">
            <a:off x="847347" y="-847347"/>
            <a:ext cx="1682414" cy="3377109"/>
          </a:xfrm>
          <a:custGeom>
            <a:avLst/>
            <a:gdLst/>
            <a:ahLst/>
            <a:cxnLst/>
            <a:rect r="r" b="b" t="t" l="l"/>
            <a:pathLst>
              <a:path h="3377109" w="1682414">
                <a:moveTo>
                  <a:pt x="0" y="3377109"/>
                </a:moveTo>
                <a:lnTo>
                  <a:pt x="1682415" y="3377109"/>
                </a:lnTo>
                <a:lnTo>
                  <a:pt x="1682415" y="0"/>
                </a:lnTo>
                <a:lnTo>
                  <a:pt x="0" y="0"/>
                </a:lnTo>
                <a:lnTo>
                  <a:pt x="0" y="337710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037115" y="3257804"/>
            <a:ext cx="12213770" cy="1885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366"/>
              </a:lnSpc>
            </a:pPr>
            <a:r>
              <a:rPr lang="en-US" sz="11553" spc="-485">
                <a:solidFill>
                  <a:srgbClr val="FFFFFF"/>
                </a:solidFill>
                <a:latin typeface="Days"/>
                <a:ea typeface="Days"/>
                <a:cs typeface="Days"/>
                <a:sym typeface="Days"/>
              </a:rPr>
              <a:t>THANKS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139854" y="9498276"/>
            <a:ext cx="5542074" cy="4060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2"/>
              </a:lnSpc>
            </a:pPr>
            <a:r>
              <a:rPr lang="en-US" sz="2520">
                <a:solidFill>
                  <a:srgbClr val="322230"/>
                </a:solidFill>
                <a:latin typeface="Touvlo"/>
                <a:ea typeface="Touvlo"/>
                <a:cs typeface="Touvlo"/>
                <a:sym typeface="Touvlo"/>
              </a:rPr>
              <a:t>PRODI SISTEM INFORMASI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8335663" y="337255"/>
            <a:ext cx="1616674" cy="1811231"/>
          </a:xfrm>
          <a:custGeom>
            <a:avLst/>
            <a:gdLst/>
            <a:ahLst/>
            <a:cxnLst/>
            <a:rect r="r" b="b" t="t" l="l"/>
            <a:pathLst>
              <a:path h="1811231" w="1616674">
                <a:moveTo>
                  <a:pt x="0" y="0"/>
                </a:moveTo>
                <a:lnTo>
                  <a:pt x="1616674" y="0"/>
                </a:lnTo>
                <a:lnTo>
                  <a:pt x="1616674" y="1811231"/>
                </a:lnTo>
                <a:lnTo>
                  <a:pt x="0" y="181123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6191467" y="5292478"/>
            <a:ext cx="5905067" cy="1105858"/>
            <a:chOff x="0" y="0"/>
            <a:chExt cx="7873423" cy="147447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873423" cy="1474477"/>
            </a:xfrm>
            <a:custGeom>
              <a:avLst/>
              <a:gdLst/>
              <a:ahLst/>
              <a:cxnLst/>
              <a:rect r="r" b="b" t="t" l="l"/>
              <a:pathLst>
                <a:path h="1474477" w="7873423">
                  <a:moveTo>
                    <a:pt x="0" y="0"/>
                  </a:moveTo>
                  <a:lnTo>
                    <a:pt x="7873423" y="0"/>
                  </a:lnTo>
                  <a:lnTo>
                    <a:pt x="7873423" y="1474477"/>
                  </a:lnTo>
                  <a:lnTo>
                    <a:pt x="0" y="14744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 rot="0">
              <a:off x="442798" y="355989"/>
              <a:ext cx="6987826" cy="724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573"/>
                </a:lnSpc>
              </a:pPr>
              <a:r>
                <a:rPr lang="en-US" sz="3438" spc="-144">
                  <a:solidFill>
                    <a:srgbClr val="FFE9B2"/>
                  </a:solidFill>
                  <a:latin typeface="Days"/>
                  <a:ea typeface="Days"/>
                  <a:cs typeface="Days"/>
                  <a:sym typeface="Days"/>
                </a:rPr>
                <a:t>ANY QUESTIONS?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420893" y="9498276"/>
            <a:ext cx="5542074" cy="411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2"/>
              </a:lnSpc>
            </a:pPr>
            <a:r>
              <a:rPr lang="en-US" sz="2520">
                <a:solidFill>
                  <a:srgbClr val="322230"/>
                </a:solidFill>
                <a:latin typeface="Touvlo"/>
                <a:ea typeface="Touvlo"/>
                <a:cs typeface="Touvlo"/>
                <a:sym typeface="Touvlo"/>
              </a:rPr>
              <a:t>FAKULTAS TELEMATIKA ENERGI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DAHIWNyx89A</dc:identifier>
  <dcterms:modified xsi:type="dcterms:W3CDTF">2011-08-01T06:04:30Z</dcterms:modified>
  <cp:revision>1</cp:revision>
  <dc:title>UTS_Kelompok 5_Teknologi Blockchain_C</dc:title>
</cp:coreProperties>
</file>