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x="18288000" cy="10287000"/>
  <p:notesSz cx="6858000" cy="9144000"/>
  <p:embeddedFontLst>
    <p:embeddedFont>
      <p:font typeface="Open Sans Bold" charset="1" panose="020B0806030504020204"/>
      <p:regular r:id="rId21"/>
    </p:embeddedFont>
    <p:embeddedFont>
      <p:font typeface="Open Sans Bold Italics" charset="1" panose="020B0806030504020204"/>
      <p:regular r:id="rId22"/>
    </p:embeddedFont>
    <p:embeddedFont>
      <p:font typeface="Open Sans" charset="1" panose="020B0606030504020204"/>
      <p:regular r:id="rId23"/>
    </p:embeddedFont>
    <p:embeddedFont>
      <p:font typeface="Open Sans Italics" charset="1" panose="020B0606030504020204"/>
      <p:regular r:id="rId2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4.png" Type="http://schemas.openxmlformats.org/officeDocument/2006/relationships/image"/><Relationship Id="rId4" Target="../media/image5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6.png" Type="http://schemas.openxmlformats.org/officeDocument/2006/relationships/image"/><Relationship Id="rId4" Target="../media/image7.png" Type="http://schemas.openxmlformats.org/officeDocument/2006/relationships/image"/><Relationship Id="rId5" Target="../media/image8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9.png" Type="http://schemas.openxmlformats.org/officeDocument/2006/relationships/image"/><Relationship Id="rId4" Target="../media/image10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11.png" Type="http://schemas.openxmlformats.org/officeDocument/2006/relationships/image"/><Relationship Id="rId4" Target="../media/image12.png" Type="http://schemas.openxmlformats.org/officeDocument/2006/relationships/image"/><Relationship Id="rId5" Target="../media/image13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14.png" Type="http://schemas.openxmlformats.org/officeDocument/2006/relationships/image"/><Relationship Id="rId4" Target="../media/image15.png" Type="http://schemas.openxmlformats.org/officeDocument/2006/relationships/image"/><Relationship Id="rId5" Target="../media/image16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17.png" Type="http://schemas.openxmlformats.org/officeDocument/2006/relationships/image"/><Relationship Id="rId4" Target="../media/image18.png" Type="http://schemas.openxmlformats.org/officeDocument/2006/relationships/image"/><Relationship Id="rId5" Target="../media/image19.png" Type="http://schemas.openxmlformats.org/officeDocument/2006/relationships/image"/><Relationship Id="rId6" Target="../media/image20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1.png" Type="http://schemas.openxmlformats.org/officeDocument/2006/relationships/image"/><Relationship Id="rId4" Target="../media/image22.png" Type="http://schemas.openxmlformats.org/officeDocument/2006/relationships/image"/><Relationship Id="rId5" Target="../media/image23.png" Type="http://schemas.openxmlformats.org/officeDocument/2006/relationships/image"/><Relationship Id="rId6" Target="../media/image24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5.jpeg" Type="http://schemas.openxmlformats.org/officeDocument/2006/relationships/image"/><Relationship Id="rId4" Target="../media/image26.jpe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7.png" Type="http://schemas.openxmlformats.org/officeDocument/2006/relationships/image"/><Relationship Id="rId4" Target="https://github.com/alfifaza/Kelompok-5_Teknologi-Blockchain_C.git" TargetMode="External" Type="http://schemas.openxmlformats.org/officeDocument/2006/relationships/hyperlink"/><Relationship Id="rId5" Target="https://drive.google.com/drive/folders/1AK57PUgWu1jg86_BYhKdWccRsFNQKWU9" TargetMode="External" Type="http://schemas.openxmlformats.org/officeDocument/2006/relationships/hyperlink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8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7713580" y="954082"/>
            <a:ext cx="2860841" cy="1072815"/>
          </a:xfrm>
          <a:custGeom>
            <a:avLst/>
            <a:gdLst/>
            <a:ahLst/>
            <a:cxnLst/>
            <a:rect r="r" b="b" t="t" l="l"/>
            <a:pathLst>
              <a:path h="1072815" w="2860841">
                <a:moveTo>
                  <a:pt x="0" y="0"/>
                </a:moveTo>
                <a:lnTo>
                  <a:pt x="2860840" y="0"/>
                </a:lnTo>
                <a:lnTo>
                  <a:pt x="2860840" y="1072816"/>
                </a:lnTo>
                <a:lnTo>
                  <a:pt x="0" y="107281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7165928" y="2360273"/>
            <a:ext cx="3956145" cy="750044"/>
            <a:chOff x="0" y="0"/>
            <a:chExt cx="814022" cy="15433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4022" cy="154330"/>
            </a:xfrm>
            <a:custGeom>
              <a:avLst/>
              <a:gdLst/>
              <a:ahLst/>
              <a:cxnLst/>
              <a:rect r="r" b="b" t="t" l="l"/>
              <a:pathLst>
                <a:path h="154330" w="814022">
                  <a:moveTo>
                    <a:pt x="45866" y="0"/>
                  </a:moveTo>
                  <a:lnTo>
                    <a:pt x="768156" y="0"/>
                  </a:lnTo>
                  <a:cubicBezTo>
                    <a:pt x="780320" y="0"/>
                    <a:pt x="791986" y="4832"/>
                    <a:pt x="800588" y="13434"/>
                  </a:cubicBezTo>
                  <a:cubicBezTo>
                    <a:pt x="809189" y="22035"/>
                    <a:pt x="814022" y="33701"/>
                    <a:pt x="814022" y="45866"/>
                  </a:cubicBezTo>
                  <a:lnTo>
                    <a:pt x="814022" y="108464"/>
                  </a:lnTo>
                  <a:cubicBezTo>
                    <a:pt x="814022" y="133795"/>
                    <a:pt x="793487" y="154330"/>
                    <a:pt x="768156" y="154330"/>
                  </a:cubicBezTo>
                  <a:lnTo>
                    <a:pt x="45866" y="154330"/>
                  </a:lnTo>
                  <a:cubicBezTo>
                    <a:pt x="20535" y="154330"/>
                    <a:pt x="0" y="133795"/>
                    <a:pt x="0" y="108464"/>
                  </a:cubicBezTo>
                  <a:lnTo>
                    <a:pt x="0" y="45866"/>
                  </a:lnTo>
                  <a:cubicBezTo>
                    <a:pt x="0" y="20535"/>
                    <a:pt x="20535" y="0"/>
                    <a:pt x="45866" y="0"/>
                  </a:cubicBezTo>
                  <a:close/>
                </a:path>
              </a:pathLst>
            </a:custGeom>
            <a:solidFill>
              <a:srgbClr val="2081A5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814022" cy="20195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2909305" y="3257954"/>
            <a:ext cx="12469390" cy="2362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99"/>
              </a:lnSpc>
            </a:pPr>
            <a:r>
              <a:rPr lang="en-US" b="true" sz="450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IMPLEMENTASI SMART CONTRACT</a:t>
            </a:r>
            <a:r>
              <a:rPr lang="en-US" b="true" sz="450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PADA </a:t>
            </a:r>
          </a:p>
          <a:p>
            <a:pPr algn="ctr">
              <a:lnSpc>
                <a:spcPts val="6299"/>
              </a:lnSpc>
            </a:pPr>
            <a:r>
              <a:rPr lang="en-US" b="true" sz="450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SISTEM REKAM MEDIS ELEKTRONIK (RME) TERDESENTRALISASI 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4272440" y="5782079"/>
            <a:ext cx="9743119" cy="596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00"/>
              </a:lnSpc>
            </a:pPr>
            <a:r>
              <a:rPr lang="en-US" b="true" sz="3500" i="true">
                <a:solidFill>
                  <a:srgbClr val="2081A5"/>
                </a:solidFill>
                <a:latin typeface="Open Sans Bold Italics"/>
                <a:ea typeface="Open Sans Bold Italics"/>
                <a:cs typeface="Open Sans Bold Italics"/>
                <a:sym typeface="Open Sans Bold Italics"/>
              </a:rPr>
              <a:t>MENGGUNAKAN ETHEREUM SEPOLIA TESNET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7127111" y="2403507"/>
            <a:ext cx="4033778" cy="596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00"/>
              </a:lnSpc>
            </a:pPr>
            <a:r>
              <a:rPr lang="en-US" b="true" sz="350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KELOMPOK 5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28700" y="8743950"/>
            <a:ext cx="5313340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b="true">
                <a:solidFill>
                  <a:srgbClr val="2081A5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TEKNOLOGI BLOCKCHAIN C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28700" y="7143750"/>
            <a:ext cx="5929340" cy="1047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b="true">
                <a:solidFill>
                  <a:srgbClr val="2081A5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Dosen Pengampu:</a:t>
            </a:r>
          </a:p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Riani Saputri Abadi, ST, M. Kom.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9086986" y="6745691"/>
            <a:ext cx="8172314" cy="2512609"/>
            <a:chOff x="0" y="0"/>
            <a:chExt cx="1681546" cy="51699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681546" cy="516998"/>
            </a:xfrm>
            <a:custGeom>
              <a:avLst/>
              <a:gdLst/>
              <a:ahLst/>
              <a:cxnLst/>
              <a:rect r="r" b="b" t="t" l="l"/>
              <a:pathLst>
                <a:path h="516998" w="1681546">
                  <a:moveTo>
                    <a:pt x="37005" y="0"/>
                  </a:moveTo>
                  <a:lnTo>
                    <a:pt x="1644541" y="0"/>
                  </a:lnTo>
                  <a:cubicBezTo>
                    <a:pt x="1664978" y="0"/>
                    <a:pt x="1681546" y="16568"/>
                    <a:pt x="1681546" y="37005"/>
                  </a:cubicBezTo>
                  <a:lnTo>
                    <a:pt x="1681546" y="479992"/>
                  </a:lnTo>
                  <a:cubicBezTo>
                    <a:pt x="1681546" y="489807"/>
                    <a:pt x="1677647" y="499219"/>
                    <a:pt x="1670707" y="506159"/>
                  </a:cubicBezTo>
                  <a:cubicBezTo>
                    <a:pt x="1663768" y="513099"/>
                    <a:pt x="1654355" y="516998"/>
                    <a:pt x="1644541" y="516998"/>
                  </a:cubicBezTo>
                  <a:lnTo>
                    <a:pt x="37005" y="516998"/>
                  </a:lnTo>
                  <a:cubicBezTo>
                    <a:pt x="27191" y="516998"/>
                    <a:pt x="17778" y="513099"/>
                    <a:pt x="10839" y="506159"/>
                  </a:cubicBezTo>
                  <a:cubicBezTo>
                    <a:pt x="3899" y="499219"/>
                    <a:pt x="0" y="489807"/>
                    <a:pt x="0" y="479992"/>
                  </a:cubicBezTo>
                  <a:lnTo>
                    <a:pt x="0" y="37005"/>
                  </a:lnTo>
                  <a:cubicBezTo>
                    <a:pt x="0" y="27191"/>
                    <a:pt x="3899" y="17778"/>
                    <a:pt x="10839" y="10839"/>
                  </a:cubicBezTo>
                  <a:cubicBezTo>
                    <a:pt x="17778" y="3899"/>
                    <a:pt x="27191" y="0"/>
                    <a:pt x="37005" y="0"/>
                  </a:cubicBezTo>
                  <a:close/>
                </a:path>
              </a:pathLst>
            </a:custGeom>
            <a:solidFill>
              <a:srgbClr val="2081A5">
                <a:alpha val="19608"/>
              </a:srgbClr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47625"/>
              <a:ext cx="1681546" cy="5646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9331093" y="6916146"/>
            <a:ext cx="7684100" cy="2114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 spc="-126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Fanka Fathiroh                               (</a:t>
            </a:r>
            <a:r>
              <a:rPr lang="en-US" sz="3000" spc="-126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202332053)</a:t>
            </a: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 spc="-126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Muhammad Irawan Siswanto  (202332064)</a:t>
            </a: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 spc="-126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Sultan Nudzul Ikhram                  (202332079)</a:t>
            </a: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 spc="-126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Alfiyah Faza Ilyana                         (202332082)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952500"/>
            <a:ext cx="6710759" cy="752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99"/>
              </a:lnSpc>
            </a:pPr>
            <a:r>
              <a:rPr lang="en-US" sz="4499" b="true">
                <a:solidFill>
                  <a:srgbClr val="2081A5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LATAR BELAKANG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15950267" y="294022"/>
            <a:ext cx="1959140" cy="734678"/>
          </a:xfrm>
          <a:custGeom>
            <a:avLst/>
            <a:gdLst/>
            <a:ahLst/>
            <a:cxnLst/>
            <a:rect r="r" b="b" t="t" l="l"/>
            <a:pathLst>
              <a:path h="734678" w="1959140">
                <a:moveTo>
                  <a:pt x="0" y="0"/>
                </a:moveTo>
                <a:lnTo>
                  <a:pt x="1959140" y="0"/>
                </a:lnTo>
                <a:lnTo>
                  <a:pt x="1959140" y="734678"/>
                </a:lnTo>
                <a:lnTo>
                  <a:pt x="0" y="73467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028700" y="2986657"/>
            <a:ext cx="6710759" cy="800909"/>
            <a:chOff x="0" y="0"/>
            <a:chExt cx="1380815" cy="16479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380815" cy="164796"/>
            </a:xfrm>
            <a:custGeom>
              <a:avLst/>
              <a:gdLst/>
              <a:ahLst/>
              <a:cxnLst/>
              <a:rect r="r" b="b" t="t" l="l"/>
              <a:pathLst>
                <a:path h="164796" w="1380815">
                  <a:moveTo>
                    <a:pt x="45065" y="0"/>
                  </a:moveTo>
                  <a:lnTo>
                    <a:pt x="1335750" y="0"/>
                  </a:lnTo>
                  <a:cubicBezTo>
                    <a:pt x="1360639" y="0"/>
                    <a:pt x="1380815" y="20176"/>
                    <a:pt x="1380815" y="45065"/>
                  </a:cubicBezTo>
                  <a:lnTo>
                    <a:pt x="1380815" y="119731"/>
                  </a:lnTo>
                  <a:cubicBezTo>
                    <a:pt x="1380815" y="144620"/>
                    <a:pt x="1360639" y="164796"/>
                    <a:pt x="1335750" y="164796"/>
                  </a:cubicBezTo>
                  <a:lnTo>
                    <a:pt x="45065" y="164796"/>
                  </a:lnTo>
                  <a:cubicBezTo>
                    <a:pt x="20176" y="164796"/>
                    <a:pt x="0" y="144620"/>
                    <a:pt x="0" y="119731"/>
                  </a:cubicBezTo>
                  <a:lnTo>
                    <a:pt x="0" y="45065"/>
                  </a:lnTo>
                  <a:cubicBezTo>
                    <a:pt x="0" y="20176"/>
                    <a:pt x="20176" y="0"/>
                    <a:pt x="45065" y="0"/>
                  </a:cubicBezTo>
                  <a:close/>
                </a:path>
              </a:pathLst>
            </a:custGeom>
            <a:solidFill>
              <a:srgbClr val="2081A5">
                <a:alpha val="19608"/>
              </a:srgbClr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47625"/>
              <a:ext cx="1380815" cy="21242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1269731" y="3169466"/>
            <a:ext cx="6228698" cy="396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359"/>
              </a:lnSpc>
            </a:pPr>
            <a:r>
              <a:rPr lang="en-US" b="true" sz="2400">
                <a:solidFill>
                  <a:srgbClr val="2081A5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Kerentanan data (</a:t>
            </a:r>
            <a:r>
              <a:rPr lang="en-US" b="true" sz="2400">
                <a:solidFill>
                  <a:srgbClr val="2081A5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single point of failure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1028700" y="2155900"/>
            <a:ext cx="5041172" cy="703091"/>
            <a:chOff x="0" y="0"/>
            <a:chExt cx="1037278" cy="144669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37278" cy="144669"/>
            </a:xfrm>
            <a:custGeom>
              <a:avLst/>
              <a:gdLst/>
              <a:ahLst/>
              <a:cxnLst/>
              <a:rect r="r" b="b" t="t" l="l"/>
              <a:pathLst>
                <a:path h="144669" w="1037278">
                  <a:moveTo>
                    <a:pt x="59990" y="0"/>
                  </a:moveTo>
                  <a:lnTo>
                    <a:pt x="977289" y="0"/>
                  </a:lnTo>
                  <a:cubicBezTo>
                    <a:pt x="993199" y="0"/>
                    <a:pt x="1008457" y="6320"/>
                    <a:pt x="1019708" y="17571"/>
                  </a:cubicBezTo>
                  <a:cubicBezTo>
                    <a:pt x="1030958" y="28821"/>
                    <a:pt x="1037278" y="44079"/>
                    <a:pt x="1037278" y="59990"/>
                  </a:cubicBezTo>
                  <a:lnTo>
                    <a:pt x="1037278" y="84679"/>
                  </a:lnTo>
                  <a:cubicBezTo>
                    <a:pt x="1037278" y="100589"/>
                    <a:pt x="1030958" y="115848"/>
                    <a:pt x="1019708" y="127098"/>
                  </a:cubicBezTo>
                  <a:cubicBezTo>
                    <a:pt x="1008457" y="138349"/>
                    <a:pt x="993199" y="144669"/>
                    <a:pt x="977289" y="144669"/>
                  </a:cubicBezTo>
                  <a:lnTo>
                    <a:pt x="59990" y="144669"/>
                  </a:lnTo>
                  <a:cubicBezTo>
                    <a:pt x="26858" y="144669"/>
                    <a:pt x="0" y="117811"/>
                    <a:pt x="0" y="84679"/>
                  </a:cubicBezTo>
                  <a:lnTo>
                    <a:pt x="0" y="59990"/>
                  </a:lnTo>
                  <a:cubicBezTo>
                    <a:pt x="0" y="44079"/>
                    <a:pt x="6320" y="28821"/>
                    <a:pt x="17571" y="17571"/>
                  </a:cubicBezTo>
                  <a:cubicBezTo>
                    <a:pt x="28821" y="6320"/>
                    <a:pt x="44079" y="0"/>
                    <a:pt x="59990" y="0"/>
                  </a:cubicBezTo>
                  <a:close/>
                </a:path>
              </a:pathLst>
            </a:custGeom>
            <a:solidFill>
              <a:srgbClr val="2081A5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1037278" cy="19229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1193531" y="2290275"/>
            <a:ext cx="4782415" cy="396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b="true" sz="240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PROBL</a:t>
            </a:r>
            <a:r>
              <a:rPr lang="en-US" b="true" sz="240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EMATIKA RME TERPUSAT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1028700" y="3911391"/>
            <a:ext cx="6710759" cy="1232109"/>
            <a:chOff x="0" y="0"/>
            <a:chExt cx="1380815" cy="25352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380815" cy="253520"/>
            </a:xfrm>
            <a:custGeom>
              <a:avLst/>
              <a:gdLst/>
              <a:ahLst/>
              <a:cxnLst/>
              <a:rect r="r" b="b" t="t" l="l"/>
              <a:pathLst>
                <a:path h="253520" w="1380815">
                  <a:moveTo>
                    <a:pt x="45065" y="0"/>
                  </a:moveTo>
                  <a:lnTo>
                    <a:pt x="1335750" y="0"/>
                  </a:lnTo>
                  <a:cubicBezTo>
                    <a:pt x="1360639" y="0"/>
                    <a:pt x="1380815" y="20176"/>
                    <a:pt x="1380815" y="45065"/>
                  </a:cubicBezTo>
                  <a:lnTo>
                    <a:pt x="1380815" y="208456"/>
                  </a:lnTo>
                  <a:cubicBezTo>
                    <a:pt x="1380815" y="233344"/>
                    <a:pt x="1360639" y="253520"/>
                    <a:pt x="1335750" y="253520"/>
                  </a:cubicBezTo>
                  <a:lnTo>
                    <a:pt x="45065" y="253520"/>
                  </a:lnTo>
                  <a:cubicBezTo>
                    <a:pt x="20176" y="253520"/>
                    <a:pt x="0" y="233344"/>
                    <a:pt x="0" y="208456"/>
                  </a:cubicBezTo>
                  <a:lnTo>
                    <a:pt x="0" y="45065"/>
                  </a:lnTo>
                  <a:cubicBezTo>
                    <a:pt x="0" y="20176"/>
                    <a:pt x="20176" y="0"/>
                    <a:pt x="45065" y="0"/>
                  </a:cubicBezTo>
                  <a:close/>
                </a:path>
              </a:pathLst>
            </a:custGeom>
            <a:solidFill>
              <a:srgbClr val="2081A5">
                <a:alpha val="19608"/>
              </a:srgbClr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47625"/>
              <a:ext cx="1380815" cy="3011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1269731" y="4094200"/>
            <a:ext cx="6228698" cy="8153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359"/>
              </a:lnSpc>
            </a:pPr>
            <a:r>
              <a:rPr lang="en-US" sz="2400" b="true">
                <a:solidFill>
                  <a:srgbClr val="2081A5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Pasi</a:t>
            </a:r>
            <a:r>
              <a:rPr lang="en-US" b="true" sz="2400">
                <a:solidFill>
                  <a:srgbClr val="2081A5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en kehilangan ko</a:t>
            </a:r>
            <a:r>
              <a:rPr lang="en-US" b="true" sz="2400">
                <a:solidFill>
                  <a:srgbClr val="2081A5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ntrol penuh atas data pribadi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1028700" y="6589541"/>
            <a:ext cx="6710759" cy="800909"/>
            <a:chOff x="0" y="0"/>
            <a:chExt cx="1380815" cy="164796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380815" cy="164796"/>
            </a:xfrm>
            <a:custGeom>
              <a:avLst/>
              <a:gdLst/>
              <a:ahLst/>
              <a:cxnLst/>
              <a:rect r="r" b="b" t="t" l="l"/>
              <a:pathLst>
                <a:path h="164796" w="1380815">
                  <a:moveTo>
                    <a:pt x="45065" y="0"/>
                  </a:moveTo>
                  <a:lnTo>
                    <a:pt x="1335750" y="0"/>
                  </a:lnTo>
                  <a:cubicBezTo>
                    <a:pt x="1360639" y="0"/>
                    <a:pt x="1380815" y="20176"/>
                    <a:pt x="1380815" y="45065"/>
                  </a:cubicBezTo>
                  <a:lnTo>
                    <a:pt x="1380815" y="119731"/>
                  </a:lnTo>
                  <a:cubicBezTo>
                    <a:pt x="1380815" y="144620"/>
                    <a:pt x="1360639" y="164796"/>
                    <a:pt x="1335750" y="164796"/>
                  </a:cubicBezTo>
                  <a:lnTo>
                    <a:pt x="45065" y="164796"/>
                  </a:lnTo>
                  <a:cubicBezTo>
                    <a:pt x="20176" y="164796"/>
                    <a:pt x="0" y="144620"/>
                    <a:pt x="0" y="119731"/>
                  </a:cubicBezTo>
                  <a:lnTo>
                    <a:pt x="0" y="45065"/>
                  </a:lnTo>
                  <a:cubicBezTo>
                    <a:pt x="0" y="20176"/>
                    <a:pt x="20176" y="0"/>
                    <a:pt x="45065" y="0"/>
                  </a:cubicBezTo>
                  <a:close/>
                </a:path>
              </a:pathLst>
            </a:custGeom>
            <a:solidFill>
              <a:srgbClr val="2081A5">
                <a:alpha val="19608"/>
              </a:srgbClr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47625"/>
              <a:ext cx="1380815" cy="21242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sp>
        <p:nvSpPr>
          <p:cNvPr name="TextBox 19" id="19"/>
          <p:cNvSpPr txBox="true"/>
          <p:nvPr/>
        </p:nvSpPr>
        <p:spPr>
          <a:xfrm rot="0">
            <a:off x="1269731" y="6772350"/>
            <a:ext cx="6228698" cy="396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359"/>
              </a:lnSpc>
            </a:pPr>
            <a:r>
              <a:rPr lang="en-US" sz="2400" b="true">
                <a:solidFill>
                  <a:srgbClr val="2081A5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D</a:t>
            </a:r>
            <a:r>
              <a:rPr lang="en-US" b="true" sz="2400">
                <a:solidFill>
                  <a:srgbClr val="2081A5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esentralisasi berba</a:t>
            </a:r>
            <a:r>
              <a:rPr lang="en-US" b="true" sz="2400">
                <a:solidFill>
                  <a:srgbClr val="2081A5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sis Blockchain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1028700" y="5762625"/>
            <a:ext cx="5041172" cy="703091"/>
            <a:chOff x="0" y="0"/>
            <a:chExt cx="1037278" cy="144669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037278" cy="144669"/>
            </a:xfrm>
            <a:custGeom>
              <a:avLst/>
              <a:gdLst/>
              <a:ahLst/>
              <a:cxnLst/>
              <a:rect r="r" b="b" t="t" l="l"/>
              <a:pathLst>
                <a:path h="144669" w="1037278">
                  <a:moveTo>
                    <a:pt x="59990" y="0"/>
                  </a:moveTo>
                  <a:lnTo>
                    <a:pt x="977289" y="0"/>
                  </a:lnTo>
                  <a:cubicBezTo>
                    <a:pt x="993199" y="0"/>
                    <a:pt x="1008457" y="6320"/>
                    <a:pt x="1019708" y="17571"/>
                  </a:cubicBezTo>
                  <a:cubicBezTo>
                    <a:pt x="1030958" y="28821"/>
                    <a:pt x="1037278" y="44079"/>
                    <a:pt x="1037278" y="59990"/>
                  </a:cubicBezTo>
                  <a:lnTo>
                    <a:pt x="1037278" y="84679"/>
                  </a:lnTo>
                  <a:cubicBezTo>
                    <a:pt x="1037278" y="100589"/>
                    <a:pt x="1030958" y="115848"/>
                    <a:pt x="1019708" y="127098"/>
                  </a:cubicBezTo>
                  <a:cubicBezTo>
                    <a:pt x="1008457" y="138349"/>
                    <a:pt x="993199" y="144669"/>
                    <a:pt x="977289" y="144669"/>
                  </a:cubicBezTo>
                  <a:lnTo>
                    <a:pt x="59990" y="144669"/>
                  </a:lnTo>
                  <a:cubicBezTo>
                    <a:pt x="26858" y="144669"/>
                    <a:pt x="0" y="117811"/>
                    <a:pt x="0" y="84679"/>
                  </a:cubicBezTo>
                  <a:lnTo>
                    <a:pt x="0" y="59990"/>
                  </a:lnTo>
                  <a:cubicBezTo>
                    <a:pt x="0" y="44079"/>
                    <a:pt x="6320" y="28821"/>
                    <a:pt x="17571" y="17571"/>
                  </a:cubicBezTo>
                  <a:cubicBezTo>
                    <a:pt x="28821" y="6320"/>
                    <a:pt x="44079" y="0"/>
                    <a:pt x="59990" y="0"/>
                  </a:cubicBezTo>
                  <a:close/>
                </a:path>
              </a:pathLst>
            </a:custGeom>
            <a:solidFill>
              <a:srgbClr val="2081A5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47625"/>
              <a:ext cx="1037278" cy="19229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sp>
        <p:nvSpPr>
          <p:cNvPr name="TextBox 23" id="23"/>
          <p:cNvSpPr txBox="true"/>
          <p:nvPr/>
        </p:nvSpPr>
        <p:spPr>
          <a:xfrm rot="0">
            <a:off x="1287457" y="5897000"/>
            <a:ext cx="4782415" cy="396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b="true" sz="240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TRAN</a:t>
            </a:r>
            <a:r>
              <a:rPr lang="en-US" b="true" sz="240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SFORMASI SOLUSI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1028700" y="7514275"/>
            <a:ext cx="6710759" cy="800909"/>
            <a:chOff x="0" y="0"/>
            <a:chExt cx="1380815" cy="164796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380815" cy="164796"/>
            </a:xfrm>
            <a:custGeom>
              <a:avLst/>
              <a:gdLst/>
              <a:ahLst/>
              <a:cxnLst/>
              <a:rect r="r" b="b" t="t" l="l"/>
              <a:pathLst>
                <a:path h="164796" w="1380815">
                  <a:moveTo>
                    <a:pt x="45065" y="0"/>
                  </a:moveTo>
                  <a:lnTo>
                    <a:pt x="1335750" y="0"/>
                  </a:lnTo>
                  <a:cubicBezTo>
                    <a:pt x="1360639" y="0"/>
                    <a:pt x="1380815" y="20176"/>
                    <a:pt x="1380815" y="45065"/>
                  </a:cubicBezTo>
                  <a:lnTo>
                    <a:pt x="1380815" y="119731"/>
                  </a:lnTo>
                  <a:cubicBezTo>
                    <a:pt x="1380815" y="144620"/>
                    <a:pt x="1360639" y="164796"/>
                    <a:pt x="1335750" y="164796"/>
                  </a:cubicBezTo>
                  <a:lnTo>
                    <a:pt x="45065" y="164796"/>
                  </a:lnTo>
                  <a:cubicBezTo>
                    <a:pt x="20176" y="164796"/>
                    <a:pt x="0" y="144620"/>
                    <a:pt x="0" y="119731"/>
                  </a:cubicBezTo>
                  <a:lnTo>
                    <a:pt x="0" y="45065"/>
                  </a:lnTo>
                  <a:cubicBezTo>
                    <a:pt x="0" y="20176"/>
                    <a:pt x="20176" y="0"/>
                    <a:pt x="45065" y="0"/>
                  </a:cubicBezTo>
                  <a:close/>
                </a:path>
              </a:pathLst>
            </a:custGeom>
            <a:solidFill>
              <a:srgbClr val="2081A5">
                <a:alpha val="19608"/>
              </a:srgbClr>
            </a:solid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47625"/>
              <a:ext cx="1380815" cy="21242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sp>
        <p:nvSpPr>
          <p:cNvPr name="TextBox 27" id="27"/>
          <p:cNvSpPr txBox="true"/>
          <p:nvPr/>
        </p:nvSpPr>
        <p:spPr>
          <a:xfrm rot="0">
            <a:off x="1269731" y="7697084"/>
            <a:ext cx="6228698" cy="396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359"/>
              </a:lnSpc>
            </a:pPr>
            <a:r>
              <a:rPr lang="en-US" sz="2400" b="true">
                <a:solidFill>
                  <a:srgbClr val="2081A5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Da</a:t>
            </a:r>
            <a:r>
              <a:rPr lang="en-US" b="true" sz="2400">
                <a:solidFill>
                  <a:srgbClr val="2081A5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ta pasien berdaulat (</a:t>
            </a:r>
            <a:r>
              <a:rPr lang="en-US" b="true" sz="2400">
                <a:solidFill>
                  <a:srgbClr val="2081A5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self-sovereign)</a:t>
            </a:r>
          </a:p>
        </p:txBody>
      </p:sp>
      <p:grpSp>
        <p:nvGrpSpPr>
          <p:cNvPr name="Group 28" id="28"/>
          <p:cNvGrpSpPr/>
          <p:nvPr/>
        </p:nvGrpSpPr>
        <p:grpSpPr>
          <a:xfrm rot="0">
            <a:off x="1028700" y="8439009"/>
            <a:ext cx="6710759" cy="800909"/>
            <a:chOff x="0" y="0"/>
            <a:chExt cx="1380815" cy="164796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380815" cy="164796"/>
            </a:xfrm>
            <a:custGeom>
              <a:avLst/>
              <a:gdLst/>
              <a:ahLst/>
              <a:cxnLst/>
              <a:rect r="r" b="b" t="t" l="l"/>
              <a:pathLst>
                <a:path h="164796" w="1380815">
                  <a:moveTo>
                    <a:pt x="45065" y="0"/>
                  </a:moveTo>
                  <a:lnTo>
                    <a:pt x="1335750" y="0"/>
                  </a:lnTo>
                  <a:cubicBezTo>
                    <a:pt x="1360639" y="0"/>
                    <a:pt x="1380815" y="20176"/>
                    <a:pt x="1380815" y="45065"/>
                  </a:cubicBezTo>
                  <a:lnTo>
                    <a:pt x="1380815" y="119731"/>
                  </a:lnTo>
                  <a:cubicBezTo>
                    <a:pt x="1380815" y="144620"/>
                    <a:pt x="1360639" y="164796"/>
                    <a:pt x="1335750" y="164796"/>
                  </a:cubicBezTo>
                  <a:lnTo>
                    <a:pt x="45065" y="164796"/>
                  </a:lnTo>
                  <a:cubicBezTo>
                    <a:pt x="20176" y="164796"/>
                    <a:pt x="0" y="144620"/>
                    <a:pt x="0" y="119731"/>
                  </a:cubicBezTo>
                  <a:lnTo>
                    <a:pt x="0" y="45065"/>
                  </a:lnTo>
                  <a:cubicBezTo>
                    <a:pt x="0" y="20176"/>
                    <a:pt x="20176" y="0"/>
                    <a:pt x="45065" y="0"/>
                  </a:cubicBezTo>
                  <a:close/>
                </a:path>
              </a:pathLst>
            </a:custGeom>
            <a:solidFill>
              <a:srgbClr val="2081A5">
                <a:alpha val="19608"/>
              </a:srgbClr>
            </a:solid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47625"/>
              <a:ext cx="1380815" cy="21242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sp>
        <p:nvSpPr>
          <p:cNvPr name="TextBox 31" id="31"/>
          <p:cNvSpPr txBox="true"/>
          <p:nvPr/>
        </p:nvSpPr>
        <p:spPr>
          <a:xfrm rot="0">
            <a:off x="1287457" y="8619984"/>
            <a:ext cx="6228698" cy="396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359"/>
              </a:lnSpc>
            </a:pPr>
            <a:r>
              <a:rPr lang="en-US" sz="2400" b="true">
                <a:solidFill>
                  <a:srgbClr val="2081A5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Tr</a:t>
            </a:r>
            <a:r>
              <a:rPr lang="en-US" b="true" sz="2400">
                <a:solidFill>
                  <a:srgbClr val="2081A5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ansparansi akses tanpa peranta</a:t>
            </a:r>
            <a:r>
              <a:rPr lang="en-US" b="true" sz="2400">
                <a:solidFill>
                  <a:srgbClr val="2081A5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ra</a:t>
            </a:r>
          </a:p>
        </p:txBody>
      </p:sp>
      <p:grpSp>
        <p:nvGrpSpPr>
          <p:cNvPr name="Group 32" id="32"/>
          <p:cNvGrpSpPr/>
          <p:nvPr/>
        </p:nvGrpSpPr>
        <p:grpSpPr>
          <a:xfrm rot="0">
            <a:off x="9922025" y="2661040"/>
            <a:ext cx="7337275" cy="2815944"/>
            <a:chOff x="0" y="0"/>
            <a:chExt cx="1509727" cy="579412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509727" cy="579412"/>
            </a:xfrm>
            <a:custGeom>
              <a:avLst/>
              <a:gdLst/>
              <a:ahLst/>
              <a:cxnLst/>
              <a:rect r="r" b="b" t="t" l="l"/>
              <a:pathLst>
                <a:path h="579412" w="1509727">
                  <a:moveTo>
                    <a:pt x="41217" y="0"/>
                  </a:moveTo>
                  <a:lnTo>
                    <a:pt x="1468511" y="0"/>
                  </a:lnTo>
                  <a:cubicBezTo>
                    <a:pt x="1491274" y="0"/>
                    <a:pt x="1509727" y="18453"/>
                    <a:pt x="1509727" y="41217"/>
                  </a:cubicBezTo>
                  <a:lnTo>
                    <a:pt x="1509727" y="538196"/>
                  </a:lnTo>
                  <a:cubicBezTo>
                    <a:pt x="1509727" y="560959"/>
                    <a:pt x="1491274" y="579412"/>
                    <a:pt x="1468511" y="579412"/>
                  </a:cubicBezTo>
                  <a:lnTo>
                    <a:pt x="41217" y="579412"/>
                  </a:lnTo>
                  <a:cubicBezTo>
                    <a:pt x="18453" y="579412"/>
                    <a:pt x="0" y="560959"/>
                    <a:pt x="0" y="538196"/>
                  </a:cubicBezTo>
                  <a:lnTo>
                    <a:pt x="0" y="41217"/>
                  </a:lnTo>
                  <a:cubicBezTo>
                    <a:pt x="0" y="18453"/>
                    <a:pt x="18453" y="0"/>
                    <a:pt x="41217" y="0"/>
                  </a:cubicBezTo>
                  <a:close/>
                </a:path>
              </a:pathLst>
            </a:custGeom>
            <a:solidFill>
              <a:srgbClr val="2081A5">
                <a:alpha val="19608"/>
              </a:srgbClr>
            </a:solid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47625"/>
              <a:ext cx="1509727" cy="62703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sp>
        <p:nvSpPr>
          <p:cNvPr name="TextBox 35" id="35"/>
          <p:cNvSpPr txBox="true"/>
          <p:nvPr/>
        </p:nvSpPr>
        <p:spPr>
          <a:xfrm rot="0">
            <a:off x="10207272" y="3434824"/>
            <a:ext cx="6766781" cy="16535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2081A5"/>
                </a:solidFill>
                <a:latin typeface="Open Sans"/>
                <a:ea typeface="Open Sans"/>
                <a:cs typeface="Open Sans"/>
                <a:sym typeface="Open Sans"/>
              </a:rPr>
              <a:t>Ekosistem t</a:t>
            </a:r>
            <a:r>
              <a:rPr lang="en-US" sz="2400">
                <a:solidFill>
                  <a:srgbClr val="2081A5"/>
                </a:solidFill>
                <a:latin typeface="Open Sans"/>
                <a:ea typeface="Open Sans"/>
                <a:cs typeface="Open Sans"/>
                <a:sym typeface="Open Sans"/>
              </a:rPr>
              <a:t>erdesentralisasi: Pasien sebagai pemegang otorita</a:t>
            </a:r>
            <a:r>
              <a:rPr lang="en-US" sz="2400">
                <a:solidFill>
                  <a:srgbClr val="2081A5"/>
                </a:solidFill>
                <a:latin typeface="Open Sans"/>
                <a:ea typeface="Open Sans"/>
                <a:cs typeface="Open Sans"/>
                <a:sym typeface="Open Sans"/>
              </a:rPr>
              <a:t>s tunggal.</a:t>
            </a:r>
          </a:p>
          <a:p>
            <a:pPr algn="just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2081A5"/>
                </a:solidFill>
                <a:latin typeface="Open Sans"/>
                <a:ea typeface="Open Sans"/>
                <a:cs typeface="Open Sans"/>
                <a:sym typeface="Open Sans"/>
              </a:rPr>
              <a:t>Menjamin integritas data dari manipulasi pihak luar.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0207272" y="2790196"/>
            <a:ext cx="6766781" cy="481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919"/>
              </a:lnSpc>
            </a:pPr>
            <a:r>
              <a:rPr lang="en-US" b="true" sz="2799">
                <a:solidFill>
                  <a:srgbClr val="2081A5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TUJU</a:t>
            </a:r>
            <a:r>
              <a:rPr lang="en-US" b="true" sz="2799">
                <a:solidFill>
                  <a:srgbClr val="2081A5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AN</a:t>
            </a:r>
          </a:p>
        </p:txBody>
      </p:sp>
      <p:grpSp>
        <p:nvGrpSpPr>
          <p:cNvPr name="Group 37" id="37"/>
          <p:cNvGrpSpPr/>
          <p:nvPr/>
        </p:nvGrpSpPr>
        <p:grpSpPr>
          <a:xfrm rot="0">
            <a:off x="9922025" y="6134632"/>
            <a:ext cx="7337275" cy="3074529"/>
            <a:chOff x="0" y="0"/>
            <a:chExt cx="1509727" cy="632619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1509727" cy="632619"/>
            </a:xfrm>
            <a:custGeom>
              <a:avLst/>
              <a:gdLst/>
              <a:ahLst/>
              <a:cxnLst/>
              <a:rect r="r" b="b" t="t" l="l"/>
              <a:pathLst>
                <a:path h="632619" w="1509727">
                  <a:moveTo>
                    <a:pt x="41217" y="0"/>
                  </a:moveTo>
                  <a:lnTo>
                    <a:pt x="1468511" y="0"/>
                  </a:lnTo>
                  <a:cubicBezTo>
                    <a:pt x="1491274" y="0"/>
                    <a:pt x="1509727" y="18453"/>
                    <a:pt x="1509727" y="41217"/>
                  </a:cubicBezTo>
                  <a:lnTo>
                    <a:pt x="1509727" y="591402"/>
                  </a:lnTo>
                  <a:cubicBezTo>
                    <a:pt x="1509727" y="614166"/>
                    <a:pt x="1491274" y="632619"/>
                    <a:pt x="1468511" y="632619"/>
                  </a:cubicBezTo>
                  <a:lnTo>
                    <a:pt x="41217" y="632619"/>
                  </a:lnTo>
                  <a:cubicBezTo>
                    <a:pt x="18453" y="632619"/>
                    <a:pt x="0" y="614166"/>
                    <a:pt x="0" y="591402"/>
                  </a:cubicBezTo>
                  <a:lnTo>
                    <a:pt x="0" y="41217"/>
                  </a:lnTo>
                  <a:cubicBezTo>
                    <a:pt x="0" y="18453"/>
                    <a:pt x="18453" y="0"/>
                    <a:pt x="41217" y="0"/>
                  </a:cubicBezTo>
                  <a:close/>
                </a:path>
              </a:pathLst>
            </a:custGeom>
            <a:solidFill>
              <a:srgbClr val="2081A5">
                <a:alpha val="19608"/>
              </a:srgbClr>
            </a:solid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47625"/>
              <a:ext cx="1509727" cy="68024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sp>
        <p:nvSpPr>
          <p:cNvPr name="TextBox 40" id="40"/>
          <p:cNvSpPr txBox="true"/>
          <p:nvPr/>
        </p:nvSpPr>
        <p:spPr>
          <a:xfrm rot="0">
            <a:off x="10207272" y="6830911"/>
            <a:ext cx="6766781" cy="20726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2081A5"/>
                </a:solidFill>
                <a:latin typeface="Open Sans"/>
                <a:ea typeface="Open Sans"/>
                <a:cs typeface="Open Sans"/>
                <a:sym typeface="Open Sans"/>
              </a:rPr>
              <a:t>Ekosistem t</a:t>
            </a:r>
            <a:r>
              <a:rPr lang="en-US" sz="2400">
                <a:solidFill>
                  <a:srgbClr val="2081A5"/>
                </a:solidFill>
                <a:latin typeface="Open Sans"/>
                <a:ea typeface="Open Sans"/>
                <a:cs typeface="Open Sans"/>
                <a:sym typeface="Open Sans"/>
              </a:rPr>
              <a:t>erdesentralisasi: Pasien sebagai pemegang otorita</a:t>
            </a:r>
            <a:r>
              <a:rPr lang="en-US" sz="2400">
                <a:solidFill>
                  <a:srgbClr val="2081A5"/>
                </a:solidFill>
                <a:latin typeface="Open Sans"/>
                <a:ea typeface="Open Sans"/>
                <a:cs typeface="Open Sans"/>
                <a:sym typeface="Open Sans"/>
              </a:rPr>
              <a:t>s tunggal.</a:t>
            </a:r>
          </a:p>
          <a:p>
            <a:pPr algn="just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2081A5"/>
                </a:solidFill>
                <a:latin typeface="Open Sans"/>
                <a:ea typeface="Open Sans"/>
                <a:cs typeface="Open Sans"/>
                <a:sym typeface="Open Sans"/>
              </a:rPr>
              <a:t>S</a:t>
            </a:r>
            <a:r>
              <a:rPr lang="en-US" sz="2400">
                <a:solidFill>
                  <a:srgbClr val="2081A5"/>
                </a:solidFill>
                <a:latin typeface="Open Sans"/>
                <a:ea typeface="Open Sans"/>
                <a:cs typeface="Open Sans"/>
                <a:sym typeface="Open Sans"/>
              </a:rPr>
              <a:t>mart contract: Kontrol akses otonom.</a:t>
            </a:r>
          </a:p>
          <a:p>
            <a:pPr algn="just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2081A5"/>
                </a:solidFill>
                <a:latin typeface="Open Sans"/>
                <a:ea typeface="Open Sans"/>
                <a:cs typeface="Open Sans"/>
                <a:sym typeface="Open Sans"/>
              </a:rPr>
              <a:t>Off-chain storage: Penyimpanan aman &amp; efisien.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10207272" y="6263788"/>
            <a:ext cx="6766781" cy="481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919"/>
              </a:lnSpc>
            </a:pPr>
            <a:r>
              <a:rPr lang="en-US" b="true" sz="2799">
                <a:solidFill>
                  <a:srgbClr val="2081A5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RUANG L</a:t>
            </a:r>
            <a:r>
              <a:rPr lang="en-US" b="true" sz="2799">
                <a:solidFill>
                  <a:srgbClr val="2081A5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INGKUP</a:t>
            </a:r>
          </a:p>
        </p:txBody>
      </p:sp>
    </p:spTree>
  </p:cSld>
  <p:clrMapOvr>
    <a:masterClrMapping/>
  </p:clrMapOvr>
  <p:transition spd="slow">
    <p:push dir="r"/>
  </p:transition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950267" y="294022"/>
            <a:ext cx="1959140" cy="734678"/>
          </a:xfrm>
          <a:custGeom>
            <a:avLst/>
            <a:gdLst/>
            <a:ahLst/>
            <a:cxnLst/>
            <a:rect r="r" b="b" t="t" l="l"/>
            <a:pathLst>
              <a:path h="734678" w="1959140">
                <a:moveTo>
                  <a:pt x="0" y="0"/>
                </a:moveTo>
                <a:lnTo>
                  <a:pt x="1959140" y="0"/>
                </a:lnTo>
                <a:lnTo>
                  <a:pt x="1959140" y="734678"/>
                </a:lnTo>
                <a:lnTo>
                  <a:pt x="0" y="73467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952500"/>
            <a:ext cx="6710759" cy="752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99"/>
              </a:lnSpc>
            </a:pPr>
            <a:r>
              <a:rPr lang="en-US" sz="4499" b="true">
                <a:solidFill>
                  <a:srgbClr val="2081A5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ARSITEKTUR SISTEM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028700" y="2504336"/>
            <a:ext cx="5691794" cy="1701800"/>
            <a:chOff x="0" y="0"/>
            <a:chExt cx="1171151" cy="35016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171151" cy="350165"/>
            </a:xfrm>
            <a:custGeom>
              <a:avLst/>
              <a:gdLst/>
              <a:ahLst/>
              <a:cxnLst/>
              <a:rect r="r" b="b" t="t" l="l"/>
              <a:pathLst>
                <a:path h="350165" w="1171151">
                  <a:moveTo>
                    <a:pt x="53132" y="0"/>
                  </a:moveTo>
                  <a:lnTo>
                    <a:pt x="1118019" y="0"/>
                  </a:lnTo>
                  <a:cubicBezTo>
                    <a:pt x="1147363" y="0"/>
                    <a:pt x="1171151" y="23788"/>
                    <a:pt x="1171151" y="53132"/>
                  </a:cubicBezTo>
                  <a:lnTo>
                    <a:pt x="1171151" y="297032"/>
                  </a:lnTo>
                  <a:cubicBezTo>
                    <a:pt x="1171151" y="326376"/>
                    <a:pt x="1147363" y="350165"/>
                    <a:pt x="1118019" y="350165"/>
                  </a:cubicBezTo>
                  <a:lnTo>
                    <a:pt x="53132" y="350165"/>
                  </a:lnTo>
                  <a:cubicBezTo>
                    <a:pt x="23788" y="350165"/>
                    <a:pt x="0" y="326376"/>
                    <a:pt x="0" y="297032"/>
                  </a:cubicBezTo>
                  <a:lnTo>
                    <a:pt x="0" y="53132"/>
                  </a:lnTo>
                  <a:cubicBezTo>
                    <a:pt x="0" y="23788"/>
                    <a:pt x="23788" y="0"/>
                    <a:pt x="53132" y="0"/>
                  </a:cubicBezTo>
                  <a:close/>
                </a:path>
              </a:pathLst>
            </a:custGeom>
            <a:solidFill>
              <a:srgbClr val="2081A5">
                <a:alpha val="19608"/>
              </a:srgbClr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47625"/>
              <a:ext cx="1171151" cy="39779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1283055" y="2752517"/>
            <a:ext cx="5240848" cy="12344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2081A5"/>
                </a:solidFill>
                <a:latin typeface="Open Sans"/>
                <a:ea typeface="Open Sans"/>
                <a:cs typeface="Open Sans"/>
                <a:sym typeface="Open Sans"/>
              </a:rPr>
              <a:t>F</a:t>
            </a:r>
            <a:r>
              <a:rPr lang="en-US" sz="2400">
                <a:solidFill>
                  <a:srgbClr val="2081A5"/>
                </a:solidFill>
                <a:latin typeface="Open Sans"/>
                <a:ea typeface="Open Sans"/>
                <a:cs typeface="Open Sans"/>
                <a:sym typeface="Open Sans"/>
              </a:rPr>
              <a:t>ront-End (Rea</a:t>
            </a:r>
            <a:r>
              <a:rPr lang="en-US" sz="2400">
                <a:solidFill>
                  <a:srgbClr val="2081A5"/>
                </a:solidFill>
                <a:latin typeface="Open Sans"/>
                <a:ea typeface="Open Sans"/>
                <a:cs typeface="Open Sans"/>
                <a:sym typeface="Open Sans"/>
              </a:rPr>
              <a:t>ct.js + MetaMask)</a:t>
            </a:r>
          </a:p>
          <a:p>
            <a:pPr algn="just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2081A5"/>
                </a:solidFill>
                <a:latin typeface="Open Sans"/>
                <a:ea typeface="Open Sans"/>
                <a:cs typeface="Open Sans"/>
                <a:sym typeface="Open Sans"/>
              </a:rPr>
              <a:t>Penyimpanan Data (IPFS)</a:t>
            </a:r>
          </a:p>
          <a:p>
            <a:pPr algn="just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2081A5"/>
                </a:solidFill>
                <a:latin typeface="Open Sans"/>
                <a:ea typeface="Open Sans"/>
                <a:cs typeface="Open Sans"/>
                <a:sym typeface="Open Sans"/>
              </a:rPr>
              <a:t>Smart Contract (RME.sol)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1874604"/>
            <a:ext cx="6033947" cy="4058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63"/>
              </a:lnSpc>
            </a:pPr>
            <a:r>
              <a:rPr lang="en-US" sz="2799" b="true">
                <a:solidFill>
                  <a:srgbClr val="2081A5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ARS</a:t>
            </a:r>
            <a:r>
              <a:rPr lang="en-US" b="true" sz="2799">
                <a:solidFill>
                  <a:srgbClr val="2081A5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ITEKTUR HYBRID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7812302" y="2504336"/>
            <a:ext cx="2336401" cy="1701800"/>
            <a:chOff x="0" y="0"/>
            <a:chExt cx="480741" cy="350165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80741" cy="350165"/>
            </a:xfrm>
            <a:custGeom>
              <a:avLst/>
              <a:gdLst/>
              <a:ahLst/>
              <a:cxnLst/>
              <a:rect r="r" b="b" t="t" l="l"/>
              <a:pathLst>
                <a:path h="350165" w="480741">
                  <a:moveTo>
                    <a:pt x="129438" y="0"/>
                  </a:moveTo>
                  <a:lnTo>
                    <a:pt x="351303" y="0"/>
                  </a:lnTo>
                  <a:cubicBezTo>
                    <a:pt x="422790" y="0"/>
                    <a:pt x="480741" y="57951"/>
                    <a:pt x="480741" y="129438"/>
                  </a:cubicBezTo>
                  <a:lnTo>
                    <a:pt x="480741" y="220727"/>
                  </a:lnTo>
                  <a:cubicBezTo>
                    <a:pt x="480741" y="292213"/>
                    <a:pt x="422790" y="350165"/>
                    <a:pt x="351303" y="350165"/>
                  </a:cubicBezTo>
                  <a:lnTo>
                    <a:pt x="129438" y="350165"/>
                  </a:lnTo>
                  <a:cubicBezTo>
                    <a:pt x="95109" y="350165"/>
                    <a:pt x="62186" y="336527"/>
                    <a:pt x="37911" y="312253"/>
                  </a:cubicBezTo>
                  <a:cubicBezTo>
                    <a:pt x="13637" y="287979"/>
                    <a:pt x="0" y="255056"/>
                    <a:pt x="0" y="220727"/>
                  </a:cubicBezTo>
                  <a:lnTo>
                    <a:pt x="0" y="129438"/>
                  </a:lnTo>
                  <a:cubicBezTo>
                    <a:pt x="0" y="57951"/>
                    <a:pt x="57951" y="0"/>
                    <a:pt x="129438" y="0"/>
                  </a:cubicBezTo>
                  <a:close/>
                </a:path>
              </a:pathLst>
            </a:custGeom>
            <a:solidFill>
              <a:srgbClr val="2081A5">
                <a:alpha val="19608"/>
              </a:srgbClr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47625"/>
              <a:ext cx="480741" cy="39779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7812302" y="1798404"/>
            <a:ext cx="6766781" cy="481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919"/>
              </a:lnSpc>
            </a:pPr>
            <a:r>
              <a:rPr lang="en-US" b="true" sz="2799">
                <a:solidFill>
                  <a:srgbClr val="2081A5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AL</a:t>
            </a:r>
            <a:r>
              <a:rPr lang="en-US" b="true" sz="2799">
                <a:solidFill>
                  <a:srgbClr val="2081A5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UR KERJA SISTEM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7970188" y="3123671"/>
            <a:ext cx="2020629" cy="396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b="true" sz="2400">
                <a:solidFill>
                  <a:srgbClr val="2081A5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O</a:t>
            </a:r>
            <a:r>
              <a:rPr lang="en-US" b="true" sz="2400">
                <a:solidFill>
                  <a:srgbClr val="2081A5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TORISASI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10267826" y="2475547"/>
            <a:ext cx="2199259" cy="1730589"/>
            <a:chOff x="0" y="0"/>
            <a:chExt cx="452522" cy="356088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452522" cy="356088"/>
            </a:xfrm>
            <a:custGeom>
              <a:avLst/>
              <a:gdLst/>
              <a:ahLst/>
              <a:cxnLst/>
              <a:rect r="r" b="b" t="t" l="l"/>
              <a:pathLst>
                <a:path h="356088" w="452522">
                  <a:moveTo>
                    <a:pt x="137509" y="0"/>
                  </a:moveTo>
                  <a:lnTo>
                    <a:pt x="315013" y="0"/>
                  </a:lnTo>
                  <a:cubicBezTo>
                    <a:pt x="351483" y="0"/>
                    <a:pt x="386459" y="14488"/>
                    <a:pt x="412247" y="40276"/>
                  </a:cubicBezTo>
                  <a:cubicBezTo>
                    <a:pt x="438035" y="66064"/>
                    <a:pt x="452522" y="101040"/>
                    <a:pt x="452522" y="137509"/>
                  </a:cubicBezTo>
                  <a:lnTo>
                    <a:pt x="452522" y="218579"/>
                  </a:lnTo>
                  <a:cubicBezTo>
                    <a:pt x="452522" y="294523"/>
                    <a:pt x="390957" y="356088"/>
                    <a:pt x="315013" y="356088"/>
                  </a:cubicBezTo>
                  <a:lnTo>
                    <a:pt x="137509" y="356088"/>
                  </a:lnTo>
                  <a:cubicBezTo>
                    <a:pt x="101040" y="356088"/>
                    <a:pt x="66064" y="341601"/>
                    <a:pt x="40276" y="315813"/>
                  </a:cubicBezTo>
                  <a:cubicBezTo>
                    <a:pt x="14488" y="290025"/>
                    <a:pt x="0" y="255049"/>
                    <a:pt x="0" y="218579"/>
                  </a:cubicBezTo>
                  <a:lnTo>
                    <a:pt x="0" y="137509"/>
                  </a:lnTo>
                  <a:cubicBezTo>
                    <a:pt x="0" y="101040"/>
                    <a:pt x="14488" y="66064"/>
                    <a:pt x="40276" y="40276"/>
                  </a:cubicBezTo>
                  <a:cubicBezTo>
                    <a:pt x="66064" y="14488"/>
                    <a:pt x="101040" y="0"/>
                    <a:pt x="137509" y="0"/>
                  </a:cubicBezTo>
                  <a:close/>
                </a:path>
              </a:pathLst>
            </a:custGeom>
            <a:solidFill>
              <a:srgbClr val="2081A5">
                <a:alpha val="19608"/>
              </a:srgbClr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47625"/>
              <a:ext cx="452522" cy="40371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10418795" y="3123671"/>
            <a:ext cx="1902022" cy="396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b="true" sz="2400">
                <a:solidFill>
                  <a:srgbClr val="2081A5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INPUT DA</a:t>
            </a:r>
            <a:r>
              <a:rPr lang="en-US" b="true" sz="2400">
                <a:solidFill>
                  <a:srgbClr val="2081A5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TA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12590910" y="2494811"/>
            <a:ext cx="2356380" cy="1711325"/>
            <a:chOff x="0" y="0"/>
            <a:chExt cx="484852" cy="352124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484852" cy="352124"/>
            </a:xfrm>
            <a:custGeom>
              <a:avLst/>
              <a:gdLst/>
              <a:ahLst/>
              <a:cxnLst/>
              <a:rect r="r" b="b" t="t" l="l"/>
              <a:pathLst>
                <a:path h="352124" w="484852">
                  <a:moveTo>
                    <a:pt x="128340" y="0"/>
                  </a:moveTo>
                  <a:lnTo>
                    <a:pt x="356511" y="0"/>
                  </a:lnTo>
                  <a:cubicBezTo>
                    <a:pt x="390549" y="0"/>
                    <a:pt x="423193" y="13522"/>
                    <a:pt x="447262" y="37590"/>
                  </a:cubicBezTo>
                  <a:cubicBezTo>
                    <a:pt x="471330" y="61659"/>
                    <a:pt x="484852" y="94302"/>
                    <a:pt x="484852" y="128340"/>
                  </a:cubicBezTo>
                  <a:lnTo>
                    <a:pt x="484852" y="223784"/>
                  </a:lnTo>
                  <a:cubicBezTo>
                    <a:pt x="484852" y="294665"/>
                    <a:pt x="427392" y="352124"/>
                    <a:pt x="356511" y="352124"/>
                  </a:cubicBezTo>
                  <a:lnTo>
                    <a:pt x="128340" y="352124"/>
                  </a:lnTo>
                  <a:cubicBezTo>
                    <a:pt x="94302" y="352124"/>
                    <a:pt x="61659" y="338603"/>
                    <a:pt x="37590" y="314534"/>
                  </a:cubicBezTo>
                  <a:cubicBezTo>
                    <a:pt x="13522" y="290466"/>
                    <a:pt x="0" y="257822"/>
                    <a:pt x="0" y="223784"/>
                  </a:cubicBezTo>
                  <a:lnTo>
                    <a:pt x="0" y="128340"/>
                  </a:lnTo>
                  <a:cubicBezTo>
                    <a:pt x="0" y="94302"/>
                    <a:pt x="13522" y="61659"/>
                    <a:pt x="37590" y="37590"/>
                  </a:cubicBezTo>
                  <a:cubicBezTo>
                    <a:pt x="61659" y="13522"/>
                    <a:pt x="94302" y="0"/>
                    <a:pt x="128340" y="0"/>
                  </a:cubicBezTo>
                  <a:close/>
                </a:path>
              </a:pathLst>
            </a:custGeom>
            <a:solidFill>
              <a:srgbClr val="2081A5">
                <a:alpha val="19608"/>
              </a:srgbClr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47625"/>
              <a:ext cx="484852" cy="39974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sp>
        <p:nvSpPr>
          <p:cNvPr name="TextBox 21" id="21"/>
          <p:cNvSpPr txBox="true"/>
          <p:nvPr/>
        </p:nvSpPr>
        <p:spPr>
          <a:xfrm rot="0">
            <a:off x="12750146" y="3123671"/>
            <a:ext cx="2037908" cy="396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b="true" sz="2400">
                <a:solidFill>
                  <a:srgbClr val="2081A5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PENCATA</a:t>
            </a:r>
            <a:r>
              <a:rPr lang="en-US" b="true" sz="2400">
                <a:solidFill>
                  <a:srgbClr val="2081A5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TAN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15071114" y="2475547"/>
            <a:ext cx="2188186" cy="1730589"/>
            <a:chOff x="0" y="0"/>
            <a:chExt cx="450244" cy="356088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450244" cy="356088"/>
            </a:xfrm>
            <a:custGeom>
              <a:avLst/>
              <a:gdLst/>
              <a:ahLst/>
              <a:cxnLst/>
              <a:rect r="r" b="b" t="t" l="l"/>
              <a:pathLst>
                <a:path h="356088" w="450244">
                  <a:moveTo>
                    <a:pt x="138205" y="0"/>
                  </a:moveTo>
                  <a:lnTo>
                    <a:pt x="312039" y="0"/>
                  </a:lnTo>
                  <a:cubicBezTo>
                    <a:pt x="348693" y="0"/>
                    <a:pt x="383846" y="14561"/>
                    <a:pt x="409765" y="40479"/>
                  </a:cubicBezTo>
                  <a:cubicBezTo>
                    <a:pt x="435683" y="66398"/>
                    <a:pt x="450244" y="101551"/>
                    <a:pt x="450244" y="138205"/>
                  </a:cubicBezTo>
                  <a:lnTo>
                    <a:pt x="450244" y="217883"/>
                  </a:lnTo>
                  <a:cubicBezTo>
                    <a:pt x="450244" y="254537"/>
                    <a:pt x="435683" y="289690"/>
                    <a:pt x="409765" y="315609"/>
                  </a:cubicBezTo>
                  <a:cubicBezTo>
                    <a:pt x="383846" y="341527"/>
                    <a:pt x="348693" y="356088"/>
                    <a:pt x="312039" y="356088"/>
                  </a:cubicBezTo>
                  <a:lnTo>
                    <a:pt x="138205" y="356088"/>
                  </a:lnTo>
                  <a:cubicBezTo>
                    <a:pt x="101551" y="356088"/>
                    <a:pt x="66398" y="341527"/>
                    <a:pt x="40479" y="315609"/>
                  </a:cubicBezTo>
                  <a:cubicBezTo>
                    <a:pt x="14561" y="289690"/>
                    <a:pt x="0" y="254537"/>
                    <a:pt x="0" y="217883"/>
                  </a:cubicBezTo>
                  <a:lnTo>
                    <a:pt x="0" y="138205"/>
                  </a:lnTo>
                  <a:cubicBezTo>
                    <a:pt x="0" y="101551"/>
                    <a:pt x="14561" y="66398"/>
                    <a:pt x="40479" y="40479"/>
                  </a:cubicBezTo>
                  <a:cubicBezTo>
                    <a:pt x="66398" y="14561"/>
                    <a:pt x="101551" y="0"/>
                    <a:pt x="138205" y="0"/>
                  </a:cubicBezTo>
                  <a:close/>
                </a:path>
              </a:pathLst>
            </a:custGeom>
            <a:solidFill>
              <a:srgbClr val="2081A5">
                <a:alpha val="19608"/>
              </a:srgbClr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47625"/>
              <a:ext cx="450244" cy="40371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sp>
        <p:nvSpPr>
          <p:cNvPr name="TextBox 25" id="25"/>
          <p:cNvSpPr txBox="true"/>
          <p:nvPr/>
        </p:nvSpPr>
        <p:spPr>
          <a:xfrm rot="0">
            <a:off x="15218985" y="3171617"/>
            <a:ext cx="1892445" cy="396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b="true" sz="2400">
                <a:solidFill>
                  <a:srgbClr val="2081A5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VERIFIK</a:t>
            </a:r>
            <a:r>
              <a:rPr lang="en-US" b="true" sz="2400">
                <a:solidFill>
                  <a:srgbClr val="2081A5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ASI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028700" y="4434736"/>
            <a:ext cx="8293166" cy="481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919"/>
              </a:lnSpc>
            </a:pPr>
            <a:r>
              <a:rPr lang="en-US" b="true" sz="2799">
                <a:solidFill>
                  <a:srgbClr val="2081A5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FUNGSI SMART CONTRACT</a:t>
            </a:r>
          </a:p>
        </p:txBody>
      </p:sp>
      <p:grpSp>
        <p:nvGrpSpPr>
          <p:cNvPr name="Group 27" id="27"/>
          <p:cNvGrpSpPr/>
          <p:nvPr/>
        </p:nvGrpSpPr>
        <p:grpSpPr>
          <a:xfrm rot="0">
            <a:off x="1028700" y="5201816"/>
            <a:ext cx="2911912" cy="605259"/>
            <a:chOff x="0" y="0"/>
            <a:chExt cx="599159" cy="124539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599159" cy="124539"/>
            </a:xfrm>
            <a:custGeom>
              <a:avLst/>
              <a:gdLst/>
              <a:ahLst/>
              <a:cxnLst/>
              <a:rect r="r" b="b" t="t" l="l"/>
              <a:pathLst>
                <a:path h="124539" w="599159">
                  <a:moveTo>
                    <a:pt x="62269" y="0"/>
                  </a:moveTo>
                  <a:lnTo>
                    <a:pt x="536889" y="0"/>
                  </a:lnTo>
                  <a:cubicBezTo>
                    <a:pt x="571280" y="0"/>
                    <a:pt x="599159" y="27879"/>
                    <a:pt x="599159" y="62269"/>
                  </a:cubicBezTo>
                  <a:lnTo>
                    <a:pt x="599159" y="62269"/>
                  </a:lnTo>
                  <a:cubicBezTo>
                    <a:pt x="599159" y="96660"/>
                    <a:pt x="571280" y="124539"/>
                    <a:pt x="536889" y="124539"/>
                  </a:cubicBezTo>
                  <a:lnTo>
                    <a:pt x="62269" y="124539"/>
                  </a:lnTo>
                  <a:cubicBezTo>
                    <a:pt x="27879" y="124539"/>
                    <a:pt x="0" y="96660"/>
                    <a:pt x="0" y="62269"/>
                  </a:cubicBezTo>
                  <a:lnTo>
                    <a:pt x="0" y="62269"/>
                  </a:lnTo>
                  <a:cubicBezTo>
                    <a:pt x="0" y="27879"/>
                    <a:pt x="27879" y="0"/>
                    <a:pt x="62269" y="0"/>
                  </a:cubicBezTo>
                  <a:close/>
                </a:path>
              </a:pathLst>
            </a:custGeom>
            <a:solidFill>
              <a:srgbClr val="2081A5"/>
            </a:solid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47625"/>
              <a:ext cx="599159" cy="1721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sp>
        <p:nvSpPr>
          <p:cNvPr name="TextBox 30" id="30"/>
          <p:cNvSpPr txBox="true"/>
          <p:nvPr/>
        </p:nvSpPr>
        <p:spPr>
          <a:xfrm rot="0">
            <a:off x="1103432" y="5275553"/>
            <a:ext cx="2762447" cy="396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400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regi</a:t>
            </a:r>
            <a:r>
              <a:rPr lang="en-US" b="true" sz="240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sterUser()</a:t>
            </a:r>
          </a:p>
        </p:txBody>
      </p:sp>
      <p:grpSp>
        <p:nvGrpSpPr>
          <p:cNvPr name="Group 31" id="31"/>
          <p:cNvGrpSpPr/>
          <p:nvPr/>
        </p:nvGrpSpPr>
        <p:grpSpPr>
          <a:xfrm rot="0">
            <a:off x="1028700" y="6092825"/>
            <a:ext cx="2911912" cy="605259"/>
            <a:chOff x="0" y="0"/>
            <a:chExt cx="599159" cy="124539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599159" cy="124539"/>
            </a:xfrm>
            <a:custGeom>
              <a:avLst/>
              <a:gdLst/>
              <a:ahLst/>
              <a:cxnLst/>
              <a:rect r="r" b="b" t="t" l="l"/>
              <a:pathLst>
                <a:path h="124539" w="599159">
                  <a:moveTo>
                    <a:pt x="62269" y="0"/>
                  </a:moveTo>
                  <a:lnTo>
                    <a:pt x="536889" y="0"/>
                  </a:lnTo>
                  <a:cubicBezTo>
                    <a:pt x="571280" y="0"/>
                    <a:pt x="599159" y="27879"/>
                    <a:pt x="599159" y="62269"/>
                  </a:cubicBezTo>
                  <a:lnTo>
                    <a:pt x="599159" y="62269"/>
                  </a:lnTo>
                  <a:cubicBezTo>
                    <a:pt x="599159" y="96660"/>
                    <a:pt x="571280" y="124539"/>
                    <a:pt x="536889" y="124539"/>
                  </a:cubicBezTo>
                  <a:lnTo>
                    <a:pt x="62269" y="124539"/>
                  </a:lnTo>
                  <a:cubicBezTo>
                    <a:pt x="27879" y="124539"/>
                    <a:pt x="0" y="96660"/>
                    <a:pt x="0" y="62269"/>
                  </a:cubicBezTo>
                  <a:lnTo>
                    <a:pt x="0" y="62269"/>
                  </a:lnTo>
                  <a:cubicBezTo>
                    <a:pt x="0" y="27879"/>
                    <a:pt x="27879" y="0"/>
                    <a:pt x="62269" y="0"/>
                  </a:cubicBezTo>
                  <a:close/>
                </a:path>
              </a:pathLst>
            </a:custGeom>
            <a:solidFill>
              <a:srgbClr val="2081A5"/>
            </a:solid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47625"/>
              <a:ext cx="599159" cy="1721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sp>
        <p:nvSpPr>
          <p:cNvPr name="TextBox 34" id="34"/>
          <p:cNvSpPr txBox="true"/>
          <p:nvPr/>
        </p:nvSpPr>
        <p:spPr>
          <a:xfrm rot="0">
            <a:off x="1103432" y="6178284"/>
            <a:ext cx="2762447" cy="396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400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getU</a:t>
            </a:r>
            <a:r>
              <a:rPr lang="en-US" b="true" sz="240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ser()</a:t>
            </a:r>
          </a:p>
        </p:txBody>
      </p:sp>
      <p:grpSp>
        <p:nvGrpSpPr>
          <p:cNvPr name="Group 35" id="35"/>
          <p:cNvGrpSpPr/>
          <p:nvPr/>
        </p:nvGrpSpPr>
        <p:grpSpPr>
          <a:xfrm rot="0">
            <a:off x="1028700" y="6983834"/>
            <a:ext cx="2911912" cy="605259"/>
            <a:chOff x="0" y="0"/>
            <a:chExt cx="599159" cy="124539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599159" cy="124539"/>
            </a:xfrm>
            <a:custGeom>
              <a:avLst/>
              <a:gdLst/>
              <a:ahLst/>
              <a:cxnLst/>
              <a:rect r="r" b="b" t="t" l="l"/>
              <a:pathLst>
                <a:path h="124539" w="599159">
                  <a:moveTo>
                    <a:pt x="62269" y="0"/>
                  </a:moveTo>
                  <a:lnTo>
                    <a:pt x="536889" y="0"/>
                  </a:lnTo>
                  <a:cubicBezTo>
                    <a:pt x="571280" y="0"/>
                    <a:pt x="599159" y="27879"/>
                    <a:pt x="599159" y="62269"/>
                  </a:cubicBezTo>
                  <a:lnTo>
                    <a:pt x="599159" y="62269"/>
                  </a:lnTo>
                  <a:cubicBezTo>
                    <a:pt x="599159" y="96660"/>
                    <a:pt x="571280" y="124539"/>
                    <a:pt x="536889" y="124539"/>
                  </a:cubicBezTo>
                  <a:lnTo>
                    <a:pt x="62269" y="124539"/>
                  </a:lnTo>
                  <a:cubicBezTo>
                    <a:pt x="27879" y="124539"/>
                    <a:pt x="0" y="96660"/>
                    <a:pt x="0" y="62269"/>
                  </a:cubicBezTo>
                  <a:lnTo>
                    <a:pt x="0" y="62269"/>
                  </a:lnTo>
                  <a:cubicBezTo>
                    <a:pt x="0" y="27879"/>
                    <a:pt x="27879" y="0"/>
                    <a:pt x="62269" y="0"/>
                  </a:cubicBezTo>
                  <a:close/>
                </a:path>
              </a:pathLst>
            </a:custGeom>
            <a:solidFill>
              <a:srgbClr val="2081A5"/>
            </a:solid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47625"/>
              <a:ext cx="599159" cy="1721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sp>
        <p:nvSpPr>
          <p:cNvPr name="TextBox 38" id="38"/>
          <p:cNvSpPr txBox="true"/>
          <p:nvPr/>
        </p:nvSpPr>
        <p:spPr>
          <a:xfrm rot="0">
            <a:off x="1093389" y="7069293"/>
            <a:ext cx="2758076" cy="396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400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grantAcce</a:t>
            </a:r>
            <a:r>
              <a:rPr lang="en-US" b="true" sz="240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ss()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4232278" y="5106566"/>
            <a:ext cx="4976432" cy="8153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Re</a:t>
            </a:r>
            <a:r>
              <a:rPr lang="en-US" sz="24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gistrasi wallet dan penetapan peran (Pasien/Dokter).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4232278" y="6054725"/>
            <a:ext cx="4976432" cy="8153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V</a:t>
            </a:r>
            <a:r>
              <a:rPr lang="en-US" sz="24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alidasi status dan peran pengguna di sistem.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4232278" y="6945734"/>
            <a:ext cx="4976432" cy="8153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</a:t>
            </a:r>
            <a:r>
              <a:rPr lang="en-US" sz="24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asien memberi izin akses medis ke wallet dokter.</a:t>
            </a:r>
          </a:p>
        </p:txBody>
      </p:sp>
      <p:grpSp>
        <p:nvGrpSpPr>
          <p:cNvPr name="Group 42" id="42"/>
          <p:cNvGrpSpPr/>
          <p:nvPr/>
        </p:nvGrpSpPr>
        <p:grpSpPr>
          <a:xfrm rot="0">
            <a:off x="1028700" y="7931993"/>
            <a:ext cx="2911912" cy="605259"/>
            <a:chOff x="0" y="0"/>
            <a:chExt cx="599159" cy="124539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599159" cy="124539"/>
            </a:xfrm>
            <a:custGeom>
              <a:avLst/>
              <a:gdLst/>
              <a:ahLst/>
              <a:cxnLst/>
              <a:rect r="r" b="b" t="t" l="l"/>
              <a:pathLst>
                <a:path h="124539" w="599159">
                  <a:moveTo>
                    <a:pt x="62269" y="0"/>
                  </a:moveTo>
                  <a:lnTo>
                    <a:pt x="536889" y="0"/>
                  </a:lnTo>
                  <a:cubicBezTo>
                    <a:pt x="571280" y="0"/>
                    <a:pt x="599159" y="27879"/>
                    <a:pt x="599159" y="62269"/>
                  </a:cubicBezTo>
                  <a:lnTo>
                    <a:pt x="599159" y="62269"/>
                  </a:lnTo>
                  <a:cubicBezTo>
                    <a:pt x="599159" y="96660"/>
                    <a:pt x="571280" y="124539"/>
                    <a:pt x="536889" y="124539"/>
                  </a:cubicBezTo>
                  <a:lnTo>
                    <a:pt x="62269" y="124539"/>
                  </a:lnTo>
                  <a:cubicBezTo>
                    <a:pt x="27879" y="124539"/>
                    <a:pt x="0" y="96660"/>
                    <a:pt x="0" y="62269"/>
                  </a:cubicBezTo>
                  <a:lnTo>
                    <a:pt x="0" y="62269"/>
                  </a:lnTo>
                  <a:cubicBezTo>
                    <a:pt x="0" y="27879"/>
                    <a:pt x="27879" y="0"/>
                    <a:pt x="62269" y="0"/>
                  </a:cubicBezTo>
                  <a:close/>
                </a:path>
              </a:pathLst>
            </a:custGeom>
            <a:solidFill>
              <a:srgbClr val="2081A5"/>
            </a:solid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47625"/>
              <a:ext cx="599159" cy="1721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sp>
        <p:nvSpPr>
          <p:cNvPr name="TextBox 45" id="45"/>
          <p:cNvSpPr txBox="true"/>
          <p:nvPr/>
        </p:nvSpPr>
        <p:spPr>
          <a:xfrm rot="0">
            <a:off x="1103432" y="8005730"/>
            <a:ext cx="2762447" cy="396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400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revok</a:t>
            </a:r>
            <a:r>
              <a:rPr lang="en-US" b="true" sz="240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eAccess()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4232278" y="7836743"/>
            <a:ext cx="4976432" cy="8153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</a:t>
            </a:r>
            <a:r>
              <a:rPr lang="en-US" sz="24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asien mencabut akses dokter secara real-time.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4232278" y="8784902"/>
            <a:ext cx="4976432" cy="8153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Dokter men</a:t>
            </a:r>
            <a:r>
              <a:rPr lang="en-US" sz="24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gunggah hash dokumen dan CID IPFS.</a:t>
            </a:r>
          </a:p>
        </p:txBody>
      </p:sp>
      <p:grpSp>
        <p:nvGrpSpPr>
          <p:cNvPr name="Group 48" id="48"/>
          <p:cNvGrpSpPr/>
          <p:nvPr/>
        </p:nvGrpSpPr>
        <p:grpSpPr>
          <a:xfrm rot="0">
            <a:off x="9079290" y="5258966"/>
            <a:ext cx="2911912" cy="605259"/>
            <a:chOff x="0" y="0"/>
            <a:chExt cx="599159" cy="124539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599159" cy="124539"/>
            </a:xfrm>
            <a:custGeom>
              <a:avLst/>
              <a:gdLst/>
              <a:ahLst/>
              <a:cxnLst/>
              <a:rect r="r" b="b" t="t" l="l"/>
              <a:pathLst>
                <a:path h="124539" w="599159">
                  <a:moveTo>
                    <a:pt x="62269" y="0"/>
                  </a:moveTo>
                  <a:lnTo>
                    <a:pt x="536889" y="0"/>
                  </a:lnTo>
                  <a:cubicBezTo>
                    <a:pt x="571280" y="0"/>
                    <a:pt x="599159" y="27879"/>
                    <a:pt x="599159" y="62269"/>
                  </a:cubicBezTo>
                  <a:lnTo>
                    <a:pt x="599159" y="62269"/>
                  </a:lnTo>
                  <a:cubicBezTo>
                    <a:pt x="599159" y="96660"/>
                    <a:pt x="571280" y="124539"/>
                    <a:pt x="536889" y="124539"/>
                  </a:cubicBezTo>
                  <a:lnTo>
                    <a:pt x="62269" y="124539"/>
                  </a:lnTo>
                  <a:cubicBezTo>
                    <a:pt x="27879" y="124539"/>
                    <a:pt x="0" y="96660"/>
                    <a:pt x="0" y="62269"/>
                  </a:cubicBezTo>
                  <a:lnTo>
                    <a:pt x="0" y="62269"/>
                  </a:lnTo>
                  <a:cubicBezTo>
                    <a:pt x="0" y="27879"/>
                    <a:pt x="27879" y="0"/>
                    <a:pt x="62269" y="0"/>
                  </a:cubicBezTo>
                  <a:close/>
                </a:path>
              </a:pathLst>
            </a:custGeom>
            <a:solidFill>
              <a:srgbClr val="2081A5"/>
            </a:solidFill>
          </p:spPr>
        </p:sp>
        <p:sp>
          <p:nvSpPr>
            <p:cNvPr name="TextBox 50" id="50"/>
            <p:cNvSpPr txBox="true"/>
            <p:nvPr/>
          </p:nvSpPr>
          <p:spPr>
            <a:xfrm>
              <a:off x="0" y="-47625"/>
              <a:ext cx="599159" cy="1721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sp>
        <p:nvSpPr>
          <p:cNvPr name="TextBox 51" id="51"/>
          <p:cNvSpPr txBox="true"/>
          <p:nvPr/>
        </p:nvSpPr>
        <p:spPr>
          <a:xfrm rot="0">
            <a:off x="9154023" y="5332703"/>
            <a:ext cx="2762447" cy="396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400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ge</a:t>
            </a:r>
            <a:r>
              <a:rPr lang="en-US" b="true" sz="240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tRecords()</a:t>
            </a:r>
          </a:p>
        </p:txBody>
      </p:sp>
      <p:grpSp>
        <p:nvGrpSpPr>
          <p:cNvPr name="Group 52" id="52"/>
          <p:cNvGrpSpPr/>
          <p:nvPr/>
        </p:nvGrpSpPr>
        <p:grpSpPr>
          <a:xfrm rot="0">
            <a:off x="9079290" y="6149975"/>
            <a:ext cx="2911912" cy="605259"/>
            <a:chOff x="0" y="0"/>
            <a:chExt cx="599159" cy="124539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599159" cy="124539"/>
            </a:xfrm>
            <a:custGeom>
              <a:avLst/>
              <a:gdLst/>
              <a:ahLst/>
              <a:cxnLst/>
              <a:rect r="r" b="b" t="t" l="l"/>
              <a:pathLst>
                <a:path h="124539" w="599159">
                  <a:moveTo>
                    <a:pt x="62269" y="0"/>
                  </a:moveTo>
                  <a:lnTo>
                    <a:pt x="536889" y="0"/>
                  </a:lnTo>
                  <a:cubicBezTo>
                    <a:pt x="571280" y="0"/>
                    <a:pt x="599159" y="27879"/>
                    <a:pt x="599159" y="62269"/>
                  </a:cubicBezTo>
                  <a:lnTo>
                    <a:pt x="599159" y="62269"/>
                  </a:lnTo>
                  <a:cubicBezTo>
                    <a:pt x="599159" y="96660"/>
                    <a:pt x="571280" y="124539"/>
                    <a:pt x="536889" y="124539"/>
                  </a:cubicBezTo>
                  <a:lnTo>
                    <a:pt x="62269" y="124539"/>
                  </a:lnTo>
                  <a:cubicBezTo>
                    <a:pt x="27879" y="124539"/>
                    <a:pt x="0" y="96660"/>
                    <a:pt x="0" y="62269"/>
                  </a:cubicBezTo>
                  <a:lnTo>
                    <a:pt x="0" y="62269"/>
                  </a:lnTo>
                  <a:cubicBezTo>
                    <a:pt x="0" y="27879"/>
                    <a:pt x="27879" y="0"/>
                    <a:pt x="62269" y="0"/>
                  </a:cubicBezTo>
                  <a:close/>
                </a:path>
              </a:pathLst>
            </a:custGeom>
            <a:solidFill>
              <a:srgbClr val="2081A5"/>
            </a:solidFill>
          </p:spPr>
        </p:sp>
        <p:sp>
          <p:nvSpPr>
            <p:cNvPr name="TextBox 54" id="54"/>
            <p:cNvSpPr txBox="true"/>
            <p:nvPr/>
          </p:nvSpPr>
          <p:spPr>
            <a:xfrm>
              <a:off x="0" y="-47625"/>
              <a:ext cx="599159" cy="1721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sp>
        <p:nvSpPr>
          <p:cNvPr name="TextBox 55" id="55"/>
          <p:cNvSpPr txBox="true"/>
          <p:nvPr/>
        </p:nvSpPr>
        <p:spPr>
          <a:xfrm rot="0">
            <a:off x="9116656" y="6251044"/>
            <a:ext cx="2837180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60"/>
              </a:lnSpc>
            </a:pPr>
            <a:r>
              <a:rPr lang="en-US" sz="1900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getAuthoriz</a:t>
            </a:r>
            <a:r>
              <a:rPr lang="en-US" b="true" sz="190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edDoctors()</a:t>
            </a:r>
          </a:p>
        </p:txBody>
      </p:sp>
      <p:grpSp>
        <p:nvGrpSpPr>
          <p:cNvPr name="Group 56" id="56"/>
          <p:cNvGrpSpPr/>
          <p:nvPr/>
        </p:nvGrpSpPr>
        <p:grpSpPr>
          <a:xfrm rot="0">
            <a:off x="9079290" y="7040984"/>
            <a:ext cx="2911912" cy="605259"/>
            <a:chOff x="0" y="0"/>
            <a:chExt cx="599159" cy="124539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599159" cy="124539"/>
            </a:xfrm>
            <a:custGeom>
              <a:avLst/>
              <a:gdLst/>
              <a:ahLst/>
              <a:cxnLst/>
              <a:rect r="r" b="b" t="t" l="l"/>
              <a:pathLst>
                <a:path h="124539" w="599159">
                  <a:moveTo>
                    <a:pt x="62269" y="0"/>
                  </a:moveTo>
                  <a:lnTo>
                    <a:pt x="536889" y="0"/>
                  </a:lnTo>
                  <a:cubicBezTo>
                    <a:pt x="571280" y="0"/>
                    <a:pt x="599159" y="27879"/>
                    <a:pt x="599159" y="62269"/>
                  </a:cubicBezTo>
                  <a:lnTo>
                    <a:pt x="599159" y="62269"/>
                  </a:lnTo>
                  <a:cubicBezTo>
                    <a:pt x="599159" y="96660"/>
                    <a:pt x="571280" y="124539"/>
                    <a:pt x="536889" y="124539"/>
                  </a:cubicBezTo>
                  <a:lnTo>
                    <a:pt x="62269" y="124539"/>
                  </a:lnTo>
                  <a:cubicBezTo>
                    <a:pt x="27879" y="124539"/>
                    <a:pt x="0" y="96660"/>
                    <a:pt x="0" y="62269"/>
                  </a:cubicBezTo>
                  <a:lnTo>
                    <a:pt x="0" y="62269"/>
                  </a:lnTo>
                  <a:cubicBezTo>
                    <a:pt x="0" y="27879"/>
                    <a:pt x="27879" y="0"/>
                    <a:pt x="62269" y="0"/>
                  </a:cubicBezTo>
                  <a:close/>
                </a:path>
              </a:pathLst>
            </a:custGeom>
            <a:solidFill>
              <a:srgbClr val="2081A5"/>
            </a:solid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47625"/>
              <a:ext cx="599159" cy="1721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sp>
        <p:nvSpPr>
          <p:cNvPr name="TextBox 59" id="59"/>
          <p:cNvSpPr txBox="true"/>
          <p:nvPr/>
        </p:nvSpPr>
        <p:spPr>
          <a:xfrm rot="0">
            <a:off x="9143979" y="7126443"/>
            <a:ext cx="2758076" cy="396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400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checkAcce</a:t>
            </a:r>
            <a:r>
              <a:rPr lang="en-US" b="true" sz="240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ss()</a:t>
            </a:r>
          </a:p>
        </p:txBody>
      </p:sp>
      <p:sp>
        <p:nvSpPr>
          <p:cNvPr name="TextBox 60" id="60"/>
          <p:cNvSpPr txBox="true"/>
          <p:nvPr/>
        </p:nvSpPr>
        <p:spPr>
          <a:xfrm rot="0">
            <a:off x="12282868" y="5163716"/>
            <a:ext cx="4976432" cy="8153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Men</a:t>
            </a:r>
            <a:r>
              <a:rPr lang="en-US" sz="24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gambil daftar riwayat medis pasien.</a:t>
            </a:r>
          </a:p>
        </p:txBody>
      </p:sp>
      <p:sp>
        <p:nvSpPr>
          <p:cNvPr name="TextBox 61" id="61"/>
          <p:cNvSpPr txBox="true"/>
          <p:nvPr/>
        </p:nvSpPr>
        <p:spPr>
          <a:xfrm rot="0">
            <a:off x="12282868" y="6111875"/>
            <a:ext cx="4976432" cy="8153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Men</a:t>
            </a:r>
            <a:r>
              <a:rPr lang="en-US" sz="24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ampilkan daftar dokter yang diberi izin pasien.</a:t>
            </a:r>
          </a:p>
        </p:txBody>
      </p:sp>
      <p:sp>
        <p:nvSpPr>
          <p:cNvPr name="TextBox 62" id="62"/>
          <p:cNvSpPr txBox="true"/>
          <p:nvPr/>
        </p:nvSpPr>
        <p:spPr>
          <a:xfrm rot="0">
            <a:off x="12282868" y="7002884"/>
            <a:ext cx="4976432" cy="8153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Memv</a:t>
            </a:r>
            <a:r>
              <a:rPr lang="en-US" sz="24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alidasi status izin akses dokter dan pasien.</a:t>
            </a:r>
          </a:p>
        </p:txBody>
      </p:sp>
      <p:grpSp>
        <p:nvGrpSpPr>
          <p:cNvPr name="Group 63" id="63"/>
          <p:cNvGrpSpPr/>
          <p:nvPr/>
        </p:nvGrpSpPr>
        <p:grpSpPr>
          <a:xfrm rot="0">
            <a:off x="9079290" y="7989143"/>
            <a:ext cx="2911912" cy="605259"/>
            <a:chOff x="0" y="0"/>
            <a:chExt cx="599159" cy="124539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599159" cy="124539"/>
            </a:xfrm>
            <a:custGeom>
              <a:avLst/>
              <a:gdLst/>
              <a:ahLst/>
              <a:cxnLst/>
              <a:rect r="r" b="b" t="t" l="l"/>
              <a:pathLst>
                <a:path h="124539" w="599159">
                  <a:moveTo>
                    <a:pt x="62269" y="0"/>
                  </a:moveTo>
                  <a:lnTo>
                    <a:pt x="536889" y="0"/>
                  </a:lnTo>
                  <a:cubicBezTo>
                    <a:pt x="571280" y="0"/>
                    <a:pt x="599159" y="27879"/>
                    <a:pt x="599159" y="62269"/>
                  </a:cubicBezTo>
                  <a:lnTo>
                    <a:pt x="599159" y="62269"/>
                  </a:lnTo>
                  <a:cubicBezTo>
                    <a:pt x="599159" y="96660"/>
                    <a:pt x="571280" y="124539"/>
                    <a:pt x="536889" y="124539"/>
                  </a:cubicBezTo>
                  <a:lnTo>
                    <a:pt x="62269" y="124539"/>
                  </a:lnTo>
                  <a:cubicBezTo>
                    <a:pt x="27879" y="124539"/>
                    <a:pt x="0" y="96660"/>
                    <a:pt x="0" y="62269"/>
                  </a:cubicBezTo>
                  <a:lnTo>
                    <a:pt x="0" y="62269"/>
                  </a:lnTo>
                  <a:cubicBezTo>
                    <a:pt x="0" y="27879"/>
                    <a:pt x="27879" y="0"/>
                    <a:pt x="62269" y="0"/>
                  </a:cubicBezTo>
                  <a:close/>
                </a:path>
              </a:pathLst>
            </a:custGeom>
            <a:solidFill>
              <a:srgbClr val="2081A5"/>
            </a:solidFill>
          </p:spPr>
        </p:sp>
        <p:sp>
          <p:nvSpPr>
            <p:cNvPr name="TextBox 65" id="65"/>
            <p:cNvSpPr txBox="true"/>
            <p:nvPr/>
          </p:nvSpPr>
          <p:spPr>
            <a:xfrm>
              <a:off x="0" y="-47625"/>
              <a:ext cx="599159" cy="1721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sp>
        <p:nvSpPr>
          <p:cNvPr name="TextBox 66" id="66"/>
          <p:cNvSpPr txBox="true"/>
          <p:nvPr/>
        </p:nvSpPr>
        <p:spPr>
          <a:xfrm rot="0">
            <a:off x="9154023" y="8062880"/>
            <a:ext cx="2762447" cy="396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400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verifyIntegri</a:t>
            </a:r>
            <a:r>
              <a:rPr lang="en-US" b="true" sz="240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ty()</a:t>
            </a:r>
          </a:p>
        </p:txBody>
      </p:sp>
      <p:sp>
        <p:nvSpPr>
          <p:cNvPr name="TextBox 67" id="67"/>
          <p:cNvSpPr txBox="true"/>
          <p:nvPr/>
        </p:nvSpPr>
        <p:spPr>
          <a:xfrm rot="0">
            <a:off x="12282868" y="7893893"/>
            <a:ext cx="4976432" cy="8153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Ver</a:t>
            </a:r>
            <a:r>
              <a:rPr lang="en-US" sz="24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ifikasi keaslian data dengan mencocokkan hash.</a:t>
            </a:r>
          </a:p>
        </p:txBody>
      </p:sp>
      <p:grpSp>
        <p:nvGrpSpPr>
          <p:cNvPr name="Group 68" id="68"/>
          <p:cNvGrpSpPr/>
          <p:nvPr/>
        </p:nvGrpSpPr>
        <p:grpSpPr>
          <a:xfrm rot="0">
            <a:off x="1028700" y="8851577"/>
            <a:ext cx="2911912" cy="605259"/>
            <a:chOff x="0" y="0"/>
            <a:chExt cx="599159" cy="124539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599159" cy="124539"/>
            </a:xfrm>
            <a:custGeom>
              <a:avLst/>
              <a:gdLst/>
              <a:ahLst/>
              <a:cxnLst/>
              <a:rect r="r" b="b" t="t" l="l"/>
              <a:pathLst>
                <a:path h="124539" w="599159">
                  <a:moveTo>
                    <a:pt x="62269" y="0"/>
                  </a:moveTo>
                  <a:lnTo>
                    <a:pt x="536889" y="0"/>
                  </a:lnTo>
                  <a:cubicBezTo>
                    <a:pt x="571280" y="0"/>
                    <a:pt x="599159" y="27879"/>
                    <a:pt x="599159" y="62269"/>
                  </a:cubicBezTo>
                  <a:lnTo>
                    <a:pt x="599159" y="62269"/>
                  </a:lnTo>
                  <a:cubicBezTo>
                    <a:pt x="599159" y="96660"/>
                    <a:pt x="571280" y="124539"/>
                    <a:pt x="536889" y="124539"/>
                  </a:cubicBezTo>
                  <a:lnTo>
                    <a:pt x="62269" y="124539"/>
                  </a:lnTo>
                  <a:cubicBezTo>
                    <a:pt x="27879" y="124539"/>
                    <a:pt x="0" y="96660"/>
                    <a:pt x="0" y="62269"/>
                  </a:cubicBezTo>
                  <a:lnTo>
                    <a:pt x="0" y="62269"/>
                  </a:lnTo>
                  <a:cubicBezTo>
                    <a:pt x="0" y="27879"/>
                    <a:pt x="27879" y="0"/>
                    <a:pt x="62269" y="0"/>
                  </a:cubicBezTo>
                  <a:close/>
                </a:path>
              </a:pathLst>
            </a:custGeom>
            <a:solidFill>
              <a:srgbClr val="2081A5"/>
            </a:solidFill>
          </p:spPr>
        </p:sp>
        <p:sp>
          <p:nvSpPr>
            <p:cNvPr name="TextBox 70" id="70"/>
            <p:cNvSpPr txBox="true"/>
            <p:nvPr/>
          </p:nvSpPr>
          <p:spPr>
            <a:xfrm>
              <a:off x="0" y="-47625"/>
              <a:ext cx="599159" cy="1721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sp>
        <p:nvSpPr>
          <p:cNvPr name="TextBox 71" id="71"/>
          <p:cNvSpPr txBox="true"/>
          <p:nvPr/>
        </p:nvSpPr>
        <p:spPr>
          <a:xfrm rot="0">
            <a:off x="1103432" y="8915789"/>
            <a:ext cx="2762447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addMedi</a:t>
            </a:r>
            <a:r>
              <a:rPr lang="en-US" b="true" sz="200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calRecord()</a:t>
            </a:r>
          </a:p>
        </p:txBody>
      </p:sp>
    </p:spTree>
  </p:cSld>
  <p:clrMapOvr>
    <a:masterClrMapping/>
  </p:clrMapOvr>
  <p:transition spd="slow">
    <p:push dir="r"/>
  </p:transition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950267" y="294022"/>
            <a:ext cx="1959140" cy="734678"/>
          </a:xfrm>
          <a:custGeom>
            <a:avLst/>
            <a:gdLst/>
            <a:ahLst/>
            <a:cxnLst/>
            <a:rect r="r" b="b" t="t" l="l"/>
            <a:pathLst>
              <a:path h="734678" w="1959140">
                <a:moveTo>
                  <a:pt x="0" y="0"/>
                </a:moveTo>
                <a:lnTo>
                  <a:pt x="1959140" y="0"/>
                </a:lnTo>
                <a:lnTo>
                  <a:pt x="1959140" y="734678"/>
                </a:lnTo>
                <a:lnTo>
                  <a:pt x="0" y="73467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28700" y="2099441"/>
            <a:ext cx="2639772" cy="1573928"/>
            <a:chOff x="0" y="0"/>
            <a:chExt cx="543163" cy="323854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43163" cy="323854"/>
            </a:xfrm>
            <a:custGeom>
              <a:avLst/>
              <a:gdLst/>
              <a:ahLst/>
              <a:cxnLst/>
              <a:rect r="r" b="b" t="t" l="l"/>
              <a:pathLst>
                <a:path h="323854" w="543163">
                  <a:moveTo>
                    <a:pt x="114562" y="0"/>
                  </a:moveTo>
                  <a:lnTo>
                    <a:pt x="428601" y="0"/>
                  </a:lnTo>
                  <a:cubicBezTo>
                    <a:pt x="491872" y="0"/>
                    <a:pt x="543163" y="51291"/>
                    <a:pt x="543163" y="114562"/>
                  </a:cubicBezTo>
                  <a:lnTo>
                    <a:pt x="543163" y="209291"/>
                  </a:lnTo>
                  <a:cubicBezTo>
                    <a:pt x="543163" y="239675"/>
                    <a:pt x="531093" y="268814"/>
                    <a:pt x="509608" y="290299"/>
                  </a:cubicBezTo>
                  <a:cubicBezTo>
                    <a:pt x="488124" y="311784"/>
                    <a:pt x="458984" y="323854"/>
                    <a:pt x="428601" y="323854"/>
                  </a:cubicBezTo>
                  <a:lnTo>
                    <a:pt x="114562" y="323854"/>
                  </a:lnTo>
                  <a:cubicBezTo>
                    <a:pt x="51291" y="323854"/>
                    <a:pt x="0" y="272562"/>
                    <a:pt x="0" y="209291"/>
                  </a:cubicBezTo>
                  <a:lnTo>
                    <a:pt x="0" y="114562"/>
                  </a:lnTo>
                  <a:cubicBezTo>
                    <a:pt x="0" y="84179"/>
                    <a:pt x="12070" y="55039"/>
                    <a:pt x="33555" y="33555"/>
                  </a:cubicBezTo>
                  <a:cubicBezTo>
                    <a:pt x="55039" y="12070"/>
                    <a:pt x="84179" y="0"/>
                    <a:pt x="114562" y="0"/>
                  </a:cubicBezTo>
                  <a:close/>
                </a:path>
              </a:pathLst>
            </a:custGeom>
            <a:solidFill>
              <a:srgbClr val="2081A5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543163" cy="37147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4342958" y="294022"/>
            <a:ext cx="5181853" cy="9694757"/>
          </a:xfrm>
          <a:custGeom>
            <a:avLst/>
            <a:gdLst/>
            <a:ahLst/>
            <a:cxnLst/>
            <a:rect r="r" b="b" t="t" l="l"/>
            <a:pathLst>
              <a:path h="9694757" w="5181853">
                <a:moveTo>
                  <a:pt x="0" y="0"/>
                </a:moveTo>
                <a:lnTo>
                  <a:pt x="5181852" y="0"/>
                </a:lnTo>
                <a:lnTo>
                  <a:pt x="5181852" y="9694758"/>
                </a:lnTo>
                <a:lnTo>
                  <a:pt x="0" y="969475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0391585" y="294022"/>
            <a:ext cx="3126322" cy="9694757"/>
          </a:xfrm>
          <a:custGeom>
            <a:avLst/>
            <a:gdLst/>
            <a:ahLst/>
            <a:cxnLst/>
            <a:rect r="r" b="b" t="t" l="l"/>
            <a:pathLst>
              <a:path h="9694757" w="3126322">
                <a:moveTo>
                  <a:pt x="0" y="0"/>
                </a:moveTo>
                <a:lnTo>
                  <a:pt x="3126323" y="0"/>
                </a:lnTo>
                <a:lnTo>
                  <a:pt x="3126323" y="9694758"/>
                </a:lnTo>
                <a:lnTo>
                  <a:pt x="0" y="969475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028700" y="952500"/>
            <a:ext cx="8905685" cy="752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99"/>
              </a:lnSpc>
            </a:pPr>
            <a:r>
              <a:rPr lang="en-US" sz="4499" b="true">
                <a:solidFill>
                  <a:srgbClr val="2081A5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DIAGRAM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96448" y="2669235"/>
            <a:ext cx="2504276" cy="396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b="true" sz="240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OTORISASI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14619528" y="2099441"/>
            <a:ext cx="2639772" cy="1573928"/>
            <a:chOff x="0" y="0"/>
            <a:chExt cx="543163" cy="323854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543163" cy="323854"/>
            </a:xfrm>
            <a:custGeom>
              <a:avLst/>
              <a:gdLst/>
              <a:ahLst/>
              <a:cxnLst/>
              <a:rect r="r" b="b" t="t" l="l"/>
              <a:pathLst>
                <a:path h="323854" w="543163">
                  <a:moveTo>
                    <a:pt x="114562" y="0"/>
                  </a:moveTo>
                  <a:lnTo>
                    <a:pt x="428601" y="0"/>
                  </a:lnTo>
                  <a:cubicBezTo>
                    <a:pt x="491872" y="0"/>
                    <a:pt x="543163" y="51291"/>
                    <a:pt x="543163" y="114562"/>
                  </a:cubicBezTo>
                  <a:lnTo>
                    <a:pt x="543163" y="209291"/>
                  </a:lnTo>
                  <a:cubicBezTo>
                    <a:pt x="543163" y="239675"/>
                    <a:pt x="531093" y="268814"/>
                    <a:pt x="509608" y="290299"/>
                  </a:cubicBezTo>
                  <a:cubicBezTo>
                    <a:pt x="488124" y="311784"/>
                    <a:pt x="458984" y="323854"/>
                    <a:pt x="428601" y="323854"/>
                  </a:cubicBezTo>
                  <a:lnTo>
                    <a:pt x="114562" y="323854"/>
                  </a:lnTo>
                  <a:cubicBezTo>
                    <a:pt x="51291" y="323854"/>
                    <a:pt x="0" y="272562"/>
                    <a:pt x="0" y="209291"/>
                  </a:cubicBezTo>
                  <a:lnTo>
                    <a:pt x="0" y="114562"/>
                  </a:lnTo>
                  <a:cubicBezTo>
                    <a:pt x="0" y="84179"/>
                    <a:pt x="12070" y="55039"/>
                    <a:pt x="33555" y="33555"/>
                  </a:cubicBezTo>
                  <a:cubicBezTo>
                    <a:pt x="55039" y="12070"/>
                    <a:pt x="84179" y="0"/>
                    <a:pt x="114562" y="0"/>
                  </a:cubicBezTo>
                  <a:close/>
                </a:path>
              </a:pathLst>
            </a:custGeom>
            <a:solidFill>
              <a:srgbClr val="2081A5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47625"/>
              <a:ext cx="543163" cy="37147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14687276" y="2459685"/>
            <a:ext cx="2504276" cy="8153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b="true" sz="240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INPUT RIWAYAT REKAM MEDIS</a:t>
            </a:r>
          </a:p>
        </p:txBody>
      </p:sp>
    </p:spTree>
  </p:cSld>
  <p:clrMapOvr>
    <a:masterClrMapping/>
  </p:clrMapOvr>
  <p:transition spd="slow">
    <p:push dir="r"/>
  </p:transition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950267" y="294022"/>
            <a:ext cx="1959140" cy="734678"/>
          </a:xfrm>
          <a:custGeom>
            <a:avLst/>
            <a:gdLst/>
            <a:ahLst/>
            <a:cxnLst/>
            <a:rect r="r" b="b" t="t" l="l"/>
            <a:pathLst>
              <a:path h="734678" w="1959140">
                <a:moveTo>
                  <a:pt x="0" y="0"/>
                </a:moveTo>
                <a:lnTo>
                  <a:pt x="1959140" y="0"/>
                </a:lnTo>
                <a:lnTo>
                  <a:pt x="1959140" y="734678"/>
                </a:lnTo>
                <a:lnTo>
                  <a:pt x="0" y="73467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952500"/>
            <a:ext cx="8905685" cy="752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99"/>
              </a:lnSpc>
            </a:pPr>
            <a:r>
              <a:rPr lang="en-US" sz="4499" b="true">
                <a:solidFill>
                  <a:srgbClr val="2081A5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DIAGRAM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9470526" y="445440"/>
            <a:ext cx="5254702" cy="9396120"/>
          </a:xfrm>
          <a:custGeom>
            <a:avLst/>
            <a:gdLst/>
            <a:ahLst/>
            <a:cxnLst/>
            <a:rect r="r" b="b" t="t" l="l"/>
            <a:pathLst>
              <a:path h="9396120" w="5254702">
                <a:moveTo>
                  <a:pt x="0" y="0"/>
                </a:moveTo>
                <a:lnTo>
                  <a:pt x="5254703" y="0"/>
                </a:lnTo>
                <a:lnTo>
                  <a:pt x="5254703" y="9396120"/>
                </a:lnTo>
                <a:lnTo>
                  <a:pt x="0" y="93961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4619528" y="2178608"/>
            <a:ext cx="2639772" cy="1573928"/>
            <a:chOff x="0" y="0"/>
            <a:chExt cx="543163" cy="32385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43163" cy="323854"/>
            </a:xfrm>
            <a:custGeom>
              <a:avLst/>
              <a:gdLst/>
              <a:ahLst/>
              <a:cxnLst/>
              <a:rect r="r" b="b" t="t" l="l"/>
              <a:pathLst>
                <a:path h="323854" w="543163">
                  <a:moveTo>
                    <a:pt x="114562" y="0"/>
                  </a:moveTo>
                  <a:lnTo>
                    <a:pt x="428601" y="0"/>
                  </a:lnTo>
                  <a:cubicBezTo>
                    <a:pt x="491872" y="0"/>
                    <a:pt x="543163" y="51291"/>
                    <a:pt x="543163" y="114562"/>
                  </a:cubicBezTo>
                  <a:lnTo>
                    <a:pt x="543163" y="209291"/>
                  </a:lnTo>
                  <a:cubicBezTo>
                    <a:pt x="543163" y="239675"/>
                    <a:pt x="531093" y="268814"/>
                    <a:pt x="509608" y="290299"/>
                  </a:cubicBezTo>
                  <a:cubicBezTo>
                    <a:pt x="488124" y="311784"/>
                    <a:pt x="458984" y="323854"/>
                    <a:pt x="428601" y="323854"/>
                  </a:cubicBezTo>
                  <a:lnTo>
                    <a:pt x="114562" y="323854"/>
                  </a:lnTo>
                  <a:cubicBezTo>
                    <a:pt x="51291" y="323854"/>
                    <a:pt x="0" y="272562"/>
                    <a:pt x="0" y="209291"/>
                  </a:cubicBezTo>
                  <a:lnTo>
                    <a:pt x="0" y="114562"/>
                  </a:lnTo>
                  <a:cubicBezTo>
                    <a:pt x="0" y="84179"/>
                    <a:pt x="12070" y="55039"/>
                    <a:pt x="33555" y="33555"/>
                  </a:cubicBezTo>
                  <a:cubicBezTo>
                    <a:pt x="55039" y="12070"/>
                    <a:pt x="84179" y="0"/>
                    <a:pt x="114562" y="0"/>
                  </a:cubicBezTo>
                  <a:close/>
                </a:path>
              </a:pathLst>
            </a:custGeom>
            <a:solidFill>
              <a:srgbClr val="2081A5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543163" cy="37147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028700" y="2099441"/>
            <a:ext cx="2639772" cy="1573928"/>
            <a:chOff x="0" y="0"/>
            <a:chExt cx="543163" cy="32385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43163" cy="323854"/>
            </a:xfrm>
            <a:custGeom>
              <a:avLst/>
              <a:gdLst/>
              <a:ahLst/>
              <a:cxnLst/>
              <a:rect r="r" b="b" t="t" l="l"/>
              <a:pathLst>
                <a:path h="323854" w="543163">
                  <a:moveTo>
                    <a:pt x="114562" y="0"/>
                  </a:moveTo>
                  <a:lnTo>
                    <a:pt x="428601" y="0"/>
                  </a:lnTo>
                  <a:cubicBezTo>
                    <a:pt x="491872" y="0"/>
                    <a:pt x="543163" y="51291"/>
                    <a:pt x="543163" y="114562"/>
                  </a:cubicBezTo>
                  <a:lnTo>
                    <a:pt x="543163" y="209291"/>
                  </a:lnTo>
                  <a:cubicBezTo>
                    <a:pt x="543163" y="239675"/>
                    <a:pt x="531093" y="268814"/>
                    <a:pt x="509608" y="290299"/>
                  </a:cubicBezTo>
                  <a:cubicBezTo>
                    <a:pt x="488124" y="311784"/>
                    <a:pt x="458984" y="323854"/>
                    <a:pt x="428601" y="323854"/>
                  </a:cubicBezTo>
                  <a:lnTo>
                    <a:pt x="114562" y="323854"/>
                  </a:lnTo>
                  <a:cubicBezTo>
                    <a:pt x="51291" y="323854"/>
                    <a:pt x="0" y="272562"/>
                    <a:pt x="0" y="209291"/>
                  </a:cubicBezTo>
                  <a:lnTo>
                    <a:pt x="0" y="114562"/>
                  </a:lnTo>
                  <a:cubicBezTo>
                    <a:pt x="0" y="84179"/>
                    <a:pt x="12070" y="55039"/>
                    <a:pt x="33555" y="33555"/>
                  </a:cubicBezTo>
                  <a:cubicBezTo>
                    <a:pt x="55039" y="12070"/>
                    <a:pt x="84179" y="0"/>
                    <a:pt x="114562" y="0"/>
                  </a:cubicBezTo>
                  <a:close/>
                </a:path>
              </a:pathLst>
            </a:custGeom>
            <a:solidFill>
              <a:srgbClr val="2081A5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543163" cy="37147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4620468" y="294022"/>
            <a:ext cx="3355445" cy="9547538"/>
          </a:xfrm>
          <a:custGeom>
            <a:avLst/>
            <a:gdLst/>
            <a:ahLst/>
            <a:cxnLst/>
            <a:rect r="r" b="b" t="t" l="l"/>
            <a:pathLst>
              <a:path h="9547538" w="3355445">
                <a:moveTo>
                  <a:pt x="0" y="0"/>
                </a:moveTo>
                <a:lnTo>
                  <a:pt x="3355445" y="0"/>
                </a:lnTo>
                <a:lnTo>
                  <a:pt x="3355445" y="9547538"/>
                </a:lnTo>
                <a:lnTo>
                  <a:pt x="0" y="954753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4687276" y="2538852"/>
            <a:ext cx="2504276" cy="8153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b="true" sz="240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ALUR BLOCKCHAIN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96448" y="2669235"/>
            <a:ext cx="2504276" cy="396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b="true" sz="240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REGISTRASI</a:t>
            </a:r>
          </a:p>
        </p:txBody>
      </p:sp>
    </p:spTree>
  </p:cSld>
  <p:clrMapOvr>
    <a:masterClrMapping/>
  </p:clrMapOvr>
  <p:transition spd="slow">
    <p:push dir="r"/>
  </p:transition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950267" y="294022"/>
            <a:ext cx="1959140" cy="734678"/>
          </a:xfrm>
          <a:custGeom>
            <a:avLst/>
            <a:gdLst/>
            <a:ahLst/>
            <a:cxnLst/>
            <a:rect r="r" b="b" t="t" l="l"/>
            <a:pathLst>
              <a:path h="734678" w="1959140">
                <a:moveTo>
                  <a:pt x="0" y="0"/>
                </a:moveTo>
                <a:lnTo>
                  <a:pt x="1959140" y="0"/>
                </a:lnTo>
                <a:lnTo>
                  <a:pt x="1959140" y="734678"/>
                </a:lnTo>
                <a:lnTo>
                  <a:pt x="0" y="73467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28700" y="2099441"/>
            <a:ext cx="5041172" cy="703091"/>
            <a:chOff x="0" y="0"/>
            <a:chExt cx="1037278" cy="144669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037278" cy="144669"/>
            </a:xfrm>
            <a:custGeom>
              <a:avLst/>
              <a:gdLst/>
              <a:ahLst/>
              <a:cxnLst/>
              <a:rect r="r" b="b" t="t" l="l"/>
              <a:pathLst>
                <a:path h="144669" w="1037278">
                  <a:moveTo>
                    <a:pt x="59990" y="0"/>
                  </a:moveTo>
                  <a:lnTo>
                    <a:pt x="977289" y="0"/>
                  </a:lnTo>
                  <a:cubicBezTo>
                    <a:pt x="993199" y="0"/>
                    <a:pt x="1008457" y="6320"/>
                    <a:pt x="1019708" y="17571"/>
                  </a:cubicBezTo>
                  <a:cubicBezTo>
                    <a:pt x="1030958" y="28821"/>
                    <a:pt x="1037278" y="44079"/>
                    <a:pt x="1037278" y="59990"/>
                  </a:cubicBezTo>
                  <a:lnTo>
                    <a:pt x="1037278" y="84679"/>
                  </a:lnTo>
                  <a:cubicBezTo>
                    <a:pt x="1037278" y="100589"/>
                    <a:pt x="1030958" y="115848"/>
                    <a:pt x="1019708" y="127098"/>
                  </a:cubicBezTo>
                  <a:cubicBezTo>
                    <a:pt x="1008457" y="138349"/>
                    <a:pt x="993199" y="144669"/>
                    <a:pt x="977289" y="144669"/>
                  </a:cubicBezTo>
                  <a:lnTo>
                    <a:pt x="59990" y="144669"/>
                  </a:lnTo>
                  <a:cubicBezTo>
                    <a:pt x="26858" y="144669"/>
                    <a:pt x="0" y="117811"/>
                    <a:pt x="0" y="84679"/>
                  </a:cubicBezTo>
                  <a:lnTo>
                    <a:pt x="0" y="59990"/>
                  </a:lnTo>
                  <a:cubicBezTo>
                    <a:pt x="0" y="44079"/>
                    <a:pt x="6320" y="28821"/>
                    <a:pt x="17571" y="17571"/>
                  </a:cubicBezTo>
                  <a:cubicBezTo>
                    <a:pt x="28821" y="6320"/>
                    <a:pt x="44079" y="0"/>
                    <a:pt x="59990" y="0"/>
                  </a:cubicBezTo>
                  <a:close/>
                </a:path>
              </a:pathLst>
            </a:custGeom>
            <a:solidFill>
              <a:srgbClr val="2081A5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1037278" cy="19229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028700" y="3151511"/>
            <a:ext cx="9378356" cy="5274200"/>
          </a:xfrm>
          <a:custGeom>
            <a:avLst/>
            <a:gdLst/>
            <a:ahLst/>
            <a:cxnLst/>
            <a:rect r="r" b="b" t="t" l="l"/>
            <a:pathLst>
              <a:path h="5274200" w="9378356">
                <a:moveTo>
                  <a:pt x="0" y="0"/>
                </a:moveTo>
                <a:lnTo>
                  <a:pt x="9378356" y="0"/>
                </a:lnTo>
                <a:lnTo>
                  <a:pt x="9378356" y="5274200"/>
                </a:lnTo>
                <a:lnTo>
                  <a:pt x="0" y="52742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12218128" y="1347788"/>
            <a:ext cx="5041172" cy="703091"/>
            <a:chOff x="0" y="0"/>
            <a:chExt cx="1037278" cy="144669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037278" cy="144669"/>
            </a:xfrm>
            <a:custGeom>
              <a:avLst/>
              <a:gdLst/>
              <a:ahLst/>
              <a:cxnLst/>
              <a:rect r="r" b="b" t="t" l="l"/>
              <a:pathLst>
                <a:path h="144669" w="1037278">
                  <a:moveTo>
                    <a:pt x="59990" y="0"/>
                  </a:moveTo>
                  <a:lnTo>
                    <a:pt x="977289" y="0"/>
                  </a:lnTo>
                  <a:cubicBezTo>
                    <a:pt x="993199" y="0"/>
                    <a:pt x="1008457" y="6320"/>
                    <a:pt x="1019708" y="17571"/>
                  </a:cubicBezTo>
                  <a:cubicBezTo>
                    <a:pt x="1030958" y="28821"/>
                    <a:pt x="1037278" y="44079"/>
                    <a:pt x="1037278" y="59990"/>
                  </a:cubicBezTo>
                  <a:lnTo>
                    <a:pt x="1037278" y="84679"/>
                  </a:lnTo>
                  <a:cubicBezTo>
                    <a:pt x="1037278" y="100589"/>
                    <a:pt x="1030958" y="115848"/>
                    <a:pt x="1019708" y="127098"/>
                  </a:cubicBezTo>
                  <a:cubicBezTo>
                    <a:pt x="1008457" y="138349"/>
                    <a:pt x="993199" y="144669"/>
                    <a:pt x="977289" y="144669"/>
                  </a:cubicBezTo>
                  <a:lnTo>
                    <a:pt x="59990" y="144669"/>
                  </a:lnTo>
                  <a:cubicBezTo>
                    <a:pt x="26858" y="144669"/>
                    <a:pt x="0" y="117811"/>
                    <a:pt x="0" y="84679"/>
                  </a:cubicBezTo>
                  <a:lnTo>
                    <a:pt x="0" y="59990"/>
                  </a:lnTo>
                  <a:cubicBezTo>
                    <a:pt x="0" y="44079"/>
                    <a:pt x="6320" y="28821"/>
                    <a:pt x="17571" y="17571"/>
                  </a:cubicBezTo>
                  <a:cubicBezTo>
                    <a:pt x="28821" y="6320"/>
                    <a:pt x="44079" y="0"/>
                    <a:pt x="59990" y="0"/>
                  </a:cubicBezTo>
                  <a:close/>
                </a:path>
              </a:pathLst>
            </a:custGeom>
            <a:solidFill>
              <a:srgbClr val="2081A5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47625"/>
              <a:ext cx="1037278" cy="19229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2218128" y="5383077"/>
            <a:ext cx="5041172" cy="703091"/>
            <a:chOff x="0" y="0"/>
            <a:chExt cx="1037278" cy="144669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037278" cy="144669"/>
            </a:xfrm>
            <a:custGeom>
              <a:avLst/>
              <a:gdLst/>
              <a:ahLst/>
              <a:cxnLst/>
              <a:rect r="r" b="b" t="t" l="l"/>
              <a:pathLst>
                <a:path h="144669" w="1037278">
                  <a:moveTo>
                    <a:pt x="59990" y="0"/>
                  </a:moveTo>
                  <a:lnTo>
                    <a:pt x="977289" y="0"/>
                  </a:lnTo>
                  <a:cubicBezTo>
                    <a:pt x="993199" y="0"/>
                    <a:pt x="1008457" y="6320"/>
                    <a:pt x="1019708" y="17571"/>
                  </a:cubicBezTo>
                  <a:cubicBezTo>
                    <a:pt x="1030958" y="28821"/>
                    <a:pt x="1037278" y="44079"/>
                    <a:pt x="1037278" y="59990"/>
                  </a:cubicBezTo>
                  <a:lnTo>
                    <a:pt x="1037278" y="84679"/>
                  </a:lnTo>
                  <a:cubicBezTo>
                    <a:pt x="1037278" y="100589"/>
                    <a:pt x="1030958" y="115848"/>
                    <a:pt x="1019708" y="127098"/>
                  </a:cubicBezTo>
                  <a:cubicBezTo>
                    <a:pt x="1008457" y="138349"/>
                    <a:pt x="993199" y="144669"/>
                    <a:pt x="977289" y="144669"/>
                  </a:cubicBezTo>
                  <a:lnTo>
                    <a:pt x="59990" y="144669"/>
                  </a:lnTo>
                  <a:cubicBezTo>
                    <a:pt x="26858" y="144669"/>
                    <a:pt x="0" y="117811"/>
                    <a:pt x="0" y="84679"/>
                  </a:cubicBezTo>
                  <a:lnTo>
                    <a:pt x="0" y="59990"/>
                  </a:lnTo>
                  <a:cubicBezTo>
                    <a:pt x="0" y="44079"/>
                    <a:pt x="6320" y="28821"/>
                    <a:pt x="17571" y="17571"/>
                  </a:cubicBezTo>
                  <a:cubicBezTo>
                    <a:pt x="28821" y="6320"/>
                    <a:pt x="44079" y="0"/>
                    <a:pt x="59990" y="0"/>
                  </a:cubicBezTo>
                  <a:close/>
                </a:path>
              </a:pathLst>
            </a:custGeom>
            <a:solidFill>
              <a:srgbClr val="2081A5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47625"/>
              <a:ext cx="1037278" cy="19229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sp>
        <p:nvSpPr>
          <p:cNvPr name="Freeform 13" id="13"/>
          <p:cNvSpPr/>
          <p:nvPr/>
        </p:nvSpPr>
        <p:spPr>
          <a:xfrm flipH="false" flipV="false" rot="0">
            <a:off x="10976822" y="6210283"/>
            <a:ext cx="6282478" cy="3531135"/>
          </a:xfrm>
          <a:custGeom>
            <a:avLst/>
            <a:gdLst/>
            <a:ahLst/>
            <a:cxnLst/>
            <a:rect r="r" b="b" t="t" l="l"/>
            <a:pathLst>
              <a:path h="3531135" w="6282478">
                <a:moveTo>
                  <a:pt x="0" y="0"/>
                </a:moveTo>
                <a:lnTo>
                  <a:pt x="6282478" y="0"/>
                </a:lnTo>
                <a:lnTo>
                  <a:pt x="6282478" y="3531135"/>
                </a:lnTo>
                <a:lnTo>
                  <a:pt x="0" y="353113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0976822" y="2189071"/>
            <a:ext cx="6282478" cy="3022557"/>
          </a:xfrm>
          <a:custGeom>
            <a:avLst/>
            <a:gdLst/>
            <a:ahLst/>
            <a:cxnLst/>
            <a:rect r="r" b="b" t="t" l="l"/>
            <a:pathLst>
              <a:path h="3022557" w="6282478">
                <a:moveTo>
                  <a:pt x="0" y="0"/>
                </a:moveTo>
                <a:lnTo>
                  <a:pt x="6282478" y="0"/>
                </a:lnTo>
                <a:lnTo>
                  <a:pt x="6282478" y="3022556"/>
                </a:lnTo>
                <a:lnTo>
                  <a:pt x="0" y="302255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-10421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1028700" y="952500"/>
            <a:ext cx="8905685" cy="752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99"/>
              </a:lnSpc>
            </a:pPr>
            <a:r>
              <a:rPr lang="en-US" sz="4499" b="true">
                <a:solidFill>
                  <a:srgbClr val="2081A5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USER INTERFACE - MEDICHAIN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158079" y="2233816"/>
            <a:ext cx="4782415" cy="396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b="true" sz="240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HOME - LAUNCH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2347506" y="1482163"/>
            <a:ext cx="4782415" cy="396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b="true" sz="240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REGISTER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2347506" y="5517453"/>
            <a:ext cx="4782415" cy="396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b="true" sz="240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LOGIN</a:t>
            </a:r>
          </a:p>
        </p:txBody>
      </p:sp>
    </p:spTree>
  </p:cSld>
  <p:clrMapOvr>
    <a:masterClrMapping/>
  </p:clrMapOvr>
  <p:transition spd="slow">
    <p:push dir="r"/>
  </p:transition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950267" y="294022"/>
            <a:ext cx="1959140" cy="734678"/>
          </a:xfrm>
          <a:custGeom>
            <a:avLst/>
            <a:gdLst/>
            <a:ahLst/>
            <a:cxnLst/>
            <a:rect r="r" b="b" t="t" l="l"/>
            <a:pathLst>
              <a:path h="734678" w="1959140">
                <a:moveTo>
                  <a:pt x="0" y="0"/>
                </a:moveTo>
                <a:lnTo>
                  <a:pt x="1959140" y="0"/>
                </a:lnTo>
                <a:lnTo>
                  <a:pt x="1959140" y="734678"/>
                </a:lnTo>
                <a:lnTo>
                  <a:pt x="0" y="73467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28700" y="2099441"/>
            <a:ext cx="5041172" cy="703091"/>
            <a:chOff x="0" y="0"/>
            <a:chExt cx="1037278" cy="144669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037278" cy="144669"/>
            </a:xfrm>
            <a:custGeom>
              <a:avLst/>
              <a:gdLst/>
              <a:ahLst/>
              <a:cxnLst/>
              <a:rect r="r" b="b" t="t" l="l"/>
              <a:pathLst>
                <a:path h="144669" w="1037278">
                  <a:moveTo>
                    <a:pt x="59990" y="0"/>
                  </a:moveTo>
                  <a:lnTo>
                    <a:pt x="977289" y="0"/>
                  </a:lnTo>
                  <a:cubicBezTo>
                    <a:pt x="993199" y="0"/>
                    <a:pt x="1008457" y="6320"/>
                    <a:pt x="1019708" y="17571"/>
                  </a:cubicBezTo>
                  <a:cubicBezTo>
                    <a:pt x="1030958" y="28821"/>
                    <a:pt x="1037278" y="44079"/>
                    <a:pt x="1037278" y="59990"/>
                  </a:cubicBezTo>
                  <a:lnTo>
                    <a:pt x="1037278" y="84679"/>
                  </a:lnTo>
                  <a:cubicBezTo>
                    <a:pt x="1037278" y="100589"/>
                    <a:pt x="1030958" y="115848"/>
                    <a:pt x="1019708" y="127098"/>
                  </a:cubicBezTo>
                  <a:cubicBezTo>
                    <a:pt x="1008457" y="138349"/>
                    <a:pt x="993199" y="144669"/>
                    <a:pt x="977289" y="144669"/>
                  </a:cubicBezTo>
                  <a:lnTo>
                    <a:pt x="59990" y="144669"/>
                  </a:lnTo>
                  <a:cubicBezTo>
                    <a:pt x="26858" y="144669"/>
                    <a:pt x="0" y="117811"/>
                    <a:pt x="0" y="84679"/>
                  </a:cubicBezTo>
                  <a:lnTo>
                    <a:pt x="0" y="59990"/>
                  </a:lnTo>
                  <a:cubicBezTo>
                    <a:pt x="0" y="44079"/>
                    <a:pt x="6320" y="28821"/>
                    <a:pt x="17571" y="17571"/>
                  </a:cubicBezTo>
                  <a:cubicBezTo>
                    <a:pt x="28821" y="6320"/>
                    <a:pt x="44079" y="0"/>
                    <a:pt x="59990" y="0"/>
                  </a:cubicBezTo>
                  <a:close/>
                </a:path>
              </a:pathLst>
            </a:custGeom>
            <a:solidFill>
              <a:srgbClr val="2081A5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1037278" cy="19229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028700" y="3574167"/>
            <a:ext cx="7276185" cy="4104515"/>
          </a:xfrm>
          <a:custGeom>
            <a:avLst/>
            <a:gdLst/>
            <a:ahLst/>
            <a:cxnLst/>
            <a:rect r="r" b="b" t="t" l="l"/>
            <a:pathLst>
              <a:path h="4104515" w="7276185">
                <a:moveTo>
                  <a:pt x="0" y="0"/>
                </a:moveTo>
                <a:lnTo>
                  <a:pt x="7276185" y="0"/>
                </a:lnTo>
                <a:lnTo>
                  <a:pt x="7276185" y="4104515"/>
                </a:lnTo>
                <a:lnTo>
                  <a:pt x="0" y="410451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8709874" y="3574167"/>
            <a:ext cx="8549426" cy="4104515"/>
          </a:xfrm>
          <a:custGeom>
            <a:avLst/>
            <a:gdLst/>
            <a:ahLst/>
            <a:cxnLst/>
            <a:rect r="r" b="b" t="t" l="l"/>
            <a:pathLst>
              <a:path h="4104515" w="8549426">
                <a:moveTo>
                  <a:pt x="0" y="0"/>
                </a:moveTo>
                <a:lnTo>
                  <a:pt x="8549426" y="0"/>
                </a:lnTo>
                <a:lnTo>
                  <a:pt x="8549426" y="4104515"/>
                </a:lnTo>
                <a:lnTo>
                  <a:pt x="0" y="410451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10655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028700" y="952500"/>
            <a:ext cx="8905685" cy="752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99"/>
              </a:lnSpc>
            </a:pPr>
            <a:r>
              <a:rPr lang="en-US" sz="4499" b="true">
                <a:solidFill>
                  <a:srgbClr val="2081A5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USER INTERFACE - MEDICHAIN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158079" y="2233816"/>
            <a:ext cx="4782415" cy="396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b="true" sz="240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FITUR - DOKTER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28700" y="3154956"/>
            <a:ext cx="5634754" cy="396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359"/>
              </a:lnSpc>
            </a:pPr>
            <a:r>
              <a:rPr lang="en-US" b="true" sz="2400">
                <a:solidFill>
                  <a:srgbClr val="2081A5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GET AKSES DATA RIWAYAT PASIEN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8709874" y="3154956"/>
            <a:ext cx="4782415" cy="396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359"/>
              </a:lnSpc>
            </a:pPr>
            <a:r>
              <a:rPr lang="en-US" b="true" sz="2400">
                <a:solidFill>
                  <a:srgbClr val="2081A5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LIHAT RIWAYAT MEDIS PASIEN</a:t>
            </a:r>
          </a:p>
        </p:txBody>
      </p:sp>
    </p:spTree>
  </p:cSld>
  <p:clrMapOvr>
    <a:masterClrMapping/>
  </p:clrMapOvr>
  <p:transition spd="slow">
    <p:push dir="r"/>
  </p:transition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950267" y="294022"/>
            <a:ext cx="1959140" cy="734678"/>
          </a:xfrm>
          <a:custGeom>
            <a:avLst/>
            <a:gdLst/>
            <a:ahLst/>
            <a:cxnLst/>
            <a:rect r="r" b="b" t="t" l="l"/>
            <a:pathLst>
              <a:path h="734678" w="1959140">
                <a:moveTo>
                  <a:pt x="0" y="0"/>
                </a:moveTo>
                <a:lnTo>
                  <a:pt x="1959140" y="0"/>
                </a:lnTo>
                <a:lnTo>
                  <a:pt x="1959140" y="734678"/>
                </a:lnTo>
                <a:lnTo>
                  <a:pt x="0" y="73467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28700" y="2099441"/>
            <a:ext cx="5041172" cy="703091"/>
            <a:chOff x="0" y="0"/>
            <a:chExt cx="1037278" cy="144669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037278" cy="144669"/>
            </a:xfrm>
            <a:custGeom>
              <a:avLst/>
              <a:gdLst/>
              <a:ahLst/>
              <a:cxnLst/>
              <a:rect r="r" b="b" t="t" l="l"/>
              <a:pathLst>
                <a:path h="144669" w="1037278">
                  <a:moveTo>
                    <a:pt x="59990" y="0"/>
                  </a:moveTo>
                  <a:lnTo>
                    <a:pt x="977289" y="0"/>
                  </a:lnTo>
                  <a:cubicBezTo>
                    <a:pt x="993199" y="0"/>
                    <a:pt x="1008457" y="6320"/>
                    <a:pt x="1019708" y="17571"/>
                  </a:cubicBezTo>
                  <a:cubicBezTo>
                    <a:pt x="1030958" y="28821"/>
                    <a:pt x="1037278" y="44079"/>
                    <a:pt x="1037278" y="59990"/>
                  </a:cubicBezTo>
                  <a:lnTo>
                    <a:pt x="1037278" y="84679"/>
                  </a:lnTo>
                  <a:cubicBezTo>
                    <a:pt x="1037278" y="100589"/>
                    <a:pt x="1030958" y="115848"/>
                    <a:pt x="1019708" y="127098"/>
                  </a:cubicBezTo>
                  <a:cubicBezTo>
                    <a:pt x="1008457" y="138349"/>
                    <a:pt x="993199" y="144669"/>
                    <a:pt x="977289" y="144669"/>
                  </a:cubicBezTo>
                  <a:lnTo>
                    <a:pt x="59990" y="144669"/>
                  </a:lnTo>
                  <a:cubicBezTo>
                    <a:pt x="26858" y="144669"/>
                    <a:pt x="0" y="117811"/>
                    <a:pt x="0" y="84679"/>
                  </a:cubicBezTo>
                  <a:lnTo>
                    <a:pt x="0" y="59990"/>
                  </a:lnTo>
                  <a:cubicBezTo>
                    <a:pt x="0" y="44079"/>
                    <a:pt x="6320" y="28821"/>
                    <a:pt x="17571" y="17571"/>
                  </a:cubicBezTo>
                  <a:cubicBezTo>
                    <a:pt x="28821" y="6320"/>
                    <a:pt x="44079" y="0"/>
                    <a:pt x="59990" y="0"/>
                  </a:cubicBezTo>
                  <a:close/>
                </a:path>
              </a:pathLst>
            </a:custGeom>
            <a:solidFill>
              <a:srgbClr val="2081A5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1037278" cy="19229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028700" y="3797915"/>
            <a:ext cx="8115300" cy="3887369"/>
          </a:xfrm>
          <a:custGeom>
            <a:avLst/>
            <a:gdLst/>
            <a:ahLst/>
            <a:cxnLst/>
            <a:rect r="r" b="b" t="t" l="l"/>
            <a:pathLst>
              <a:path h="3887369" w="8115300">
                <a:moveTo>
                  <a:pt x="0" y="0"/>
                </a:moveTo>
                <a:lnTo>
                  <a:pt x="8115300" y="0"/>
                </a:lnTo>
                <a:lnTo>
                  <a:pt x="8115300" y="3887370"/>
                </a:lnTo>
                <a:lnTo>
                  <a:pt x="0" y="388737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10904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9934385" y="2099441"/>
            <a:ext cx="7324915" cy="3496895"/>
          </a:xfrm>
          <a:custGeom>
            <a:avLst/>
            <a:gdLst/>
            <a:ahLst/>
            <a:cxnLst/>
            <a:rect r="r" b="b" t="t" l="l"/>
            <a:pathLst>
              <a:path h="3496895" w="7324915">
                <a:moveTo>
                  <a:pt x="0" y="0"/>
                </a:moveTo>
                <a:lnTo>
                  <a:pt x="7324915" y="0"/>
                </a:lnTo>
                <a:lnTo>
                  <a:pt x="7324915" y="3496895"/>
                </a:lnTo>
                <a:lnTo>
                  <a:pt x="0" y="349689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1128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9934385" y="6263628"/>
            <a:ext cx="7324915" cy="3520268"/>
          </a:xfrm>
          <a:custGeom>
            <a:avLst/>
            <a:gdLst/>
            <a:ahLst/>
            <a:cxnLst/>
            <a:rect r="r" b="b" t="t" l="l"/>
            <a:pathLst>
              <a:path h="3520268" w="7324915">
                <a:moveTo>
                  <a:pt x="0" y="0"/>
                </a:moveTo>
                <a:lnTo>
                  <a:pt x="7324915" y="0"/>
                </a:lnTo>
                <a:lnTo>
                  <a:pt x="7324915" y="3520267"/>
                </a:lnTo>
                <a:lnTo>
                  <a:pt x="0" y="352026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-10541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028700" y="952500"/>
            <a:ext cx="8905685" cy="752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99"/>
              </a:lnSpc>
            </a:pPr>
            <a:r>
              <a:rPr lang="en-US" sz="4499" b="true">
                <a:solidFill>
                  <a:srgbClr val="2081A5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USER INTERFACE - MEDICHAIN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158079" y="2233816"/>
            <a:ext cx="4782415" cy="396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b="true" sz="240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FITUR - DOKTER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28700" y="3383556"/>
            <a:ext cx="4782415" cy="396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359"/>
              </a:lnSpc>
            </a:pPr>
            <a:r>
              <a:rPr lang="en-US" b="true" sz="2400">
                <a:solidFill>
                  <a:srgbClr val="2081A5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INPUT RIWAYAT MEDIS BARU</a:t>
            </a:r>
          </a:p>
        </p:txBody>
      </p:sp>
    </p:spTree>
  </p:cSld>
  <p:clrMapOvr>
    <a:masterClrMapping/>
  </p:clrMapOvr>
  <p:transition spd="slow">
    <p:push dir="r"/>
  </p:transition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950267" y="294022"/>
            <a:ext cx="1959140" cy="734678"/>
          </a:xfrm>
          <a:custGeom>
            <a:avLst/>
            <a:gdLst/>
            <a:ahLst/>
            <a:cxnLst/>
            <a:rect r="r" b="b" t="t" l="l"/>
            <a:pathLst>
              <a:path h="734678" w="1959140">
                <a:moveTo>
                  <a:pt x="0" y="0"/>
                </a:moveTo>
                <a:lnTo>
                  <a:pt x="1959140" y="0"/>
                </a:lnTo>
                <a:lnTo>
                  <a:pt x="1959140" y="734678"/>
                </a:lnTo>
                <a:lnTo>
                  <a:pt x="0" y="73467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28700" y="2099441"/>
            <a:ext cx="5041172" cy="703091"/>
            <a:chOff x="0" y="0"/>
            <a:chExt cx="1037278" cy="144669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037278" cy="144669"/>
            </a:xfrm>
            <a:custGeom>
              <a:avLst/>
              <a:gdLst/>
              <a:ahLst/>
              <a:cxnLst/>
              <a:rect r="r" b="b" t="t" l="l"/>
              <a:pathLst>
                <a:path h="144669" w="1037278">
                  <a:moveTo>
                    <a:pt x="59990" y="0"/>
                  </a:moveTo>
                  <a:lnTo>
                    <a:pt x="977289" y="0"/>
                  </a:lnTo>
                  <a:cubicBezTo>
                    <a:pt x="993199" y="0"/>
                    <a:pt x="1008457" y="6320"/>
                    <a:pt x="1019708" y="17571"/>
                  </a:cubicBezTo>
                  <a:cubicBezTo>
                    <a:pt x="1030958" y="28821"/>
                    <a:pt x="1037278" y="44079"/>
                    <a:pt x="1037278" y="59990"/>
                  </a:cubicBezTo>
                  <a:lnTo>
                    <a:pt x="1037278" y="84679"/>
                  </a:lnTo>
                  <a:cubicBezTo>
                    <a:pt x="1037278" y="100589"/>
                    <a:pt x="1030958" y="115848"/>
                    <a:pt x="1019708" y="127098"/>
                  </a:cubicBezTo>
                  <a:cubicBezTo>
                    <a:pt x="1008457" y="138349"/>
                    <a:pt x="993199" y="144669"/>
                    <a:pt x="977289" y="144669"/>
                  </a:cubicBezTo>
                  <a:lnTo>
                    <a:pt x="59990" y="144669"/>
                  </a:lnTo>
                  <a:cubicBezTo>
                    <a:pt x="26858" y="144669"/>
                    <a:pt x="0" y="117811"/>
                    <a:pt x="0" y="84679"/>
                  </a:cubicBezTo>
                  <a:lnTo>
                    <a:pt x="0" y="59990"/>
                  </a:lnTo>
                  <a:cubicBezTo>
                    <a:pt x="0" y="44079"/>
                    <a:pt x="6320" y="28821"/>
                    <a:pt x="17571" y="17571"/>
                  </a:cubicBezTo>
                  <a:cubicBezTo>
                    <a:pt x="28821" y="6320"/>
                    <a:pt x="44079" y="0"/>
                    <a:pt x="59990" y="0"/>
                  </a:cubicBezTo>
                  <a:close/>
                </a:path>
              </a:pathLst>
            </a:custGeom>
            <a:solidFill>
              <a:srgbClr val="2081A5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1037278" cy="19229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9934385" y="2099441"/>
            <a:ext cx="7324915" cy="3490969"/>
          </a:xfrm>
          <a:custGeom>
            <a:avLst/>
            <a:gdLst/>
            <a:ahLst/>
            <a:cxnLst/>
            <a:rect r="r" b="b" t="t" l="l"/>
            <a:pathLst>
              <a:path h="3490969" w="7324915">
                <a:moveTo>
                  <a:pt x="0" y="0"/>
                </a:moveTo>
                <a:lnTo>
                  <a:pt x="7324915" y="0"/>
                </a:lnTo>
                <a:lnTo>
                  <a:pt x="7324915" y="3490969"/>
                </a:lnTo>
                <a:lnTo>
                  <a:pt x="0" y="349096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11469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028700" y="3570246"/>
            <a:ext cx="8115300" cy="4572580"/>
          </a:xfrm>
          <a:custGeom>
            <a:avLst/>
            <a:gdLst/>
            <a:ahLst/>
            <a:cxnLst/>
            <a:rect r="r" b="b" t="t" l="l"/>
            <a:pathLst>
              <a:path h="4572580" w="8115300">
                <a:moveTo>
                  <a:pt x="0" y="0"/>
                </a:moveTo>
                <a:lnTo>
                  <a:pt x="8115300" y="0"/>
                </a:lnTo>
                <a:lnTo>
                  <a:pt x="8115300" y="4572581"/>
                </a:lnTo>
                <a:lnTo>
                  <a:pt x="0" y="457258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028700" y="952500"/>
            <a:ext cx="8905685" cy="752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99"/>
              </a:lnSpc>
            </a:pPr>
            <a:r>
              <a:rPr lang="en-US" sz="4499" b="true">
                <a:solidFill>
                  <a:srgbClr val="2081A5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USER INTERFACE - MEDICHAIN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158079" y="2233816"/>
            <a:ext cx="4782415" cy="396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b="true" sz="240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FITUR - PASIEN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9934385" y="6210667"/>
            <a:ext cx="7324915" cy="3485915"/>
          </a:xfrm>
          <a:custGeom>
            <a:avLst/>
            <a:gdLst/>
            <a:ahLst/>
            <a:cxnLst/>
            <a:rect r="r" b="b" t="t" l="l"/>
            <a:pathLst>
              <a:path h="3485915" w="7324915">
                <a:moveTo>
                  <a:pt x="0" y="0"/>
                </a:moveTo>
                <a:lnTo>
                  <a:pt x="7324915" y="0"/>
                </a:lnTo>
                <a:lnTo>
                  <a:pt x="7324915" y="3485915"/>
                </a:lnTo>
                <a:lnTo>
                  <a:pt x="0" y="348591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-1163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028700" y="3154956"/>
            <a:ext cx="4782415" cy="396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359"/>
              </a:lnSpc>
            </a:pPr>
            <a:r>
              <a:rPr lang="en-US" b="true" sz="2400">
                <a:solidFill>
                  <a:srgbClr val="2081A5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DASHBOARD PASIEN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943910" y="1685925"/>
            <a:ext cx="4782415" cy="396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359"/>
              </a:lnSpc>
            </a:pPr>
            <a:r>
              <a:rPr lang="en-US" b="true" sz="2400">
                <a:solidFill>
                  <a:srgbClr val="2081A5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LIHAT RIWAYAT MEDIS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962960" y="5795421"/>
            <a:ext cx="5987306" cy="396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359"/>
              </a:lnSpc>
            </a:pPr>
            <a:r>
              <a:rPr lang="en-US" b="true" sz="2400">
                <a:solidFill>
                  <a:srgbClr val="2081A5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BERI DAN CABUT IZIN AKSES DOKTER</a:t>
            </a:r>
          </a:p>
        </p:txBody>
      </p:sp>
    </p:spTree>
  </p:cSld>
  <p:clrMapOvr>
    <a:masterClrMapping/>
  </p:clrMapOvr>
  <p:transition spd="slow">
    <p:push dir="r"/>
  </p:transition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950267" y="294022"/>
            <a:ext cx="1959140" cy="734678"/>
          </a:xfrm>
          <a:custGeom>
            <a:avLst/>
            <a:gdLst/>
            <a:ahLst/>
            <a:cxnLst/>
            <a:rect r="r" b="b" t="t" l="l"/>
            <a:pathLst>
              <a:path h="734678" w="1959140">
                <a:moveTo>
                  <a:pt x="0" y="0"/>
                </a:moveTo>
                <a:lnTo>
                  <a:pt x="1959140" y="0"/>
                </a:lnTo>
                <a:lnTo>
                  <a:pt x="1959140" y="734678"/>
                </a:lnTo>
                <a:lnTo>
                  <a:pt x="0" y="73467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28700" y="2099441"/>
            <a:ext cx="5041172" cy="703091"/>
            <a:chOff x="0" y="0"/>
            <a:chExt cx="1037278" cy="144669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037278" cy="144669"/>
            </a:xfrm>
            <a:custGeom>
              <a:avLst/>
              <a:gdLst/>
              <a:ahLst/>
              <a:cxnLst/>
              <a:rect r="r" b="b" t="t" l="l"/>
              <a:pathLst>
                <a:path h="144669" w="1037278">
                  <a:moveTo>
                    <a:pt x="59990" y="0"/>
                  </a:moveTo>
                  <a:lnTo>
                    <a:pt x="977289" y="0"/>
                  </a:lnTo>
                  <a:cubicBezTo>
                    <a:pt x="993199" y="0"/>
                    <a:pt x="1008457" y="6320"/>
                    <a:pt x="1019708" y="17571"/>
                  </a:cubicBezTo>
                  <a:cubicBezTo>
                    <a:pt x="1030958" y="28821"/>
                    <a:pt x="1037278" y="44079"/>
                    <a:pt x="1037278" y="59990"/>
                  </a:cubicBezTo>
                  <a:lnTo>
                    <a:pt x="1037278" y="84679"/>
                  </a:lnTo>
                  <a:cubicBezTo>
                    <a:pt x="1037278" y="100589"/>
                    <a:pt x="1030958" y="115848"/>
                    <a:pt x="1019708" y="127098"/>
                  </a:cubicBezTo>
                  <a:cubicBezTo>
                    <a:pt x="1008457" y="138349"/>
                    <a:pt x="993199" y="144669"/>
                    <a:pt x="977289" y="144669"/>
                  </a:cubicBezTo>
                  <a:lnTo>
                    <a:pt x="59990" y="144669"/>
                  </a:lnTo>
                  <a:cubicBezTo>
                    <a:pt x="26858" y="144669"/>
                    <a:pt x="0" y="117811"/>
                    <a:pt x="0" y="84679"/>
                  </a:cubicBezTo>
                  <a:lnTo>
                    <a:pt x="0" y="59990"/>
                  </a:lnTo>
                  <a:cubicBezTo>
                    <a:pt x="0" y="44079"/>
                    <a:pt x="6320" y="28821"/>
                    <a:pt x="17571" y="17571"/>
                  </a:cubicBezTo>
                  <a:cubicBezTo>
                    <a:pt x="28821" y="6320"/>
                    <a:pt x="44079" y="0"/>
                    <a:pt x="59990" y="0"/>
                  </a:cubicBezTo>
                  <a:close/>
                </a:path>
              </a:pathLst>
            </a:custGeom>
            <a:solidFill>
              <a:srgbClr val="2081A5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1037278" cy="19229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028700" y="3024490"/>
            <a:ext cx="6431569" cy="800909"/>
            <a:chOff x="0" y="0"/>
            <a:chExt cx="1323368" cy="16479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323368" cy="164796"/>
            </a:xfrm>
            <a:custGeom>
              <a:avLst/>
              <a:gdLst/>
              <a:ahLst/>
              <a:cxnLst/>
              <a:rect r="r" b="b" t="t" l="l"/>
              <a:pathLst>
                <a:path h="164796" w="1323368">
                  <a:moveTo>
                    <a:pt x="47021" y="0"/>
                  </a:moveTo>
                  <a:lnTo>
                    <a:pt x="1276347" y="0"/>
                  </a:lnTo>
                  <a:cubicBezTo>
                    <a:pt x="1302316" y="0"/>
                    <a:pt x="1323368" y="21052"/>
                    <a:pt x="1323368" y="47021"/>
                  </a:cubicBezTo>
                  <a:lnTo>
                    <a:pt x="1323368" y="117775"/>
                  </a:lnTo>
                  <a:cubicBezTo>
                    <a:pt x="1323368" y="143744"/>
                    <a:pt x="1302316" y="164796"/>
                    <a:pt x="1276347" y="164796"/>
                  </a:cubicBezTo>
                  <a:lnTo>
                    <a:pt x="47021" y="164796"/>
                  </a:lnTo>
                  <a:cubicBezTo>
                    <a:pt x="21052" y="164796"/>
                    <a:pt x="0" y="143744"/>
                    <a:pt x="0" y="117775"/>
                  </a:cubicBezTo>
                  <a:lnTo>
                    <a:pt x="0" y="47021"/>
                  </a:lnTo>
                  <a:cubicBezTo>
                    <a:pt x="0" y="21052"/>
                    <a:pt x="21052" y="0"/>
                    <a:pt x="47021" y="0"/>
                  </a:cubicBezTo>
                  <a:close/>
                </a:path>
              </a:pathLst>
            </a:custGeom>
            <a:solidFill>
              <a:srgbClr val="2081A5">
                <a:alpha val="19608"/>
              </a:srgbClr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1323368" cy="21242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0827731" y="3024014"/>
            <a:ext cx="6431569" cy="800909"/>
            <a:chOff x="0" y="0"/>
            <a:chExt cx="1323368" cy="164796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323368" cy="164796"/>
            </a:xfrm>
            <a:custGeom>
              <a:avLst/>
              <a:gdLst/>
              <a:ahLst/>
              <a:cxnLst/>
              <a:rect r="r" b="b" t="t" l="l"/>
              <a:pathLst>
                <a:path h="164796" w="1323368">
                  <a:moveTo>
                    <a:pt x="47021" y="0"/>
                  </a:moveTo>
                  <a:lnTo>
                    <a:pt x="1276347" y="0"/>
                  </a:lnTo>
                  <a:cubicBezTo>
                    <a:pt x="1302316" y="0"/>
                    <a:pt x="1323368" y="21052"/>
                    <a:pt x="1323368" y="47021"/>
                  </a:cubicBezTo>
                  <a:lnTo>
                    <a:pt x="1323368" y="117775"/>
                  </a:lnTo>
                  <a:cubicBezTo>
                    <a:pt x="1323368" y="143744"/>
                    <a:pt x="1302316" y="164796"/>
                    <a:pt x="1276347" y="164796"/>
                  </a:cubicBezTo>
                  <a:lnTo>
                    <a:pt x="47021" y="164796"/>
                  </a:lnTo>
                  <a:cubicBezTo>
                    <a:pt x="21052" y="164796"/>
                    <a:pt x="0" y="143744"/>
                    <a:pt x="0" y="117775"/>
                  </a:cubicBezTo>
                  <a:lnTo>
                    <a:pt x="0" y="47021"/>
                  </a:lnTo>
                  <a:cubicBezTo>
                    <a:pt x="0" y="21052"/>
                    <a:pt x="21052" y="0"/>
                    <a:pt x="47021" y="0"/>
                  </a:cubicBezTo>
                  <a:close/>
                </a:path>
              </a:pathLst>
            </a:custGeom>
            <a:solidFill>
              <a:srgbClr val="2081A5">
                <a:alpha val="19608"/>
              </a:srgbClr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47625"/>
              <a:ext cx="1323368" cy="21242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1433805" y="4044474"/>
            <a:ext cx="5621358" cy="2671287"/>
          </a:xfrm>
          <a:custGeom>
            <a:avLst/>
            <a:gdLst/>
            <a:ahLst/>
            <a:cxnLst/>
            <a:rect r="r" b="b" t="t" l="l"/>
            <a:pathLst>
              <a:path h="2671287" w="5621358">
                <a:moveTo>
                  <a:pt x="0" y="0"/>
                </a:moveTo>
                <a:lnTo>
                  <a:pt x="5621358" y="0"/>
                </a:lnTo>
                <a:lnTo>
                  <a:pt x="5621358" y="2671287"/>
                </a:lnTo>
                <a:lnTo>
                  <a:pt x="0" y="267128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1199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433805" y="6934836"/>
            <a:ext cx="5614288" cy="2654032"/>
          </a:xfrm>
          <a:custGeom>
            <a:avLst/>
            <a:gdLst/>
            <a:ahLst/>
            <a:cxnLst/>
            <a:rect r="r" b="b" t="t" l="l"/>
            <a:pathLst>
              <a:path h="2654032" w="5614288">
                <a:moveTo>
                  <a:pt x="0" y="0"/>
                </a:moveTo>
                <a:lnTo>
                  <a:pt x="5614288" y="0"/>
                </a:lnTo>
                <a:lnTo>
                  <a:pt x="5614288" y="2654032"/>
                </a:lnTo>
                <a:lnTo>
                  <a:pt x="0" y="265403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11854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1216515" y="4044474"/>
            <a:ext cx="5654001" cy="2687590"/>
          </a:xfrm>
          <a:custGeom>
            <a:avLst/>
            <a:gdLst/>
            <a:ahLst/>
            <a:cxnLst/>
            <a:rect r="r" b="b" t="t" l="l"/>
            <a:pathLst>
              <a:path h="2687590" w="5654001">
                <a:moveTo>
                  <a:pt x="0" y="0"/>
                </a:moveTo>
                <a:lnTo>
                  <a:pt x="5654001" y="0"/>
                </a:lnTo>
                <a:lnTo>
                  <a:pt x="5654001" y="2687590"/>
                </a:lnTo>
                <a:lnTo>
                  <a:pt x="0" y="268759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-11235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1216515" y="6931665"/>
            <a:ext cx="5622912" cy="2657203"/>
          </a:xfrm>
          <a:custGeom>
            <a:avLst/>
            <a:gdLst/>
            <a:ahLst/>
            <a:cxnLst/>
            <a:rect r="r" b="b" t="t" l="l"/>
            <a:pathLst>
              <a:path h="2657203" w="5622912">
                <a:moveTo>
                  <a:pt x="0" y="0"/>
                </a:moveTo>
                <a:lnTo>
                  <a:pt x="5622912" y="0"/>
                </a:lnTo>
                <a:lnTo>
                  <a:pt x="5622912" y="2657203"/>
                </a:lnTo>
                <a:lnTo>
                  <a:pt x="0" y="265720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-11854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1028700" y="952500"/>
            <a:ext cx="8905685" cy="752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99"/>
              </a:lnSpc>
            </a:pPr>
            <a:r>
              <a:rPr lang="en-US" sz="4499" b="true">
                <a:solidFill>
                  <a:srgbClr val="2081A5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TESTING FUNGSIONAL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158079" y="2233816"/>
            <a:ext cx="4782415" cy="396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b="true" sz="240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MANAJEMEN AKSES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259703" y="3207299"/>
            <a:ext cx="5969562" cy="396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359"/>
              </a:lnSpc>
            </a:pPr>
            <a:r>
              <a:rPr lang="en-US" sz="2400" b="true">
                <a:solidFill>
                  <a:srgbClr val="2081A5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TC01 - </a:t>
            </a:r>
            <a:r>
              <a:rPr lang="en-US" b="true" sz="2400" i="true">
                <a:solidFill>
                  <a:srgbClr val="2081A5"/>
                </a:solidFill>
                <a:latin typeface="Open Sans Bold Italics"/>
                <a:ea typeface="Open Sans Bold Italics"/>
                <a:cs typeface="Open Sans Bold Italics"/>
                <a:sym typeface="Open Sans Bold Italics"/>
              </a:rPr>
              <a:t>grantAccess() </a:t>
            </a:r>
            <a:r>
              <a:rPr lang="en-US" sz="2400" b="true">
                <a:solidFill>
                  <a:srgbClr val="2081A5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- Pasien : - 0.0007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1058735" y="3206824"/>
            <a:ext cx="5969562" cy="396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359"/>
              </a:lnSpc>
            </a:pPr>
            <a:r>
              <a:rPr lang="en-US" sz="2400" b="true">
                <a:solidFill>
                  <a:srgbClr val="2081A5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TC02 - </a:t>
            </a:r>
            <a:r>
              <a:rPr lang="en-US" b="true" sz="2400" i="true">
                <a:solidFill>
                  <a:srgbClr val="2081A5"/>
                </a:solidFill>
                <a:latin typeface="Open Sans Bold Italics"/>
                <a:ea typeface="Open Sans Bold Italics"/>
                <a:cs typeface="Open Sans Bold Italics"/>
                <a:sym typeface="Open Sans Bold Italics"/>
              </a:rPr>
              <a:t>revokeAccess() </a:t>
            </a:r>
            <a:r>
              <a:rPr lang="en-US" sz="2400" b="true">
                <a:solidFill>
                  <a:srgbClr val="2081A5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- Pasien : - 0.0003</a:t>
            </a:r>
          </a:p>
        </p:txBody>
      </p:sp>
    </p:spTree>
  </p:cSld>
  <p:clrMapOvr>
    <a:masterClrMapping/>
  </p:clrMapOvr>
  <p:transition spd="slow">
    <p:push dir="r"/>
  </p:transition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950267" y="294022"/>
            <a:ext cx="1959140" cy="734678"/>
          </a:xfrm>
          <a:custGeom>
            <a:avLst/>
            <a:gdLst/>
            <a:ahLst/>
            <a:cxnLst/>
            <a:rect r="r" b="b" t="t" l="l"/>
            <a:pathLst>
              <a:path h="734678" w="1959140">
                <a:moveTo>
                  <a:pt x="0" y="0"/>
                </a:moveTo>
                <a:lnTo>
                  <a:pt x="1959140" y="0"/>
                </a:lnTo>
                <a:lnTo>
                  <a:pt x="1959140" y="734678"/>
                </a:lnTo>
                <a:lnTo>
                  <a:pt x="0" y="73467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28700" y="2099441"/>
            <a:ext cx="5041172" cy="703091"/>
            <a:chOff x="0" y="0"/>
            <a:chExt cx="1037278" cy="144669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037278" cy="144669"/>
            </a:xfrm>
            <a:custGeom>
              <a:avLst/>
              <a:gdLst/>
              <a:ahLst/>
              <a:cxnLst/>
              <a:rect r="r" b="b" t="t" l="l"/>
              <a:pathLst>
                <a:path h="144669" w="1037278">
                  <a:moveTo>
                    <a:pt x="59990" y="0"/>
                  </a:moveTo>
                  <a:lnTo>
                    <a:pt x="977289" y="0"/>
                  </a:lnTo>
                  <a:cubicBezTo>
                    <a:pt x="993199" y="0"/>
                    <a:pt x="1008457" y="6320"/>
                    <a:pt x="1019708" y="17571"/>
                  </a:cubicBezTo>
                  <a:cubicBezTo>
                    <a:pt x="1030958" y="28821"/>
                    <a:pt x="1037278" y="44079"/>
                    <a:pt x="1037278" y="59990"/>
                  </a:cubicBezTo>
                  <a:lnTo>
                    <a:pt x="1037278" y="84679"/>
                  </a:lnTo>
                  <a:cubicBezTo>
                    <a:pt x="1037278" y="100589"/>
                    <a:pt x="1030958" y="115848"/>
                    <a:pt x="1019708" y="127098"/>
                  </a:cubicBezTo>
                  <a:cubicBezTo>
                    <a:pt x="1008457" y="138349"/>
                    <a:pt x="993199" y="144669"/>
                    <a:pt x="977289" y="144669"/>
                  </a:cubicBezTo>
                  <a:lnTo>
                    <a:pt x="59990" y="144669"/>
                  </a:lnTo>
                  <a:cubicBezTo>
                    <a:pt x="26858" y="144669"/>
                    <a:pt x="0" y="117811"/>
                    <a:pt x="0" y="84679"/>
                  </a:cubicBezTo>
                  <a:lnTo>
                    <a:pt x="0" y="59990"/>
                  </a:lnTo>
                  <a:cubicBezTo>
                    <a:pt x="0" y="44079"/>
                    <a:pt x="6320" y="28821"/>
                    <a:pt x="17571" y="17571"/>
                  </a:cubicBezTo>
                  <a:cubicBezTo>
                    <a:pt x="28821" y="6320"/>
                    <a:pt x="44079" y="0"/>
                    <a:pt x="59990" y="0"/>
                  </a:cubicBezTo>
                  <a:close/>
                </a:path>
              </a:pathLst>
            </a:custGeom>
            <a:solidFill>
              <a:srgbClr val="2081A5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1037278" cy="19229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028700" y="3024490"/>
            <a:ext cx="7179542" cy="800909"/>
            <a:chOff x="0" y="0"/>
            <a:chExt cx="1477272" cy="16479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477272" cy="164796"/>
            </a:xfrm>
            <a:custGeom>
              <a:avLst/>
              <a:gdLst/>
              <a:ahLst/>
              <a:cxnLst/>
              <a:rect r="r" b="b" t="t" l="l"/>
              <a:pathLst>
                <a:path h="164796" w="1477272">
                  <a:moveTo>
                    <a:pt x="42122" y="0"/>
                  </a:moveTo>
                  <a:lnTo>
                    <a:pt x="1435150" y="0"/>
                  </a:lnTo>
                  <a:cubicBezTo>
                    <a:pt x="1446321" y="0"/>
                    <a:pt x="1457035" y="4438"/>
                    <a:pt x="1464935" y="12337"/>
                  </a:cubicBezTo>
                  <a:cubicBezTo>
                    <a:pt x="1472834" y="20237"/>
                    <a:pt x="1477272" y="30951"/>
                    <a:pt x="1477272" y="42122"/>
                  </a:cubicBezTo>
                  <a:lnTo>
                    <a:pt x="1477272" y="122674"/>
                  </a:lnTo>
                  <a:cubicBezTo>
                    <a:pt x="1477272" y="133845"/>
                    <a:pt x="1472834" y="144559"/>
                    <a:pt x="1464935" y="152459"/>
                  </a:cubicBezTo>
                  <a:cubicBezTo>
                    <a:pt x="1457035" y="160358"/>
                    <a:pt x="1446321" y="164796"/>
                    <a:pt x="1435150" y="164796"/>
                  </a:cubicBezTo>
                  <a:lnTo>
                    <a:pt x="42122" y="164796"/>
                  </a:lnTo>
                  <a:cubicBezTo>
                    <a:pt x="30951" y="164796"/>
                    <a:pt x="20237" y="160358"/>
                    <a:pt x="12337" y="152459"/>
                  </a:cubicBezTo>
                  <a:cubicBezTo>
                    <a:pt x="4438" y="144559"/>
                    <a:pt x="0" y="133845"/>
                    <a:pt x="0" y="122674"/>
                  </a:cubicBezTo>
                  <a:lnTo>
                    <a:pt x="0" y="42122"/>
                  </a:lnTo>
                  <a:cubicBezTo>
                    <a:pt x="0" y="30951"/>
                    <a:pt x="4438" y="20237"/>
                    <a:pt x="12337" y="12337"/>
                  </a:cubicBezTo>
                  <a:cubicBezTo>
                    <a:pt x="20237" y="4438"/>
                    <a:pt x="30951" y="0"/>
                    <a:pt x="42122" y="0"/>
                  </a:cubicBezTo>
                  <a:close/>
                </a:path>
              </a:pathLst>
            </a:custGeom>
            <a:solidFill>
              <a:srgbClr val="2081A5">
                <a:alpha val="19608"/>
              </a:srgbClr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1477272" cy="21242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0827731" y="1134551"/>
            <a:ext cx="6431569" cy="800909"/>
            <a:chOff x="0" y="0"/>
            <a:chExt cx="1323368" cy="164796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323368" cy="164796"/>
            </a:xfrm>
            <a:custGeom>
              <a:avLst/>
              <a:gdLst/>
              <a:ahLst/>
              <a:cxnLst/>
              <a:rect r="r" b="b" t="t" l="l"/>
              <a:pathLst>
                <a:path h="164796" w="1323368">
                  <a:moveTo>
                    <a:pt x="47021" y="0"/>
                  </a:moveTo>
                  <a:lnTo>
                    <a:pt x="1276347" y="0"/>
                  </a:lnTo>
                  <a:cubicBezTo>
                    <a:pt x="1302316" y="0"/>
                    <a:pt x="1323368" y="21052"/>
                    <a:pt x="1323368" y="47021"/>
                  </a:cubicBezTo>
                  <a:lnTo>
                    <a:pt x="1323368" y="117775"/>
                  </a:lnTo>
                  <a:cubicBezTo>
                    <a:pt x="1323368" y="143744"/>
                    <a:pt x="1302316" y="164796"/>
                    <a:pt x="1276347" y="164796"/>
                  </a:cubicBezTo>
                  <a:lnTo>
                    <a:pt x="47021" y="164796"/>
                  </a:lnTo>
                  <a:cubicBezTo>
                    <a:pt x="21052" y="164796"/>
                    <a:pt x="0" y="143744"/>
                    <a:pt x="0" y="117775"/>
                  </a:cubicBezTo>
                  <a:lnTo>
                    <a:pt x="0" y="47021"/>
                  </a:lnTo>
                  <a:cubicBezTo>
                    <a:pt x="0" y="21052"/>
                    <a:pt x="21052" y="0"/>
                    <a:pt x="47021" y="0"/>
                  </a:cubicBezTo>
                  <a:close/>
                </a:path>
              </a:pathLst>
            </a:custGeom>
            <a:solidFill>
              <a:srgbClr val="2081A5">
                <a:alpha val="19608"/>
              </a:srgbClr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47625"/>
              <a:ext cx="1323368" cy="21242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1818131" y="4044474"/>
            <a:ext cx="5600679" cy="2651285"/>
          </a:xfrm>
          <a:custGeom>
            <a:avLst/>
            <a:gdLst/>
            <a:ahLst/>
            <a:cxnLst/>
            <a:rect r="r" b="b" t="t" l="l"/>
            <a:pathLst>
              <a:path h="2651285" w="5600679">
                <a:moveTo>
                  <a:pt x="0" y="0"/>
                </a:moveTo>
                <a:lnTo>
                  <a:pt x="5600679" y="0"/>
                </a:lnTo>
                <a:lnTo>
                  <a:pt x="5600679" y="2651285"/>
                </a:lnTo>
                <a:lnTo>
                  <a:pt x="0" y="265128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11678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818131" y="6911428"/>
            <a:ext cx="5600679" cy="2655333"/>
          </a:xfrm>
          <a:custGeom>
            <a:avLst/>
            <a:gdLst/>
            <a:ahLst/>
            <a:cxnLst/>
            <a:rect r="r" b="b" t="t" l="l"/>
            <a:pathLst>
              <a:path h="2655333" w="5600679">
                <a:moveTo>
                  <a:pt x="0" y="0"/>
                </a:moveTo>
                <a:lnTo>
                  <a:pt x="5600679" y="0"/>
                </a:lnTo>
                <a:lnTo>
                  <a:pt x="5600679" y="2655334"/>
                </a:lnTo>
                <a:lnTo>
                  <a:pt x="0" y="265533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11534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1235644" y="2114944"/>
            <a:ext cx="5615743" cy="2675373"/>
          </a:xfrm>
          <a:custGeom>
            <a:avLst/>
            <a:gdLst/>
            <a:ahLst/>
            <a:cxnLst/>
            <a:rect r="r" b="b" t="t" l="l"/>
            <a:pathLst>
              <a:path h="2675373" w="5615743">
                <a:moveTo>
                  <a:pt x="0" y="0"/>
                </a:moveTo>
                <a:lnTo>
                  <a:pt x="5615743" y="0"/>
                </a:lnTo>
                <a:lnTo>
                  <a:pt x="5615743" y="2675373"/>
                </a:lnTo>
                <a:lnTo>
                  <a:pt x="0" y="267537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-10803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1028700" y="952500"/>
            <a:ext cx="8905685" cy="752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99"/>
              </a:lnSpc>
            </a:pPr>
            <a:r>
              <a:rPr lang="en-US" sz="4499" b="true">
                <a:solidFill>
                  <a:srgbClr val="2081A5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TESTING FUNGSIONAL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158079" y="2233816"/>
            <a:ext cx="4782415" cy="396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b="true" sz="240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MANAJEMEN DATA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286568" y="3207299"/>
            <a:ext cx="6663805" cy="396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359"/>
              </a:lnSpc>
            </a:pPr>
            <a:r>
              <a:rPr lang="en-US" sz="2400" b="true">
                <a:solidFill>
                  <a:srgbClr val="2081A5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TC03 - </a:t>
            </a:r>
            <a:r>
              <a:rPr lang="en-US" b="true" sz="2400" i="true">
                <a:solidFill>
                  <a:srgbClr val="2081A5"/>
                </a:solidFill>
                <a:latin typeface="Open Sans Bold Italics"/>
                <a:ea typeface="Open Sans Bold Italics"/>
                <a:cs typeface="Open Sans Bold Italics"/>
                <a:sym typeface="Open Sans Bold Italics"/>
              </a:rPr>
              <a:t>addMedicalRecord()</a:t>
            </a:r>
            <a:r>
              <a:rPr lang="en-US" b="true" sz="2400" i="true">
                <a:solidFill>
                  <a:srgbClr val="2081A5"/>
                </a:solidFill>
                <a:latin typeface="Open Sans Bold Italics"/>
                <a:ea typeface="Open Sans Bold Italics"/>
                <a:cs typeface="Open Sans Bold Italics"/>
                <a:sym typeface="Open Sans Bold Italics"/>
              </a:rPr>
              <a:t> </a:t>
            </a:r>
            <a:r>
              <a:rPr lang="en-US" sz="2400" b="true">
                <a:solidFill>
                  <a:srgbClr val="2081A5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- Dokter : - 0.0022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1058735" y="1317360"/>
            <a:ext cx="5969562" cy="396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359"/>
              </a:lnSpc>
            </a:pPr>
            <a:r>
              <a:rPr lang="en-US" sz="2400" b="true">
                <a:solidFill>
                  <a:srgbClr val="2081A5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TC04 - </a:t>
            </a:r>
            <a:r>
              <a:rPr lang="en-US" b="true" sz="2400" i="true">
                <a:solidFill>
                  <a:srgbClr val="2081A5"/>
                </a:solidFill>
                <a:latin typeface="Open Sans Bold Italics"/>
                <a:ea typeface="Open Sans Bold Italics"/>
                <a:cs typeface="Open Sans Bold Italics"/>
                <a:sym typeface="Open Sans Bold Italics"/>
              </a:rPr>
              <a:t>getRecords()</a:t>
            </a:r>
            <a:r>
              <a:rPr lang="en-US" b="true" sz="2400" i="true">
                <a:solidFill>
                  <a:srgbClr val="2081A5"/>
                </a:solidFill>
                <a:latin typeface="Open Sans Bold Italics"/>
                <a:ea typeface="Open Sans Bold Italics"/>
                <a:cs typeface="Open Sans Bold Italics"/>
                <a:sym typeface="Open Sans Bold Italics"/>
              </a:rPr>
              <a:t> </a:t>
            </a:r>
            <a:r>
              <a:rPr lang="en-US" sz="2400" b="true">
                <a:solidFill>
                  <a:srgbClr val="2081A5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- 0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10827731" y="4969801"/>
            <a:ext cx="5041172" cy="703091"/>
            <a:chOff x="0" y="0"/>
            <a:chExt cx="1037278" cy="144669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037278" cy="144669"/>
            </a:xfrm>
            <a:custGeom>
              <a:avLst/>
              <a:gdLst/>
              <a:ahLst/>
              <a:cxnLst/>
              <a:rect r="r" b="b" t="t" l="l"/>
              <a:pathLst>
                <a:path h="144669" w="1037278">
                  <a:moveTo>
                    <a:pt x="59990" y="0"/>
                  </a:moveTo>
                  <a:lnTo>
                    <a:pt x="977289" y="0"/>
                  </a:lnTo>
                  <a:cubicBezTo>
                    <a:pt x="993199" y="0"/>
                    <a:pt x="1008457" y="6320"/>
                    <a:pt x="1019708" y="17571"/>
                  </a:cubicBezTo>
                  <a:cubicBezTo>
                    <a:pt x="1030958" y="28821"/>
                    <a:pt x="1037278" y="44079"/>
                    <a:pt x="1037278" y="59990"/>
                  </a:cubicBezTo>
                  <a:lnTo>
                    <a:pt x="1037278" y="84679"/>
                  </a:lnTo>
                  <a:cubicBezTo>
                    <a:pt x="1037278" y="100589"/>
                    <a:pt x="1030958" y="115848"/>
                    <a:pt x="1019708" y="127098"/>
                  </a:cubicBezTo>
                  <a:cubicBezTo>
                    <a:pt x="1008457" y="138349"/>
                    <a:pt x="993199" y="144669"/>
                    <a:pt x="977289" y="144669"/>
                  </a:cubicBezTo>
                  <a:lnTo>
                    <a:pt x="59990" y="144669"/>
                  </a:lnTo>
                  <a:cubicBezTo>
                    <a:pt x="26858" y="144669"/>
                    <a:pt x="0" y="117811"/>
                    <a:pt x="0" y="84679"/>
                  </a:cubicBezTo>
                  <a:lnTo>
                    <a:pt x="0" y="59990"/>
                  </a:lnTo>
                  <a:cubicBezTo>
                    <a:pt x="0" y="44079"/>
                    <a:pt x="6320" y="28821"/>
                    <a:pt x="17571" y="17571"/>
                  </a:cubicBezTo>
                  <a:cubicBezTo>
                    <a:pt x="28821" y="6320"/>
                    <a:pt x="44079" y="0"/>
                    <a:pt x="59990" y="0"/>
                  </a:cubicBezTo>
                  <a:close/>
                </a:path>
              </a:pathLst>
            </a:custGeom>
            <a:solidFill>
              <a:srgbClr val="2081A5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47625"/>
              <a:ext cx="1037278" cy="19229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sp>
        <p:nvSpPr>
          <p:cNvPr name="TextBox 22" id="22"/>
          <p:cNvSpPr txBox="true"/>
          <p:nvPr/>
        </p:nvSpPr>
        <p:spPr>
          <a:xfrm rot="0">
            <a:off x="10957110" y="5104176"/>
            <a:ext cx="4782415" cy="396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b="true" sz="240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KEAMANAN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10827731" y="5894850"/>
            <a:ext cx="6431569" cy="800909"/>
            <a:chOff x="0" y="0"/>
            <a:chExt cx="1323368" cy="164796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323368" cy="164796"/>
            </a:xfrm>
            <a:custGeom>
              <a:avLst/>
              <a:gdLst/>
              <a:ahLst/>
              <a:cxnLst/>
              <a:rect r="r" b="b" t="t" l="l"/>
              <a:pathLst>
                <a:path h="164796" w="1323368">
                  <a:moveTo>
                    <a:pt x="47021" y="0"/>
                  </a:moveTo>
                  <a:lnTo>
                    <a:pt x="1276347" y="0"/>
                  </a:lnTo>
                  <a:cubicBezTo>
                    <a:pt x="1302316" y="0"/>
                    <a:pt x="1323368" y="21052"/>
                    <a:pt x="1323368" y="47021"/>
                  </a:cubicBezTo>
                  <a:lnTo>
                    <a:pt x="1323368" y="117775"/>
                  </a:lnTo>
                  <a:cubicBezTo>
                    <a:pt x="1323368" y="143744"/>
                    <a:pt x="1302316" y="164796"/>
                    <a:pt x="1276347" y="164796"/>
                  </a:cubicBezTo>
                  <a:lnTo>
                    <a:pt x="47021" y="164796"/>
                  </a:lnTo>
                  <a:cubicBezTo>
                    <a:pt x="21052" y="164796"/>
                    <a:pt x="0" y="143744"/>
                    <a:pt x="0" y="117775"/>
                  </a:cubicBezTo>
                  <a:lnTo>
                    <a:pt x="0" y="47021"/>
                  </a:lnTo>
                  <a:cubicBezTo>
                    <a:pt x="0" y="21052"/>
                    <a:pt x="21052" y="0"/>
                    <a:pt x="47021" y="0"/>
                  </a:cubicBezTo>
                  <a:close/>
                </a:path>
              </a:pathLst>
            </a:custGeom>
            <a:solidFill>
              <a:srgbClr val="2081A5">
                <a:alpha val="19608"/>
              </a:srgbClr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47625"/>
              <a:ext cx="1323368" cy="21242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sp>
        <p:nvSpPr>
          <p:cNvPr name="TextBox 26" id="26"/>
          <p:cNvSpPr txBox="true"/>
          <p:nvPr/>
        </p:nvSpPr>
        <p:spPr>
          <a:xfrm rot="0">
            <a:off x="11058735" y="6077659"/>
            <a:ext cx="5969562" cy="396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359"/>
              </a:lnSpc>
            </a:pPr>
            <a:r>
              <a:rPr lang="en-US" sz="2400" b="true">
                <a:solidFill>
                  <a:srgbClr val="2081A5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TC05 - </a:t>
            </a:r>
            <a:r>
              <a:rPr lang="en-US" b="true" sz="2400" i="true">
                <a:solidFill>
                  <a:srgbClr val="2081A5"/>
                </a:solidFill>
                <a:latin typeface="Open Sans Bold Italics"/>
                <a:ea typeface="Open Sans Bold Italics"/>
                <a:cs typeface="Open Sans Bold Italics"/>
                <a:sym typeface="Open Sans Bold Italics"/>
              </a:rPr>
              <a:t>getRecords()</a:t>
            </a:r>
            <a:r>
              <a:rPr lang="en-US" b="true" sz="2400">
                <a:solidFill>
                  <a:srgbClr val="2081A5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</a:t>
            </a:r>
            <a:r>
              <a:rPr lang="en-US" sz="2400" b="true">
                <a:solidFill>
                  <a:srgbClr val="2081A5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- 0</a:t>
            </a:r>
          </a:p>
        </p:txBody>
      </p:sp>
      <p:sp>
        <p:nvSpPr>
          <p:cNvPr name="Freeform 27" id="27"/>
          <p:cNvSpPr/>
          <p:nvPr/>
        </p:nvSpPr>
        <p:spPr>
          <a:xfrm flipH="false" flipV="false" rot="0">
            <a:off x="11235644" y="6911428"/>
            <a:ext cx="5615743" cy="2661981"/>
          </a:xfrm>
          <a:custGeom>
            <a:avLst/>
            <a:gdLst/>
            <a:ahLst/>
            <a:cxnLst/>
            <a:rect r="r" b="b" t="t" l="l"/>
            <a:pathLst>
              <a:path h="2661981" w="5615743">
                <a:moveTo>
                  <a:pt x="0" y="0"/>
                </a:moveTo>
                <a:lnTo>
                  <a:pt x="5615743" y="0"/>
                </a:lnTo>
                <a:lnTo>
                  <a:pt x="5615743" y="2661981"/>
                </a:lnTo>
                <a:lnTo>
                  <a:pt x="0" y="266198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-11534" r="0" b="0"/>
            </a:stretch>
          </a:blipFill>
        </p:spPr>
      </p:sp>
    </p:spTree>
  </p:cSld>
  <p:clrMapOvr>
    <a:masterClrMapping/>
  </p:clrMapOvr>
  <p:transition spd="slow">
    <p:push dir="r"/>
  </p:transition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950267" y="294022"/>
            <a:ext cx="1959140" cy="734678"/>
          </a:xfrm>
          <a:custGeom>
            <a:avLst/>
            <a:gdLst/>
            <a:ahLst/>
            <a:cxnLst/>
            <a:rect r="r" b="b" t="t" l="l"/>
            <a:pathLst>
              <a:path h="734678" w="1959140">
                <a:moveTo>
                  <a:pt x="0" y="0"/>
                </a:moveTo>
                <a:lnTo>
                  <a:pt x="1959140" y="0"/>
                </a:lnTo>
                <a:lnTo>
                  <a:pt x="1959140" y="734678"/>
                </a:lnTo>
                <a:lnTo>
                  <a:pt x="0" y="73467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2838349" y="5636635"/>
            <a:ext cx="5540155" cy="703091"/>
            <a:chOff x="0" y="0"/>
            <a:chExt cx="1139950" cy="144669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139950" cy="144669"/>
            </a:xfrm>
            <a:custGeom>
              <a:avLst/>
              <a:gdLst/>
              <a:ahLst/>
              <a:cxnLst/>
              <a:rect r="r" b="b" t="t" l="l"/>
              <a:pathLst>
                <a:path h="144669" w="1139950">
                  <a:moveTo>
                    <a:pt x="54587" y="0"/>
                  </a:moveTo>
                  <a:lnTo>
                    <a:pt x="1085363" y="0"/>
                  </a:lnTo>
                  <a:cubicBezTo>
                    <a:pt x="1115510" y="0"/>
                    <a:pt x="1139950" y="24439"/>
                    <a:pt x="1139950" y="54587"/>
                  </a:cubicBezTo>
                  <a:lnTo>
                    <a:pt x="1139950" y="90082"/>
                  </a:lnTo>
                  <a:cubicBezTo>
                    <a:pt x="1139950" y="104559"/>
                    <a:pt x="1134199" y="118444"/>
                    <a:pt x="1123962" y="128681"/>
                  </a:cubicBezTo>
                  <a:cubicBezTo>
                    <a:pt x="1113725" y="138918"/>
                    <a:pt x="1099840" y="144669"/>
                    <a:pt x="1085363" y="144669"/>
                  </a:cubicBezTo>
                  <a:lnTo>
                    <a:pt x="54587" y="144669"/>
                  </a:lnTo>
                  <a:cubicBezTo>
                    <a:pt x="24439" y="144669"/>
                    <a:pt x="0" y="120230"/>
                    <a:pt x="0" y="90082"/>
                  </a:cubicBezTo>
                  <a:lnTo>
                    <a:pt x="0" y="54587"/>
                  </a:lnTo>
                  <a:cubicBezTo>
                    <a:pt x="0" y="24439"/>
                    <a:pt x="24439" y="0"/>
                    <a:pt x="54587" y="0"/>
                  </a:cubicBezTo>
                  <a:close/>
                </a:path>
              </a:pathLst>
            </a:custGeom>
            <a:solidFill>
              <a:srgbClr val="2081A5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1139950" cy="19229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2838349" y="6583680"/>
            <a:ext cx="5540155" cy="703091"/>
            <a:chOff x="0" y="0"/>
            <a:chExt cx="1139950" cy="14466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139950" cy="144669"/>
            </a:xfrm>
            <a:custGeom>
              <a:avLst/>
              <a:gdLst/>
              <a:ahLst/>
              <a:cxnLst/>
              <a:rect r="r" b="b" t="t" l="l"/>
              <a:pathLst>
                <a:path h="144669" w="1139950">
                  <a:moveTo>
                    <a:pt x="54587" y="0"/>
                  </a:moveTo>
                  <a:lnTo>
                    <a:pt x="1085363" y="0"/>
                  </a:lnTo>
                  <a:cubicBezTo>
                    <a:pt x="1115510" y="0"/>
                    <a:pt x="1139950" y="24439"/>
                    <a:pt x="1139950" y="54587"/>
                  </a:cubicBezTo>
                  <a:lnTo>
                    <a:pt x="1139950" y="90082"/>
                  </a:lnTo>
                  <a:cubicBezTo>
                    <a:pt x="1139950" y="104559"/>
                    <a:pt x="1134199" y="118444"/>
                    <a:pt x="1123962" y="128681"/>
                  </a:cubicBezTo>
                  <a:cubicBezTo>
                    <a:pt x="1113725" y="138918"/>
                    <a:pt x="1099840" y="144669"/>
                    <a:pt x="1085363" y="144669"/>
                  </a:cubicBezTo>
                  <a:lnTo>
                    <a:pt x="54587" y="144669"/>
                  </a:lnTo>
                  <a:cubicBezTo>
                    <a:pt x="24439" y="144669"/>
                    <a:pt x="0" y="120230"/>
                    <a:pt x="0" y="90082"/>
                  </a:cubicBezTo>
                  <a:lnTo>
                    <a:pt x="0" y="54587"/>
                  </a:lnTo>
                  <a:cubicBezTo>
                    <a:pt x="0" y="24439"/>
                    <a:pt x="24439" y="0"/>
                    <a:pt x="54587" y="0"/>
                  </a:cubicBezTo>
                  <a:close/>
                </a:path>
              </a:pathLst>
            </a:custGeom>
            <a:solidFill>
              <a:srgbClr val="2081A5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1139950" cy="19229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2838349" y="7569445"/>
            <a:ext cx="5540155" cy="703091"/>
            <a:chOff x="0" y="0"/>
            <a:chExt cx="1139950" cy="144669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139950" cy="144669"/>
            </a:xfrm>
            <a:custGeom>
              <a:avLst/>
              <a:gdLst/>
              <a:ahLst/>
              <a:cxnLst/>
              <a:rect r="r" b="b" t="t" l="l"/>
              <a:pathLst>
                <a:path h="144669" w="1139950">
                  <a:moveTo>
                    <a:pt x="54587" y="0"/>
                  </a:moveTo>
                  <a:lnTo>
                    <a:pt x="1085363" y="0"/>
                  </a:lnTo>
                  <a:cubicBezTo>
                    <a:pt x="1115510" y="0"/>
                    <a:pt x="1139950" y="24439"/>
                    <a:pt x="1139950" y="54587"/>
                  </a:cubicBezTo>
                  <a:lnTo>
                    <a:pt x="1139950" y="90082"/>
                  </a:lnTo>
                  <a:cubicBezTo>
                    <a:pt x="1139950" y="104559"/>
                    <a:pt x="1134199" y="118444"/>
                    <a:pt x="1123962" y="128681"/>
                  </a:cubicBezTo>
                  <a:cubicBezTo>
                    <a:pt x="1113725" y="138918"/>
                    <a:pt x="1099840" y="144669"/>
                    <a:pt x="1085363" y="144669"/>
                  </a:cubicBezTo>
                  <a:lnTo>
                    <a:pt x="54587" y="144669"/>
                  </a:lnTo>
                  <a:cubicBezTo>
                    <a:pt x="24439" y="144669"/>
                    <a:pt x="0" y="120230"/>
                    <a:pt x="0" y="90082"/>
                  </a:cubicBezTo>
                  <a:lnTo>
                    <a:pt x="0" y="54587"/>
                  </a:lnTo>
                  <a:cubicBezTo>
                    <a:pt x="0" y="24439"/>
                    <a:pt x="24439" y="0"/>
                    <a:pt x="54587" y="0"/>
                  </a:cubicBezTo>
                  <a:close/>
                </a:path>
              </a:pathLst>
            </a:custGeom>
            <a:solidFill>
              <a:srgbClr val="2081A5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47625"/>
              <a:ext cx="1139950" cy="19229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2838349" y="8481060"/>
            <a:ext cx="5540155" cy="703091"/>
            <a:chOff x="0" y="0"/>
            <a:chExt cx="1139950" cy="144669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139950" cy="144669"/>
            </a:xfrm>
            <a:custGeom>
              <a:avLst/>
              <a:gdLst/>
              <a:ahLst/>
              <a:cxnLst/>
              <a:rect r="r" b="b" t="t" l="l"/>
              <a:pathLst>
                <a:path h="144669" w="1139950">
                  <a:moveTo>
                    <a:pt x="54587" y="0"/>
                  </a:moveTo>
                  <a:lnTo>
                    <a:pt x="1085363" y="0"/>
                  </a:lnTo>
                  <a:cubicBezTo>
                    <a:pt x="1115510" y="0"/>
                    <a:pt x="1139950" y="24439"/>
                    <a:pt x="1139950" y="54587"/>
                  </a:cubicBezTo>
                  <a:lnTo>
                    <a:pt x="1139950" y="90082"/>
                  </a:lnTo>
                  <a:cubicBezTo>
                    <a:pt x="1139950" y="104559"/>
                    <a:pt x="1134199" y="118444"/>
                    <a:pt x="1123962" y="128681"/>
                  </a:cubicBezTo>
                  <a:cubicBezTo>
                    <a:pt x="1113725" y="138918"/>
                    <a:pt x="1099840" y="144669"/>
                    <a:pt x="1085363" y="144669"/>
                  </a:cubicBezTo>
                  <a:lnTo>
                    <a:pt x="54587" y="144669"/>
                  </a:lnTo>
                  <a:cubicBezTo>
                    <a:pt x="24439" y="144669"/>
                    <a:pt x="0" y="120230"/>
                    <a:pt x="0" y="90082"/>
                  </a:cubicBezTo>
                  <a:lnTo>
                    <a:pt x="0" y="54587"/>
                  </a:lnTo>
                  <a:cubicBezTo>
                    <a:pt x="0" y="24439"/>
                    <a:pt x="24439" y="0"/>
                    <a:pt x="54587" y="0"/>
                  </a:cubicBezTo>
                  <a:close/>
                </a:path>
              </a:pathLst>
            </a:custGeom>
            <a:solidFill>
              <a:srgbClr val="2081A5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47625"/>
              <a:ext cx="1139950" cy="19229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sp>
        <p:nvSpPr>
          <p:cNvPr name="Freeform 15" id="15"/>
          <p:cNvSpPr/>
          <p:nvPr/>
        </p:nvSpPr>
        <p:spPr>
          <a:xfrm flipH="false" flipV="false" rot="0">
            <a:off x="1318249" y="2422845"/>
            <a:ext cx="15651503" cy="1053591"/>
          </a:xfrm>
          <a:custGeom>
            <a:avLst/>
            <a:gdLst/>
            <a:ahLst/>
            <a:cxnLst/>
            <a:rect r="r" b="b" t="t" l="l"/>
            <a:pathLst>
              <a:path h="1053591" w="15651503">
                <a:moveTo>
                  <a:pt x="0" y="0"/>
                </a:moveTo>
                <a:lnTo>
                  <a:pt x="15651502" y="0"/>
                </a:lnTo>
                <a:lnTo>
                  <a:pt x="15651502" y="1053591"/>
                </a:lnTo>
                <a:lnTo>
                  <a:pt x="0" y="105359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6138" t="-178114" r="-7327" b="-670025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318249" y="4180387"/>
            <a:ext cx="15651503" cy="707305"/>
          </a:xfrm>
          <a:custGeom>
            <a:avLst/>
            <a:gdLst/>
            <a:ahLst/>
            <a:cxnLst/>
            <a:rect r="r" b="b" t="t" l="l"/>
            <a:pathLst>
              <a:path h="707305" w="15651503">
                <a:moveTo>
                  <a:pt x="0" y="0"/>
                </a:moveTo>
                <a:lnTo>
                  <a:pt x="15651502" y="0"/>
                </a:lnTo>
                <a:lnTo>
                  <a:pt x="15651502" y="707305"/>
                </a:lnTo>
                <a:lnTo>
                  <a:pt x="0" y="70730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6092" t="-246282" r="-6990" b="-1061276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1028700" y="952500"/>
            <a:ext cx="8905685" cy="752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99"/>
              </a:lnSpc>
            </a:pPr>
            <a:r>
              <a:rPr lang="en-US" sz="4499" b="true">
                <a:solidFill>
                  <a:srgbClr val="2081A5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INSIGHT PENGUJIAN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2980534" y="5771010"/>
            <a:ext cx="5255786" cy="396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b="true" sz="240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OTONOMI PASIEN (TC01-TC02)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2980534" y="6718055"/>
            <a:ext cx="5255786" cy="396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b="true" sz="240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INTEGRITAS KRIPTOGRAFIS (TC03)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2980534" y="7703820"/>
            <a:ext cx="5255786" cy="396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b="true" sz="240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FILTER KEAMANAN (TC05)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2980534" y="8615435"/>
            <a:ext cx="5255786" cy="396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b="true" sz="240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OPTIMALISASI GAS (TC04-TC05)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8759253" y="5598535"/>
            <a:ext cx="6690398" cy="8153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359"/>
              </a:lnSpc>
            </a:pPr>
            <a:r>
              <a:rPr lang="en-US" sz="2400" i="true">
                <a:solidFill>
                  <a:srgbClr val="000000"/>
                </a:solidFill>
                <a:latin typeface="Open Sans Italics"/>
                <a:ea typeface="Open Sans Italics"/>
                <a:cs typeface="Open Sans Italics"/>
                <a:sym typeface="Open Sans Italics"/>
              </a:rPr>
              <a:t>grantAccess/revokeAccess</a:t>
            </a:r>
            <a:r>
              <a:rPr lang="en-US" sz="24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memberikan kendali mutlak pasien atas hak akses data.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8759253" y="6545580"/>
            <a:ext cx="6690398" cy="8153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359"/>
              </a:lnSpc>
            </a:pPr>
            <a:r>
              <a:rPr lang="en-US" sz="2400" i="true">
                <a:solidFill>
                  <a:srgbClr val="000000"/>
                </a:solidFill>
                <a:latin typeface="Open Sans Italics"/>
                <a:ea typeface="Open Sans Italics"/>
                <a:cs typeface="Open Sans Italics"/>
                <a:sym typeface="Open Sans Italics"/>
              </a:rPr>
              <a:t>addMedicalRecord</a:t>
            </a:r>
            <a:r>
              <a:rPr lang="en-US" sz="24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menjamin sinkronisasi valid antara IPFS (</a:t>
            </a:r>
            <a:r>
              <a:rPr lang="en-US" sz="2400" i="true">
                <a:solidFill>
                  <a:srgbClr val="000000"/>
                </a:solidFill>
                <a:latin typeface="Open Sans Italics"/>
                <a:ea typeface="Open Sans Italics"/>
                <a:cs typeface="Open Sans Italics"/>
                <a:sym typeface="Open Sans Italics"/>
              </a:rPr>
              <a:t>off-chain</a:t>
            </a:r>
            <a:r>
              <a:rPr lang="en-US" sz="24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) dan ledger (</a:t>
            </a:r>
            <a:r>
              <a:rPr lang="en-US" sz="2400" i="true">
                <a:solidFill>
                  <a:srgbClr val="000000"/>
                </a:solidFill>
                <a:latin typeface="Open Sans Italics"/>
                <a:ea typeface="Open Sans Italics"/>
                <a:cs typeface="Open Sans Italics"/>
                <a:sym typeface="Open Sans Italics"/>
              </a:rPr>
              <a:t>on-chain</a:t>
            </a:r>
            <a:r>
              <a:rPr lang="en-US" sz="24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).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8759253" y="7494270"/>
            <a:ext cx="6690398" cy="8153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359"/>
              </a:lnSpc>
            </a:pPr>
            <a:r>
              <a:rPr lang="en-US" sz="2400" i="true">
                <a:solidFill>
                  <a:srgbClr val="000000"/>
                </a:solidFill>
                <a:latin typeface="Open Sans Italics"/>
                <a:ea typeface="Open Sans Italics"/>
                <a:cs typeface="Open Sans Italics"/>
                <a:sym typeface="Open Sans Italics"/>
              </a:rPr>
              <a:t>g</a:t>
            </a:r>
            <a:r>
              <a:rPr lang="en-US" sz="2400" i="true">
                <a:solidFill>
                  <a:srgbClr val="000000"/>
                </a:solidFill>
                <a:latin typeface="Open Sans Italics"/>
                <a:ea typeface="Open Sans Italics"/>
                <a:cs typeface="Open Sans Italics"/>
                <a:sym typeface="Open Sans Italics"/>
              </a:rPr>
              <a:t>etRecords</a:t>
            </a:r>
            <a:r>
              <a:rPr lang="en-US" sz="24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dengan modifier </a:t>
            </a:r>
            <a:r>
              <a:rPr lang="en-US" sz="2400" i="true">
                <a:solidFill>
                  <a:srgbClr val="000000"/>
                </a:solidFill>
                <a:latin typeface="Open Sans Italics"/>
                <a:ea typeface="Open Sans Italics"/>
                <a:cs typeface="Open Sans Italics"/>
                <a:sym typeface="Open Sans Italics"/>
              </a:rPr>
              <a:t>hasAccess</a:t>
            </a:r>
            <a:r>
              <a:rPr lang="en-US" sz="24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terbukti menolak paksa setiap akses ilegal.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8759253" y="8442960"/>
            <a:ext cx="6690398" cy="8153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359"/>
              </a:lnSpc>
            </a:pPr>
            <a:r>
              <a:rPr lang="en-US" sz="24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Fung</a:t>
            </a:r>
            <a:r>
              <a:rPr lang="en-US" sz="24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si</a:t>
            </a:r>
            <a:r>
              <a:rPr lang="en-US" sz="24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400" i="true">
                <a:solidFill>
                  <a:srgbClr val="000000"/>
                </a:solidFill>
                <a:latin typeface="Open Sans Italics"/>
                <a:ea typeface="Open Sans Italics"/>
                <a:cs typeface="Open Sans Italics"/>
                <a:sym typeface="Open Sans Italics"/>
              </a:rPr>
              <a:t>read-only</a:t>
            </a:r>
            <a:r>
              <a:rPr lang="en-US" sz="24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biaya 0, jadi sistem sangat ekonomis tanpa kompromi keamanan.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5750611" y="2056290"/>
            <a:ext cx="5255786" cy="396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b="true" sz="2400">
                <a:solidFill>
                  <a:srgbClr val="2081A5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METAMASK PASIEN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5750611" y="3781236"/>
            <a:ext cx="5255786" cy="396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b="true" sz="2400">
                <a:solidFill>
                  <a:srgbClr val="2081A5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METAMASK DOKTER</a:t>
            </a:r>
          </a:p>
        </p:txBody>
      </p:sp>
    </p:spTree>
  </p:cSld>
  <p:clrMapOvr>
    <a:masterClrMapping/>
  </p:clrMapOvr>
  <p:transition spd="slow">
    <p:push dir="r"/>
  </p:transition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950267" y="294022"/>
            <a:ext cx="1959140" cy="734678"/>
          </a:xfrm>
          <a:custGeom>
            <a:avLst/>
            <a:gdLst/>
            <a:ahLst/>
            <a:cxnLst/>
            <a:rect r="r" b="b" t="t" l="l"/>
            <a:pathLst>
              <a:path h="734678" w="1959140">
                <a:moveTo>
                  <a:pt x="0" y="0"/>
                </a:moveTo>
                <a:lnTo>
                  <a:pt x="1959140" y="0"/>
                </a:lnTo>
                <a:lnTo>
                  <a:pt x="1959140" y="734678"/>
                </a:lnTo>
                <a:lnTo>
                  <a:pt x="0" y="73467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952500"/>
            <a:ext cx="8905685" cy="752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99"/>
              </a:lnSpc>
            </a:pPr>
            <a:r>
              <a:rPr lang="en-US" sz="4499" b="true">
                <a:solidFill>
                  <a:srgbClr val="2081A5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PENUTUP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028700" y="3445974"/>
            <a:ext cx="7754087" cy="1534426"/>
            <a:chOff x="0" y="0"/>
            <a:chExt cx="1595491" cy="31572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595491" cy="315726"/>
            </a:xfrm>
            <a:custGeom>
              <a:avLst/>
              <a:gdLst/>
              <a:ahLst/>
              <a:cxnLst/>
              <a:rect r="r" b="b" t="t" l="l"/>
              <a:pathLst>
                <a:path h="315726" w="1595491">
                  <a:moveTo>
                    <a:pt x="39001" y="0"/>
                  </a:moveTo>
                  <a:lnTo>
                    <a:pt x="1556490" y="0"/>
                  </a:lnTo>
                  <a:cubicBezTo>
                    <a:pt x="1566834" y="0"/>
                    <a:pt x="1576754" y="4109"/>
                    <a:pt x="1584068" y="11423"/>
                  </a:cubicBezTo>
                  <a:cubicBezTo>
                    <a:pt x="1591382" y="18737"/>
                    <a:pt x="1595491" y="28657"/>
                    <a:pt x="1595491" y="39001"/>
                  </a:cubicBezTo>
                  <a:lnTo>
                    <a:pt x="1595491" y="276724"/>
                  </a:lnTo>
                  <a:cubicBezTo>
                    <a:pt x="1595491" y="287068"/>
                    <a:pt x="1591382" y="296988"/>
                    <a:pt x="1584068" y="304302"/>
                  </a:cubicBezTo>
                  <a:cubicBezTo>
                    <a:pt x="1576754" y="311616"/>
                    <a:pt x="1566834" y="315726"/>
                    <a:pt x="1556490" y="315726"/>
                  </a:cubicBezTo>
                  <a:lnTo>
                    <a:pt x="39001" y="315726"/>
                  </a:lnTo>
                  <a:cubicBezTo>
                    <a:pt x="28657" y="315726"/>
                    <a:pt x="18737" y="311616"/>
                    <a:pt x="11423" y="304302"/>
                  </a:cubicBezTo>
                  <a:cubicBezTo>
                    <a:pt x="4109" y="296988"/>
                    <a:pt x="0" y="287068"/>
                    <a:pt x="0" y="276724"/>
                  </a:cubicBezTo>
                  <a:lnTo>
                    <a:pt x="0" y="39001"/>
                  </a:lnTo>
                  <a:cubicBezTo>
                    <a:pt x="0" y="28657"/>
                    <a:pt x="4109" y="18737"/>
                    <a:pt x="11423" y="11423"/>
                  </a:cubicBezTo>
                  <a:cubicBezTo>
                    <a:pt x="18737" y="4109"/>
                    <a:pt x="28657" y="0"/>
                    <a:pt x="39001" y="0"/>
                  </a:cubicBezTo>
                  <a:close/>
                </a:path>
              </a:pathLst>
            </a:custGeom>
            <a:solidFill>
              <a:srgbClr val="2081A5">
                <a:alpha val="19608"/>
              </a:srgbClr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47625"/>
              <a:ext cx="1595491" cy="36335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1269731" y="3569106"/>
            <a:ext cx="7272025" cy="12344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359"/>
              </a:lnSpc>
            </a:pPr>
            <a:r>
              <a:rPr lang="en-US" b="true" sz="2400">
                <a:solidFill>
                  <a:srgbClr val="2081A5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Kedaulatan Data: </a:t>
            </a:r>
            <a:r>
              <a:rPr lang="en-US" sz="2400">
                <a:solidFill>
                  <a:srgbClr val="2081A5"/>
                </a:solidFill>
                <a:latin typeface="Open Sans"/>
                <a:ea typeface="Open Sans"/>
                <a:cs typeface="Open Sans"/>
                <a:sym typeface="Open Sans"/>
              </a:rPr>
              <a:t>Arsitektur hybrid (Blockchain/IPFS) </a:t>
            </a:r>
            <a:r>
              <a:rPr lang="en-US" sz="2400">
                <a:solidFill>
                  <a:srgbClr val="2081A5"/>
                </a:solidFill>
                <a:latin typeface="Open Sans"/>
                <a:ea typeface="Open Sans"/>
                <a:cs typeface="Open Sans"/>
                <a:sym typeface="Open Sans"/>
              </a:rPr>
              <a:t>mengalihkan kontrol penuh rekam medis dari pihak terpusat ke tangan pasien.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3741615" y="2615217"/>
            <a:ext cx="5041172" cy="703091"/>
            <a:chOff x="0" y="0"/>
            <a:chExt cx="1037278" cy="144669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37278" cy="144669"/>
            </a:xfrm>
            <a:custGeom>
              <a:avLst/>
              <a:gdLst/>
              <a:ahLst/>
              <a:cxnLst/>
              <a:rect r="r" b="b" t="t" l="l"/>
              <a:pathLst>
                <a:path h="144669" w="1037278">
                  <a:moveTo>
                    <a:pt x="59990" y="0"/>
                  </a:moveTo>
                  <a:lnTo>
                    <a:pt x="977289" y="0"/>
                  </a:lnTo>
                  <a:cubicBezTo>
                    <a:pt x="993199" y="0"/>
                    <a:pt x="1008457" y="6320"/>
                    <a:pt x="1019708" y="17571"/>
                  </a:cubicBezTo>
                  <a:cubicBezTo>
                    <a:pt x="1030958" y="28821"/>
                    <a:pt x="1037278" y="44079"/>
                    <a:pt x="1037278" y="59990"/>
                  </a:cubicBezTo>
                  <a:lnTo>
                    <a:pt x="1037278" y="84679"/>
                  </a:lnTo>
                  <a:cubicBezTo>
                    <a:pt x="1037278" y="100589"/>
                    <a:pt x="1030958" y="115848"/>
                    <a:pt x="1019708" y="127098"/>
                  </a:cubicBezTo>
                  <a:cubicBezTo>
                    <a:pt x="1008457" y="138349"/>
                    <a:pt x="993199" y="144669"/>
                    <a:pt x="977289" y="144669"/>
                  </a:cubicBezTo>
                  <a:lnTo>
                    <a:pt x="59990" y="144669"/>
                  </a:lnTo>
                  <a:cubicBezTo>
                    <a:pt x="26858" y="144669"/>
                    <a:pt x="0" y="117811"/>
                    <a:pt x="0" y="84679"/>
                  </a:cubicBezTo>
                  <a:lnTo>
                    <a:pt x="0" y="59990"/>
                  </a:lnTo>
                  <a:cubicBezTo>
                    <a:pt x="0" y="44079"/>
                    <a:pt x="6320" y="28821"/>
                    <a:pt x="17571" y="17571"/>
                  </a:cubicBezTo>
                  <a:cubicBezTo>
                    <a:pt x="28821" y="6320"/>
                    <a:pt x="44079" y="0"/>
                    <a:pt x="59990" y="0"/>
                  </a:cubicBezTo>
                  <a:close/>
                </a:path>
              </a:pathLst>
            </a:custGeom>
            <a:solidFill>
              <a:srgbClr val="2081A5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1037278" cy="19229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3906446" y="2749592"/>
            <a:ext cx="4782415" cy="396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b="true" sz="240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KESIMPULAN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1028700" y="5104225"/>
            <a:ext cx="7754087" cy="1534426"/>
            <a:chOff x="0" y="0"/>
            <a:chExt cx="1595491" cy="315726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595491" cy="315726"/>
            </a:xfrm>
            <a:custGeom>
              <a:avLst/>
              <a:gdLst/>
              <a:ahLst/>
              <a:cxnLst/>
              <a:rect r="r" b="b" t="t" l="l"/>
              <a:pathLst>
                <a:path h="315726" w="1595491">
                  <a:moveTo>
                    <a:pt x="39001" y="0"/>
                  </a:moveTo>
                  <a:lnTo>
                    <a:pt x="1556490" y="0"/>
                  </a:lnTo>
                  <a:cubicBezTo>
                    <a:pt x="1566834" y="0"/>
                    <a:pt x="1576754" y="4109"/>
                    <a:pt x="1584068" y="11423"/>
                  </a:cubicBezTo>
                  <a:cubicBezTo>
                    <a:pt x="1591382" y="18737"/>
                    <a:pt x="1595491" y="28657"/>
                    <a:pt x="1595491" y="39001"/>
                  </a:cubicBezTo>
                  <a:lnTo>
                    <a:pt x="1595491" y="276724"/>
                  </a:lnTo>
                  <a:cubicBezTo>
                    <a:pt x="1595491" y="287068"/>
                    <a:pt x="1591382" y="296988"/>
                    <a:pt x="1584068" y="304302"/>
                  </a:cubicBezTo>
                  <a:cubicBezTo>
                    <a:pt x="1576754" y="311616"/>
                    <a:pt x="1566834" y="315726"/>
                    <a:pt x="1556490" y="315726"/>
                  </a:cubicBezTo>
                  <a:lnTo>
                    <a:pt x="39001" y="315726"/>
                  </a:lnTo>
                  <a:cubicBezTo>
                    <a:pt x="28657" y="315726"/>
                    <a:pt x="18737" y="311616"/>
                    <a:pt x="11423" y="304302"/>
                  </a:cubicBezTo>
                  <a:cubicBezTo>
                    <a:pt x="4109" y="296988"/>
                    <a:pt x="0" y="287068"/>
                    <a:pt x="0" y="276724"/>
                  </a:cubicBezTo>
                  <a:lnTo>
                    <a:pt x="0" y="39001"/>
                  </a:lnTo>
                  <a:cubicBezTo>
                    <a:pt x="0" y="28657"/>
                    <a:pt x="4109" y="18737"/>
                    <a:pt x="11423" y="11423"/>
                  </a:cubicBezTo>
                  <a:cubicBezTo>
                    <a:pt x="18737" y="4109"/>
                    <a:pt x="28657" y="0"/>
                    <a:pt x="39001" y="0"/>
                  </a:cubicBezTo>
                  <a:close/>
                </a:path>
              </a:pathLst>
            </a:custGeom>
            <a:solidFill>
              <a:srgbClr val="2081A5">
                <a:alpha val="19608"/>
              </a:srgbClr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47625"/>
              <a:ext cx="1595491" cy="36335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1269731" y="5227357"/>
            <a:ext cx="7272025" cy="12344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359"/>
              </a:lnSpc>
            </a:pPr>
            <a:r>
              <a:rPr lang="en-US" sz="2400" b="true">
                <a:solidFill>
                  <a:srgbClr val="2081A5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Int</a:t>
            </a:r>
            <a:r>
              <a:rPr lang="en-US" b="true" sz="2400">
                <a:solidFill>
                  <a:srgbClr val="2081A5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egritas Mutlak: </a:t>
            </a:r>
            <a:r>
              <a:rPr lang="en-US" sz="2400">
                <a:solidFill>
                  <a:srgbClr val="2081A5"/>
                </a:solidFill>
                <a:latin typeface="Open Sans"/>
                <a:ea typeface="Open Sans"/>
                <a:cs typeface="Open Sans"/>
                <a:sym typeface="Open Sans"/>
              </a:rPr>
              <a:t>Kombinasi sifat immutable blockchain dan redundansi IPFS </a:t>
            </a:r>
            <a:r>
              <a:rPr lang="en-US" sz="2400">
                <a:solidFill>
                  <a:srgbClr val="2081A5"/>
                </a:solidFill>
                <a:latin typeface="Open Sans"/>
                <a:ea typeface="Open Sans"/>
                <a:cs typeface="Open Sans"/>
                <a:sym typeface="Open Sans"/>
              </a:rPr>
              <a:t>menjamin data kebal manipulasi pihak ketiga.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1028700" y="6762476"/>
            <a:ext cx="7754087" cy="1534426"/>
            <a:chOff x="0" y="0"/>
            <a:chExt cx="1595491" cy="315726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595491" cy="315726"/>
            </a:xfrm>
            <a:custGeom>
              <a:avLst/>
              <a:gdLst/>
              <a:ahLst/>
              <a:cxnLst/>
              <a:rect r="r" b="b" t="t" l="l"/>
              <a:pathLst>
                <a:path h="315726" w="1595491">
                  <a:moveTo>
                    <a:pt x="39001" y="0"/>
                  </a:moveTo>
                  <a:lnTo>
                    <a:pt x="1556490" y="0"/>
                  </a:lnTo>
                  <a:cubicBezTo>
                    <a:pt x="1566834" y="0"/>
                    <a:pt x="1576754" y="4109"/>
                    <a:pt x="1584068" y="11423"/>
                  </a:cubicBezTo>
                  <a:cubicBezTo>
                    <a:pt x="1591382" y="18737"/>
                    <a:pt x="1595491" y="28657"/>
                    <a:pt x="1595491" y="39001"/>
                  </a:cubicBezTo>
                  <a:lnTo>
                    <a:pt x="1595491" y="276724"/>
                  </a:lnTo>
                  <a:cubicBezTo>
                    <a:pt x="1595491" y="287068"/>
                    <a:pt x="1591382" y="296988"/>
                    <a:pt x="1584068" y="304302"/>
                  </a:cubicBezTo>
                  <a:cubicBezTo>
                    <a:pt x="1576754" y="311616"/>
                    <a:pt x="1566834" y="315726"/>
                    <a:pt x="1556490" y="315726"/>
                  </a:cubicBezTo>
                  <a:lnTo>
                    <a:pt x="39001" y="315726"/>
                  </a:lnTo>
                  <a:cubicBezTo>
                    <a:pt x="28657" y="315726"/>
                    <a:pt x="18737" y="311616"/>
                    <a:pt x="11423" y="304302"/>
                  </a:cubicBezTo>
                  <a:cubicBezTo>
                    <a:pt x="4109" y="296988"/>
                    <a:pt x="0" y="287068"/>
                    <a:pt x="0" y="276724"/>
                  </a:cubicBezTo>
                  <a:lnTo>
                    <a:pt x="0" y="39001"/>
                  </a:lnTo>
                  <a:cubicBezTo>
                    <a:pt x="0" y="28657"/>
                    <a:pt x="4109" y="18737"/>
                    <a:pt x="11423" y="11423"/>
                  </a:cubicBezTo>
                  <a:cubicBezTo>
                    <a:pt x="18737" y="4109"/>
                    <a:pt x="28657" y="0"/>
                    <a:pt x="39001" y="0"/>
                  </a:cubicBezTo>
                  <a:close/>
                </a:path>
              </a:pathLst>
            </a:custGeom>
            <a:solidFill>
              <a:srgbClr val="2081A5">
                <a:alpha val="19608"/>
              </a:srgbClr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47625"/>
              <a:ext cx="1595491" cy="36335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sp>
        <p:nvSpPr>
          <p:cNvPr name="TextBox 19" id="19"/>
          <p:cNvSpPr txBox="true"/>
          <p:nvPr/>
        </p:nvSpPr>
        <p:spPr>
          <a:xfrm rot="0">
            <a:off x="1269731" y="6885608"/>
            <a:ext cx="7272025" cy="12344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359"/>
              </a:lnSpc>
            </a:pPr>
            <a:r>
              <a:rPr lang="en-US" sz="2400" b="true">
                <a:solidFill>
                  <a:srgbClr val="2081A5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Keamanan Efisi</a:t>
            </a:r>
            <a:r>
              <a:rPr lang="en-US" b="true" sz="2400">
                <a:solidFill>
                  <a:srgbClr val="2081A5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en: </a:t>
            </a:r>
            <a:r>
              <a:rPr lang="en-US" sz="2400">
                <a:solidFill>
                  <a:srgbClr val="2081A5"/>
                </a:solidFill>
                <a:latin typeface="Open Sans"/>
                <a:ea typeface="Open Sans"/>
                <a:cs typeface="Open Sans"/>
                <a:sym typeface="Open Sans"/>
              </a:rPr>
              <a:t>Sistem membuktikan integrasi distributed ledger memberikan kea</a:t>
            </a:r>
            <a:r>
              <a:rPr lang="en-US" sz="2400">
                <a:solidFill>
                  <a:srgbClr val="2081A5"/>
                </a:solidFill>
                <a:latin typeface="Open Sans"/>
                <a:ea typeface="Open Sans"/>
                <a:cs typeface="Open Sans"/>
                <a:sym typeface="Open Sans"/>
              </a:rPr>
              <a:t>manan tinggi tanpa mengorbankan performa akses.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9505213" y="3445974"/>
            <a:ext cx="7754087" cy="1534426"/>
            <a:chOff x="0" y="0"/>
            <a:chExt cx="1595491" cy="315726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595491" cy="315726"/>
            </a:xfrm>
            <a:custGeom>
              <a:avLst/>
              <a:gdLst/>
              <a:ahLst/>
              <a:cxnLst/>
              <a:rect r="r" b="b" t="t" l="l"/>
              <a:pathLst>
                <a:path h="315726" w="1595491">
                  <a:moveTo>
                    <a:pt x="39001" y="0"/>
                  </a:moveTo>
                  <a:lnTo>
                    <a:pt x="1556490" y="0"/>
                  </a:lnTo>
                  <a:cubicBezTo>
                    <a:pt x="1566834" y="0"/>
                    <a:pt x="1576754" y="4109"/>
                    <a:pt x="1584068" y="11423"/>
                  </a:cubicBezTo>
                  <a:cubicBezTo>
                    <a:pt x="1591382" y="18737"/>
                    <a:pt x="1595491" y="28657"/>
                    <a:pt x="1595491" y="39001"/>
                  </a:cubicBezTo>
                  <a:lnTo>
                    <a:pt x="1595491" y="276724"/>
                  </a:lnTo>
                  <a:cubicBezTo>
                    <a:pt x="1595491" y="287068"/>
                    <a:pt x="1591382" y="296988"/>
                    <a:pt x="1584068" y="304302"/>
                  </a:cubicBezTo>
                  <a:cubicBezTo>
                    <a:pt x="1576754" y="311616"/>
                    <a:pt x="1566834" y="315726"/>
                    <a:pt x="1556490" y="315726"/>
                  </a:cubicBezTo>
                  <a:lnTo>
                    <a:pt x="39001" y="315726"/>
                  </a:lnTo>
                  <a:cubicBezTo>
                    <a:pt x="28657" y="315726"/>
                    <a:pt x="18737" y="311616"/>
                    <a:pt x="11423" y="304302"/>
                  </a:cubicBezTo>
                  <a:cubicBezTo>
                    <a:pt x="4109" y="296988"/>
                    <a:pt x="0" y="287068"/>
                    <a:pt x="0" y="276724"/>
                  </a:cubicBezTo>
                  <a:lnTo>
                    <a:pt x="0" y="39001"/>
                  </a:lnTo>
                  <a:cubicBezTo>
                    <a:pt x="0" y="28657"/>
                    <a:pt x="4109" y="18737"/>
                    <a:pt x="11423" y="11423"/>
                  </a:cubicBezTo>
                  <a:cubicBezTo>
                    <a:pt x="18737" y="4109"/>
                    <a:pt x="28657" y="0"/>
                    <a:pt x="39001" y="0"/>
                  </a:cubicBezTo>
                  <a:close/>
                </a:path>
              </a:pathLst>
            </a:custGeom>
            <a:solidFill>
              <a:srgbClr val="2081A5">
                <a:alpha val="19608"/>
              </a:srgbClr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47625"/>
              <a:ext cx="1595491" cy="36335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sp>
        <p:nvSpPr>
          <p:cNvPr name="TextBox 23" id="23"/>
          <p:cNvSpPr txBox="true"/>
          <p:nvPr/>
        </p:nvSpPr>
        <p:spPr>
          <a:xfrm rot="0">
            <a:off x="9746244" y="3569106"/>
            <a:ext cx="7272025" cy="12344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359"/>
              </a:lnSpc>
            </a:pPr>
            <a:r>
              <a:rPr lang="en-US" sz="2400" b="true">
                <a:solidFill>
                  <a:srgbClr val="2081A5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Sk</a:t>
            </a:r>
            <a:r>
              <a:rPr lang="en-US" b="true" sz="2400">
                <a:solidFill>
                  <a:srgbClr val="2081A5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alabilitas Layer 2: </a:t>
            </a:r>
            <a:r>
              <a:rPr lang="en-US" sz="2400">
                <a:solidFill>
                  <a:srgbClr val="2081A5"/>
                </a:solidFill>
                <a:latin typeface="Open Sans"/>
                <a:ea typeface="Open Sans"/>
                <a:cs typeface="Open Sans"/>
                <a:sym typeface="Open Sans"/>
              </a:rPr>
              <a:t>Adopsi Arbitrum/Poly</a:t>
            </a:r>
            <a:r>
              <a:rPr lang="en-US" sz="2400">
                <a:solidFill>
                  <a:srgbClr val="2081A5"/>
                </a:solidFill>
                <a:latin typeface="Open Sans"/>
                <a:ea typeface="Open Sans"/>
                <a:cs typeface="Open Sans"/>
                <a:sym typeface="Open Sans"/>
              </a:rPr>
              <a:t>gon untuk memangkas biaya gas bagi operasional rumah sakit skala besar.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9505213" y="2615217"/>
            <a:ext cx="5041172" cy="703091"/>
            <a:chOff x="0" y="0"/>
            <a:chExt cx="1037278" cy="144669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037278" cy="144669"/>
            </a:xfrm>
            <a:custGeom>
              <a:avLst/>
              <a:gdLst/>
              <a:ahLst/>
              <a:cxnLst/>
              <a:rect r="r" b="b" t="t" l="l"/>
              <a:pathLst>
                <a:path h="144669" w="1037278">
                  <a:moveTo>
                    <a:pt x="59990" y="0"/>
                  </a:moveTo>
                  <a:lnTo>
                    <a:pt x="977289" y="0"/>
                  </a:lnTo>
                  <a:cubicBezTo>
                    <a:pt x="993199" y="0"/>
                    <a:pt x="1008457" y="6320"/>
                    <a:pt x="1019708" y="17571"/>
                  </a:cubicBezTo>
                  <a:cubicBezTo>
                    <a:pt x="1030958" y="28821"/>
                    <a:pt x="1037278" y="44079"/>
                    <a:pt x="1037278" y="59990"/>
                  </a:cubicBezTo>
                  <a:lnTo>
                    <a:pt x="1037278" y="84679"/>
                  </a:lnTo>
                  <a:cubicBezTo>
                    <a:pt x="1037278" y="100589"/>
                    <a:pt x="1030958" y="115848"/>
                    <a:pt x="1019708" y="127098"/>
                  </a:cubicBezTo>
                  <a:cubicBezTo>
                    <a:pt x="1008457" y="138349"/>
                    <a:pt x="993199" y="144669"/>
                    <a:pt x="977289" y="144669"/>
                  </a:cubicBezTo>
                  <a:lnTo>
                    <a:pt x="59990" y="144669"/>
                  </a:lnTo>
                  <a:cubicBezTo>
                    <a:pt x="26858" y="144669"/>
                    <a:pt x="0" y="117811"/>
                    <a:pt x="0" y="84679"/>
                  </a:cubicBezTo>
                  <a:lnTo>
                    <a:pt x="0" y="59990"/>
                  </a:lnTo>
                  <a:cubicBezTo>
                    <a:pt x="0" y="44079"/>
                    <a:pt x="6320" y="28821"/>
                    <a:pt x="17571" y="17571"/>
                  </a:cubicBezTo>
                  <a:cubicBezTo>
                    <a:pt x="28821" y="6320"/>
                    <a:pt x="44079" y="0"/>
                    <a:pt x="59990" y="0"/>
                  </a:cubicBezTo>
                  <a:close/>
                </a:path>
              </a:pathLst>
            </a:custGeom>
            <a:solidFill>
              <a:srgbClr val="2081A5"/>
            </a:solid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47625"/>
              <a:ext cx="1037278" cy="19229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sp>
        <p:nvSpPr>
          <p:cNvPr name="TextBox 27" id="27"/>
          <p:cNvSpPr txBox="true"/>
          <p:nvPr/>
        </p:nvSpPr>
        <p:spPr>
          <a:xfrm rot="0">
            <a:off x="9670044" y="2749592"/>
            <a:ext cx="4782415" cy="396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b="true" sz="240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ARAH PENGEMBANGAN</a:t>
            </a:r>
          </a:p>
        </p:txBody>
      </p:sp>
      <p:grpSp>
        <p:nvGrpSpPr>
          <p:cNvPr name="Group 28" id="28"/>
          <p:cNvGrpSpPr/>
          <p:nvPr/>
        </p:nvGrpSpPr>
        <p:grpSpPr>
          <a:xfrm rot="0">
            <a:off x="9505213" y="5104225"/>
            <a:ext cx="7754087" cy="1534426"/>
            <a:chOff x="0" y="0"/>
            <a:chExt cx="1595491" cy="315726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595491" cy="315726"/>
            </a:xfrm>
            <a:custGeom>
              <a:avLst/>
              <a:gdLst/>
              <a:ahLst/>
              <a:cxnLst/>
              <a:rect r="r" b="b" t="t" l="l"/>
              <a:pathLst>
                <a:path h="315726" w="1595491">
                  <a:moveTo>
                    <a:pt x="39001" y="0"/>
                  </a:moveTo>
                  <a:lnTo>
                    <a:pt x="1556490" y="0"/>
                  </a:lnTo>
                  <a:cubicBezTo>
                    <a:pt x="1566834" y="0"/>
                    <a:pt x="1576754" y="4109"/>
                    <a:pt x="1584068" y="11423"/>
                  </a:cubicBezTo>
                  <a:cubicBezTo>
                    <a:pt x="1591382" y="18737"/>
                    <a:pt x="1595491" y="28657"/>
                    <a:pt x="1595491" y="39001"/>
                  </a:cubicBezTo>
                  <a:lnTo>
                    <a:pt x="1595491" y="276724"/>
                  </a:lnTo>
                  <a:cubicBezTo>
                    <a:pt x="1595491" y="287068"/>
                    <a:pt x="1591382" y="296988"/>
                    <a:pt x="1584068" y="304302"/>
                  </a:cubicBezTo>
                  <a:cubicBezTo>
                    <a:pt x="1576754" y="311616"/>
                    <a:pt x="1566834" y="315726"/>
                    <a:pt x="1556490" y="315726"/>
                  </a:cubicBezTo>
                  <a:lnTo>
                    <a:pt x="39001" y="315726"/>
                  </a:lnTo>
                  <a:cubicBezTo>
                    <a:pt x="28657" y="315726"/>
                    <a:pt x="18737" y="311616"/>
                    <a:pt x="11423" y="304302"/>
                  </a:cubicBezTo>
                  <a:cubicBezTo>
                    <a:pt x="4109" y="296988"/>
                    <a:pt x="0" y="287068"/>
                    <a:pt x="0" y="276724"/>
                  </a:cubicBezTo>
                  <a:lnTo>
                    <a:pt x="0" y="39001"/>
                  </a:lnTo>
                  <a:cubicBezTo>
                    <a:pt x="0" y="28657"/>
                    <a:pt x="4109" y="18737"/>
                    <a:pt x="11423" y="11423"/>
                  </a:cubicBezTo>
                  <a:cubicBezTo>
                    <a:pt x="18737" y="4109"/>
                    <a:pt x="28657" y="0"/>
                    <a:pt x="39001" y="0"/>
                  </a:cubicBezTo>
                  <a:close/>
                </a:path>
              </a:pathLst>
            </a:custGeom>
            <a:solidFill>
              <a:srgbClr val="2081A5">
                <a:alpha val="19608"/>
              </a:srgbClr>
            </a:solid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47625"/>
              <a:ext cx="1595491" cy="36335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sp>
        <p:nvSpPr>
          <p:cNvPr name="TextBox 31" id="31"/>
          <p:cNvSpPr txBox="true"/>
          <p:nvPr/>
        </p:nvSpPr>
        <p:spPr>
          <a:xfrm rot="0">
            <a:off x="9746244" y="5227357"/>
            <a:ext cx="7272025" cy="12344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359"/>
              </a:lnSpc>
            </a:pPr>
            <a:r>
              <a:rPr lang="en-US" sz="2400" b="true">
                <a:solidFill>
                  <a:srgbClr val="2081A5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Standa</a:t>
            </a:r>
            <a:r>
              <a:rPr lang="en-US" b="true" sz="2400">
                <a:solidFill>
                  <a:srgbClr val="2081A5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risasi FHIR: </a:t>
            </a:r>
            <a:r>
              <a:rPr lang="en-US" sz="2400">
                <a:solidFill>
                  <a:srgbClr val="2081A5"/>
                </a:solidFill>
                <a:latin typeface="Open Sans"/>
                <a:ea typeface="Open Sans"/>
                <a:cs typeface="Open Sans"/>
                <a:sym typeface="Open Sans"/>
              </a:rPr>
              <a:t>Implementasi standar internasional untuk </a:t>
            </a:r>
            <a:r>
              <a:rPr lang="en-US" sz="2400">
                <a:solidFill>
                  <a:srgbClr val="2081A5"/>
                </a:solidFill>
                <a:latin typeface="Open Sans"/>
                <a:ea typeface="Open Sans"/>
                <a:cs typeface="Open Sans"/>
                <a:sym typeface="Open Sans"/>
              </a:rPr>
              <a:t>menjamin interoperabilitas data dengan sistem rumah sakit yang ada.</a:t>
            </a:r>
          </a:p>
        </p:txBody>
      </p:sp>
      <p:grpSp>
        <p:nvGrpSpPr>
          <p:cNvPr name="Group 32" id="32"/>
          <p:cNvGrpSpPr/>
          <p:nvPr/>
        </p:nvGrpSpPr>
        <p:grpSpPr>
          <a:xfrm rot="0">
            <a:off x="9505213" y="6762476"/>
            <a:ext cx="7754087" cy="1534426"/>
            <a:chOff x="0" y="0"/>
            <a:chExt cx="1595491" cy="315726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595491" cy="315726"/>
            </a:xfrm>
            <a:custGeom>
              <a:avLst/>
              <a:gdLst/>
              <a:ahLst/>
              <a:cxnLst/>
              <a:rect r="r" b="b" t="t" l="l"/>
              <a:pathLst>
                <a:path h="315726" w="1595491">
                  <a:moveTo>
                    <a:pt x="39001" y="0"/>
                  </a:moveTo>
                  <a:lnTo>
                    <a:pt x="1556490" y="0"/>
                  </a:lnTo>
                  <a:cubicBezTo>
                    <a:pt x="1566834" y="0"/>
                    <a:pt x="1576754" y="4109"/>
                    <a:pt x="1584068" y="11423"/>
                  </a:cubicBezTo>
                  <a:cubicBezTo>
                    <a:pt x="1591382" y="18737"/>
                    <a:pt x="1595491" y="28657"/>
                    <a:pt x="1595491" y="39001"/>
                  </a:cubicBezTo>
                  <a:lnTo>
                    <a:pt x="1595491" y="276724"/>
                  </a:lnTo>
                  <a:cubicBezTo>
                    <a:pt x="1595491" y="287068"/>
                    <a:pt x="1591382" y="296988"/>
                    <a:pt x="1584068" y="304302"/>
                  </a:cubicBezTo>
                  <a:cubicBezTo>
                    <a:pt x="1576754" y="311616"/>
                    <a:pt x="1566834" y="315726"/>
                    <a:pt x="1556490" y="315726"/>
                  </a:cubicBezTo>
                  <a:lnTo>
                    <a:pt x="39001" y="315726"/>
                  </a:lnTo>
                  <a:cubicBezTo>
                    <a:pt x="28657" y="315726"/>
                    <a:pt x="18737" y="311616"/>
                    <a:pt x="11423" y="304302"/>
                  </a:cubicBezTo>
                  <a:cubicBezTo>
                    <a:pt x="4109" y="296988"/>
                    <a:pt x="0" y="287068"/>
                    <a:pt x="0" y="276724"/>
                  </a:cubicBezTo>
                  <a:lnTo>
                    <a:pt x="0" y="39001"/>
                  </a:lnTo>
                  <a:cubicBezTo>
                    <a:pt x="0" y="28657"/>
                    <a:pt x="4109" y="18737"/>
                    <a:pt x="11423" y="11423"/>
                  </a:cubicBezTo>
                  <a:cubicBezTo>
                    <a:pt x="18737" y="4109"/>
                    <a:pt x="28657" y="0"/>
                    <a:pt x="39001" y="0"/>
                  </a:cubicBezTo>
                  <a:close/>
                </a:path>
              </a:pathLst>
            </a:custGeom>
            <a:solidFill>
              <a:srgbClr val="2081A5">
                <a:alpha val="19608"/>
              </a:srgbClr>
            </a:solid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47625"/>
              <a:ext cx="1595491" cy="36335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sp>
        <p:nvSpPr>
          <p:cNvPr name="TextBox 35" id="35"/>
          <p:cNvSpPr txBox="true"/>
          <p:nvPr/>
        </p:nvSpPr>
        <p:spPr>
          <a:xfrm rot="0">
            <a:off x="9746244" y="6885608"/>
            <a:ext cx="7272025" cy="12344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359"/>
              </a:lnSpc>
            </a:pPr>
            <a:r>
              <a:rPr lang="en-US" sz="2400" b="true">
                <a:solidFill>
                  <a:srgbClr val="2081A5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Dasbor Otomatis</a:t>
            </a:r>
            <a:r>
              <a:rPr lang="en-US" b="true" sz="2400">
                <a:solidFill>
                  <a:srgbClr val="2081A5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: </a:t>
            </a:r>
            <a:r>
              <a:rPr lang="en-US" sz="2400">
                <a:solidFill>
                  <a:srgbClr val="2081A5"/>
                </a:solidFill>
                <a:latin typeface="Open Sans"/>
                <a:ea typeface="Open Sans"/>
                <a:cs typeface="Open Sans"/>
                <a:sym typeface="Open Sans"/>
              </a:rPr>
              <a:t>Pengembangan antarmuka untuk memper</a:t>
            </a:r>
            <a:r>
              <a:rPr lang="en-US" sz="2400">
                <a:solidFill>
                  <a:srgbClr val="2081A5"/>
                </a:solidFill>
                <a:latin typeface="Open Sans"/>
                <a:ea typeface="Open Sans"/>
                <a:cs typeface="Open Sans"/>
                <a:sym typeface="Open Sans"/>
              </a:rPr>
              <a:t>mudah pasien non-teknis mengelola izin akses tanpa kerumitan teknis.</a:t>
            </a:r>
          </a:p>
        </p:txBody>
      </p:sp>
    </p:spTree>
  </p:cSld>
  <p:clrMapOvr>
    <a:masterClrMapping/>
  </p:clrMapOvr>
  <p:transition spd="slow">
    <p:push dir="r"/>
  </p:transition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950267" y="294022"/>
            <a:ext cx="1959140" cy="734678"/>
          </a:xfrm>
          <a:custGeom>
            <a:avLst/>
            <a:gdLst/>
            <a:ahLst/>
            <a:cxnLst/>
            <a:rect r="r" b="b" t="t" l="l"/>
            <a:pathLst>
              <a:path h="734678" w="1959140">
                <a:moveTo>
                  <a:pt x="0" y="0"/>
                </a:moveTo>
                <a:lnTo>
                  <a:pt x="1959140" y="0"/>
                </a:lnTo>
                <a:lnTo>
                  <a:pt x="1959140" y="734678"/>
                </a:lnTo>
                <a:lnTo>
                  <a:pt x="0" y="73467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3826057" y="7131102"/>
            <a:ext cx="5041172" cy="1045168"/>
            <a:chOff x="0" y="0"/>
            <a:chExt cx="1037278" cy="215055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037278" cy="215055"/>
            </a:xfrm>
            <a:custGeom>
              <a:avLst/>
              <a:gdLst/>
              <a:ahLst/>
              <a:cxnLst/>
              <a:rect r="r" b="b" t="t" l="l"/>
              <a:pathLst>
                <a:path h="215055" w="1037278">
                  <a:moveTo>
                    <a:pt x="59990" y="0"/>
                  </a:moveTo>
                  <a:lnTo>
                    <a:pt x="977289" y="0"/>
                  </a:lnTo>
                  <a:cubicBezTo>
                    <a:pt x="993199" y="0"/>
                    <a:pt x="1008457" y="6320"/>
                    <a:pt x="1019708" y="17571"/>
                  </a:cubicBezTo>
                  <a:cubicBezTo>
                    <a:pt x="1030958" y="28821"/>
                    <a:pt x="1037278" y="44079"/>
                    <a:pt x="1037278" y="59990"/>
                  </a:cubicBezTo>
                  <a:lnTo>
                    <a:pt x="1037278" y="155065"/>
                  </a:lnTo>
                  <a:cubicBezTo>
                    <a:pt x="1037278" y="188197"/>
                    <a:pt x="1010420" y="215055"/>
                    <a:pt x="977289" y="215055"/>
                  </a:cubicBezTo>
                  <a:lnTo>
                    <a:pt x="59990" y="215055"/>
                  </a:lnTo>
                  <a:cubicBezTo>
                    <a:pt x="44079" y="215055"/>
                    <a:pt x="28821" y="208735"/>
                    <a:pt x="17571" y="197484"/>
                  </a:cubicBezTo>
                  <a:cubicBezTo>
                    <a:pt x="6320" y="186234"/>
                    <a:pt x="0" y="170976"/>
                    <a:pt x="0" y="155065"/>
                  </a:cubicBezTo>
                  <a:lnTo>
                    <a:pt x="0" y="59990"/>
                  </a:lnTo>
                  <a:cubicBezTo>
                    <a:pt x="0" y="44079"/>
                    <a:pt x="6320" y="28821"/>
                    <a:pt x="17571" y="17571"/>
                  </a:cubicBezTo>
                  <a:cubicBezTo>
                    <a:pt x="28821" y="6320"/>
                    <a:pt x="44079" y="0"/>
                    <a:pt x="59990" y="0"/>
                  </a:cubicBezTo>
                  <a:close/>
                </a:path>
              </a:pathLst>
            </a:custGeom>
            <a:solidFill>
              <a:srgbClr val="2081A5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1037278" cy="26268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9420771" y="7131102"/>
            <a:ext cx="5041172" cy="1045168"/>
            <a:chOff x="0" y="0"/>
            <a:chExt cx="1037278" cy="21505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037278" cy="215055"/>
            </a:xfrm>
            <a:custGeom>
              <a:avLst/>
              <a:gdLst/>
              <a:ahLst/>
              <a:cxnLst/>
              <a:rect r="r" b="b" t="t" l="l"/>
              <a:pathLst>
                <a:path h="215055" w="1037278">
                  <a:moveTo>
                    <a:pt x="59990" y="0"/>
                  </a:moveTo>
                  <a:lnTo>
                    <a:pt x="977289" y="0"/>
                  </a:lnTo>
                  <a:cubicBezTo>
                    <a:pt x="993199" y="0"/>
                    <a:pt x="1008457" y="6320"/>
                    <a:pt x="1019708" y="17571"/>
                  </a:cubicBezTo>
                  <a:cubicBezTo>
                    <a:pt x="1030958" y="28821"/>
                    <a:pt x="1037278" y="44079"/>
                    <a:pt x="1037278" y="59990"/>
                  </a:cubicBezTo>
                  <a:lnTo>
                    <a:pt x="1037278" y="155065"/>
                  </a:lnTo>
                  <a:cubicBezTo>
                    <a:pt x="1037278" y="188197"/>
                    <a:pt x="1010420" y="215055"/>
                    <a:pt x="977289" y="215055"/>
                  </a:cubicBezTo>
                  <a:lnTo>
                    <a:pt x="59990" y="215055"/>
                  </a:lnTo>
                  <a:cubicBezTo>
                    <a:pt x="44079" y="215055"/>
                    <a:pt x="28821" y="208735"/>
                    <a:pt x="17571" y="197484"/>
                  </a:cubicBezTo>
                  <a:cubicBezTo>
                    <a:pt x="6320" y="186234"/>
                    <a:pt x="0" y="170976"/>
                    <a:pt x="0" y="155065"/>
                  </a:cubicBezTo>
                  <a:lnTo>
                    <a:pt x="0" y="59990"/>
                  </a:lnTo>
                  <a:cubicBezTo>
                    <a:pt x="0" y="44079"/>
                    <a:pt x="6320" y="28821"/>
                    <a:pt x="17571" y="17571"/>
                  </a:cubicBezTo>
                  <a:cubicBezTo>
                    <a:pt x="28821" y="6320"/>
                    <a:pt x="44079" y="0"/>
                    <a:pt x="59990" y="0"/>
                  </a:cubicBezTo>
                  <a:close/>
                </a:path>
              </a:pathLst>
            </a:custGeom>
            <a:solidFill>
              <a:srgbClr val="2081A5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1037278" cy="26268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2489756" y="3229824"/>
            <a:ext cx="13308488" cy="3656178"/>
          </a:xfrm>
          <a:custGeom>
            <a:avLst/>
            <a:gdLst/>
            <a:ahLst/>
            <a:cxnLst/>
            <a:rect r="r" b="b" t="t" l="l"/>
            <a:pathLst>
              <a:path h="3656178" w="13308488">
                <a:moveTo>
                  <a:pt x="0" y="0"/>
                </a:moveTo>
                <a:lnTo>
                  <a:pt x="13308488" y="0"/>
                </a:lnTo>
                <a:lnTo>
                  <a:pt x="13308488" y="3656178"/>
                </a:lnTo>
                <a:lnTo>
                  <a:pt x="0" y="365617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028700" y="952500"/>
            <a:ext cx="8905685" cy="752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99"/>
              </a:lnSpc>
            </a:pPr>
            <a:r>
              <a:rPr lang="en-US" sz="4499" b="true">
                <a:solidFill>
                  <a:srgbClr val="2081A5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SUMBER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3955436" y="7382223"/>
            <a:ext cx="4782415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99"/>
              </a:lnSpc>
            </a:pPr>
            <a:r>
              <a:rPr lang="en-US" b="true" sz="2999" u="sng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  <a:hlinkClick r:id="rId4" tooltip="https://github.com/alfifaza/Kelompok-5_Teknologi-Blockchain_C.git"/>
              </a:rPr>
              <a:t>LINK GITHUB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550149" y="7382223"/>
            <a:ext cx="4782415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99"/>
              </a:lnSpc>
            </a:pPr>
            <a:r>
              <a:rPr lang="en-US" b="true" sz="2999" u="sng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  <a:hlinkClick r:id="rId5" tooltip="https://drive.google.com/drive/folders/1AK57PUgWu1jg86_BYhKdWccRsFNQKWU9"/>
              </a:rPr>
              <a:t>LINK JURNAL</a:t>
            </a:r>
          </a:p>
        </p:txBody>
      </p:sp>
    </p:spTree>
  </p:cSld>
  <p:clrMapOvr>
    <a:masterClrMapping/>
  </p:clrMapOvr>
  <p:transition spd="slow">
    <p:push dir="r"/>
  </p:transition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900282" y="3699297"/>
            <a:ext cx="3956145" cy="750044"/>
            <a:chOff x="0" y="0"/>
            <a:chExt cx="814022" cy="15433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4022" cy="154330"/>
            </a:xfrm>
            <a:custGeom>
              <a:avLst/>
              <a:gdLst/>
              <a:ahLst/>
              <a:cxnLst/>
              <a:rect r="r" b="b" t="t" l="l"/>
              <a:pathLst>
                <a:path h="154330" w="814022">
                  <a:moveTo>
                    <a:pt x="45866" y="0"/>
                  </a:moveTo>
                  <a:lnTo>
                    <a:pt x="768156" y="0"/>
                  </a:lnTo>
                  <a:cubicBezTo>
                    <a:pt x="780320" y="0"/>
                    <a:pt x="791986" y="4832"/>
                    <a:pt x="800588" y="13434"/>
                  </a:cubicBezTo>
                  <a:cubicBezTo>
                    <a:pt x="809189" y="22035"/>
                    <a:pt x="814022" y="33701"/>
                    <a:pt x="814022" y="45866"/>
                  </a:cubicBezTo>
                  <a:lnTo>
                    <a:pt x="814022" y="108464"/>
                  </a:lnTo>
                  <a:cubicBezTo>
                    <a:pt x="814022" y="133795"/>
                    <a:pt x="793487" y="154330"/>
                    <a:pt x="768156" y="154330"/>
                  </a:cubicBezTo>
                  <a:lnTo>
                    <a:pt x="45866" y="154330"/>
                  </a:lnTo>
                  <a:cubicBezTo>
                    <a:pt x="20535" y="154330"/>
                    <a:pt x="0" y="133795"/>
                    <a:pt x="0" y="108464"/>
                  </a:cubicBezTo>
                  <a:lnTo>
                    <a:pt x="0" y="45866"/>
                  </a:lnTo>
                  <a:cubicBezTo>
                    <a:pt x="0" y="20535"/>
                    <a:pt x="20535" y="0"/>
                    <a:pt x="45866" y="0"/>
                  </a:cubicBezTo>
                  <a:close/>
                </a:path>
              </a:pathLst>
            </a:custGeom>
            <a:solidFill>
              <a:srgbClr val="2081A5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814022" cy="20195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7713580" y="954082"/>
            <a:ext cx="2860841" cy="1072815"/>
          </a:xfrm>
          <a:custGeom>
            <a:avLst/>
            <a:gdLst/>
            <a:ahLst/>
            <a:cxnLst/>
            <a:rect r="r" b="b" t="t" l="l"/>
            <a:pathLst>
              <a:path h="1072815" w="2860841">
                <a:moveTo>
                  <a:pt x="0" y="0"/>
                </a:moveTo>
                <a:lnTo>
                  <a:pt x="2860840" y="0"/>
                </a:lnTo>
                <a:lnTo>
                  <a:pt x="2860840" y="1072816"/>
                </a:lnTo>
                <a:lnTo>
                  <a:pt x="0" y="107281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0" y="3356889"/>
            <a:ext cx="8730849" cy="6930111"/>
          </a:xfrm>
          <a:custGeom>
            <a:avLst/>
            <a:gdLst/>
            <a:ahLst/>
            <a:cxnLst/>
            <a:rect r="r" b="b" t="t" l="l"/>
            <a:pathLst>
              <a:path h="6930111" w="8730849">
                <a:moveTo>
                  <a:pt x="0" y="0"/>
                </a:moveTo>
                <a:lnTo>
                  <a:pt x="8730849" y="0"/>
                </a:lnTo>
                <a:lnTo>
                  <a:pt x="8730849" y="6930111"/>
                </a:lnTo>
                <a:lnTo>
                  <a:pt x="0" y="693011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9900282" y="4683757"/>
            <a:ext cx="6176201" cy="1193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799"/>
              </a:lnSpc>
            </a:pPr>
            <a:r>
              <a:rPr lang="en-US" sz="6999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TERIMAKASIH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511336" y="8743950"/>
            <a:ext cx="13265328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 b="true">
                <a:solidFill>
                  <a:srgbClr val="2081A5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TEKNOLOGI BLOCKCHAIN C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278379" y="3742531"/>
            <a:ext cx="3199951" cy="596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00"/>
              </a:lnSpc>
            </a:pPr>
            <a:r>
              <a:rPr lang="en-US" b="true" sz="350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KELOMPOK 5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900282" y="5990803"/>
            <a:ext cx="6176201" cy="596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00"/>
              </a:lnSpc>
            </a:pPr>
            <a:r>
              <a:rPr lang="en-US" b="true" sz="3500" i="true">
                <a:solidFill>
                  <a:srgbClr val="000000"/>
                </a:solidFill>
                <a:latin typeface="Open Sans Bold Italics"/>
                <a:ea typeface="Open Sans Bold Italics"/>
                <a:cs typeface="Open Sans Bold Italics"/>
                <a:sym typeface="Open Sans Bold Italics"/>
              </a:rPr>
              <a:t>APAKAH ADA PERTANYAAN?</a:t>
            </a:r>
          </a:p>
        </p:txBody>
      </p:sp>
    </p:spTree>
  </p:cSld>
  <p:clrMapOvr>
    <a:masterClrMapping/>
  </p:clrMapOvr>
  <p:transition spd="slow">
    <p:push dir="r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DAHN9FXwOU8</dc:identifier>
  <dcterms:modified xsi:type="dcterms:W3CDTF">2011-08-01T06:04:30Z</dcterms:modified>
  <cp:revision>1</cp:revision>
  <dc:title>UAS_KELOMPOK 5_BLOCKCHAIN C</dc:title>
</cp:coreProperties>
</file>